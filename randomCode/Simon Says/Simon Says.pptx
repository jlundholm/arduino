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86" r:id="rId4"/>
    <p:sldId id="258" r:id="rId5"/>
    <p:sldId id="259" r:id="rId6"/>
    <p:sldId id="260" r:id="rId7"/>
    <p:sldId id="261" r:id="rId8"/>
    <p:sldId id="263" r:id="rId9"/>
    <p:sldId id="264" r:id="rId10"/>
    <p:sldId id="265" r:id="rId11"/>
    <p:sldId id="285" r:id="rId12"/>
    <p:sldId id="266" r:id="rId13"/>
    <p:sldId id="267" r:id="rId14"/>
    <p:sldId id="262" r:id="rId15"/>
    <p:sldId id="268" r:id="rId16"/>
    <p:sldId id="269" r:id="rId17"/>
    <p:sldId id="270" r:id="rId18"/>
    <p:sldId id="271" r:id="rId19"/>
    <p:sldId id="272" r:id="rId20"/>
    <p:sldId id="273" r:id="rId21"/>
    <p:sldId id="274" r:id="rId22"/>
    <p:sldId id="275" r:id="rId23"/>
    <p:sldId id="277" r:id="rId24"/>
    <p:sldId id="278" r:id="rId25"/>
    <p:sldId id="279" r:id="rId26"/>
    <p:sldId id="280" r:id="rId27"/>
    <p:sldId id="281" r:id="rId28"/>
    <p:sldId id="282" r:id="rId29"/>
    <p:sldId id="283" r:id="rId30"/>
    <p:sldId id="284" r:id="rId31"/>
    <p:sldId id="27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Rating</c:v>
                </c:pt>
              </c:strCache>
            </c:strRef>
          </c:tx>
          <c:spPr>
            <a:solidFill>
              <a:schemeClr val="accent1"/>
            </a:solidFill>
            <a:ln>
              <a:noFill/>
            </a:ln>
            <a:effectLst/>
          </c:spPr>
          <c:invertIfNegative val="0"/>
          <c:cat>
            <c:strRef>
              <c:f>Sheet1!$A$2:$A$5</c:f>
              <c:strCache>
                <c:ptCount val="4"/>
                <c:pt idx="0">
                  <c:v>Fun!</c:v>
                </c:pt>
                <c:pt idx="1">
                  <c:v>Time Spent</c:v>
                </c:pt>
                <c:pt idx="2">
                  <c:v>Programming</c:v>
                </c:pt>
                <c:pt idx="3">
                  <c:v>Circuit Design</c:v>
                </c:pt>
              </c:strCache>
            </c:strRef>
          </c:cat>
          <c:val>
            <c:numRef>
              <c:f>Sheet1!$B$2:$B$5</c:f>
              <c:numCache>
                <c:formatCode>General</c:formatCode>
                <c:ptCount val="4"/>
                <c:pt idx="0">
                  <c:v>6</c:v>
                </c:pt>
                <c:pt idx="1">
                  <c:v>3.5</c:v>
                </c:pt>
                <c:pt idx="2">
                  <c:v>4.5</c:v>
                </c:pt>
                <c:pt idx="3">
                  <c:v>3</c:v>
                </c:pt>
              </c:numCache>
            </c:numRef>
          </c:val>
          <c:extLst>
            <c:ext xmlns:c16="http://schemas.microsoft.com/office/drawing/2014/chart" uri="{C3380CC4-5D6E-409C-BE32-E72D297353CC}">
              <c16:uniqueId val="{00000000-BA58-4ED5-9C55-125CECA7BF3D}"/>
            </c:ext>
          </c:extLst>
        </c:ser>
        <c:dLbls>
          <c:showLegendKey val="0"/>
          <c:showVal val="0"/>
          <c:showCatName val="0"/>
          <c:showSerName val="0"/>
          <c:showPercent val="0"/>
          <c:showBubbleSize val="0"/>
        </c:dLbls>
        <c:gapWidth val="182"/>
        <c:axId val="-1629007296"/>
        <c:axId val="-1599744736"/>
      </c:barChart>
      <c:catAx>
        <c:axId val="-16290072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99744736"/>
        <c:crosses val="autoZero"/>
        <c:auto val="1"/>
        <c:lblAlgn val="ctr"/>
        <c:lblOffset val="100"/>
        <c:noMultiLvlLbl val="0"/>
      </c:catAx>
      <c:valAx>
        <c:axId val="-1599744736"/>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29007296"/>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F81408-2383-49D7-926B-B449F6859FD4}" type="datetimeFigureOut">
              <a:rPr lang="en-US" smtClean="0"/>
              <a:t>7/4/2018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8468D5-0D54-4809-8B8B-580E05B05E5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9212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81408-2383-49D7-926B-B449F6859FD4}" type="datetimeFigureOut">
              <a:rPr lang="en-US" smtClean="0"/>
              <a:t>7/4/2018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8468D5-0D54-4809-8B8B-580E05B05E53}" type="slidenum">
              <a:rPr lang="en-US" smtClean="0"/>
              <a:t>‹#›</a:t>
            </a:fld>
            <a:endParaRPr lang="en-US"/>
          </a:p>
        </p:txBody>
      </p:sp>
    </p:spTree>
    <p:extLst>
      <p:ext uri="{BB962C8B-B14F-4D97-AF65-F5344CB8AC3E}">
        <p14:creationId xmlns:p14="http://schemas.microsoft.com/office/powerpoint/2010/main" val="1608597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F81408-2383-49D7-926B-B449F6859FD4}" type="datetimeFigureOut">
              <a:rPr lang="en-US" smtClean="0"/>
              <a:t>7/4/2018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8468D5-0D54-4809-8B8B-580E05B05E5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3623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F81408-2383-49D7-926B-B449F6859FD4}" type="datetimeFigureOut">
              <a:rPr lang="en-US" smtClean="0"/>
              <a:t>7/4/2018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8468D5-0D54-4809-8B8B-580E05B05E53}" type="slidenum">
              <a:rPr lang="en-US" smtClean="0"/>
              <a:t>‹#›</a:t>
            </a:fld>
            <a:endParaRPr lang="en-US"/>
          </a:p>
        </p:txBody>
      </p:sp>
    </p:spTree>
    <p:extLst>
      <p:ext uri="{BB962C8B-B14F-4D97-AF65-F5344CB8AC3E}">
        <p14:creationId xmlns:p14="http://schemas.microsoft.com/office/powerpoint/2010/main" val="2646030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F81408-2383-49D7-926B-B449F6859FD4}" type="datetimeFigureOut">
              <a:rPr lang="en-US" smtClean="0"/>
              <a:t>7/4/2018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8468D5-0D54-4809-8B8B-580E05B05E53}" type="slidenum">
              <a:rPr lang="en-US" smtClean="0"/>
              <a:t>‹#›</a:t>
            </a:fld>
            <a:endParaRPr lang="en-US"/>
          </a:p>
        </p:txBody>
      </p:sp>
    </p:spTree>
    <p:extLst>
      <p:ext uri="{BB962C8B-B14F-4D97-AF65-F5344CB8AC3E}">
        <p14:creationId xmlns:p14="http://schemas.microsoft.com/office/powerpoint/2010/main" val="4089385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F81408-2383-49D7-926B-B449F6859FD4}" type="datetimeFigureOut">
              <a:rPr lang="en-US" smtClean="0"/>
              <a:t>7/4/2018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8468D5-0D54-4809-8B8B-580E05B05E53}" type="slidenum">
              <a:rPr lang="en-US" smtClean="0"/>
              <a:t>‹#›</a:t>
            </a:fld>
            <a:endParaRPr lang="en-US"/>
          </a:p>
        </p:txBody>
      </p:sp>
    </p:spTree>
    <p:extLst>
      <p:ext uri="{BB962C8B-B14F-4D97-AF65-F5344CB8AC3E}">
        <p14:creationId xmlns:p14="http://schemas.microsoft.com/office/powerpoint/2010/main" val="1341401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EF81408-2383-49D7-926B-B449F6859FD4}" type="datetimeFigureOut">
              <a:rPr lang="en-US" smtClean="0"/>
              <a:t>7/4/2018</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88468D5-0D54-4809-8B8B-580E05B05E53}" type="slidenum">
              <a:rPr lang="en-US" smtClean="0"/>
              <a:t>‹#›</a:t>
            </a:fld>
            <a:endParaRPr lang="en-US"/>
          </a:p>
        </p:txBody>
      </p:sp>
    </p:spTree>
    <p:extLst>
      <p:ext uri="{BB962C8B-B14F-4D97-AF65-F5344CB8AC3E}">
        <p14:creationId xmlns:p14="http://schemas.microsoft.com/office/powerpoint/2010/main" val="445369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EF81408-2383-49D7-926B-B449F6859FD4}" type="datetimeFigureOut">
              <a:rPr lang="en-US" smtClean="0"/>
              <a:t>7/4/2018</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8468D5-0D54-4809-8B8B-580E05B05E53}" type="slidenum">
              <a:rPr lang="en-US" smtClean="0"/>
              <a:t>‹#›</a:t>
            </a:fld>
            <a:endParaRPr lang="en-US"/>
          </a:p>
        </p:txBody>
      </p:sp>
    </p:spTree>
    <p:extLst>
      <p:ext uri="{BB962C8B-B14F-4D97-AF65-F5344CB8AC3E}">
        <p14:creationId xmlns:p14="http://schemas.microsoft.com/office/powerpoint/2010/main" val="2461822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F81408-2383-49D7-926B-B449F6859FD4}" type="datetimeFigureOut">
              <a:rPr lang="en-US" smtClean="0"/>
              <a:t>7/4/2018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8468D5-0D54-4809-8B8B-580E05B05E53}" type="slidenum">
              <a:rPr lang="en-US" smtClean="0"/>
              <a:t>‹#›</a:t>
            </a:fld>
            <a:endParaRPr lang="en-US"/>
          </a:p>
        </p:txBody>
      </p:sp>
    </p:spTree>
    <p:extLst>
      <p:ext uri="{BB962C8B-B14F-4D97-AF65-F5344CB8AC3E}">
        <p14:creationId xmlns:p14="http://schemas.microsoft.com/office/powerpoint/2010/main" val="120391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81408-2383-49D7-926B-B449F6859FD4}" type="datetimeFigureOut">
              <a:rPr lang="en-US" smtClean="0"/>
              <a:t>7/4/2018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8468D5-0D54-4809-8B8B-580E05B05E53}" type="slidenum">
              <a:rPr lang="en-US" smtClean="0"/>
              <a:t>‹#›</a:t>
            </a:fld>
            <a:endParaRPr lang="en-US"/>
          </a:p>
        </p:txBody>
      </p:sp>
    </p:spTree>
    <p:extLst>
      <p:ext uri="{BB962C8B-B14F-4D97-AF65-F5344CB8AC3E}">
        <p14:creationId xmlns:p14="http://schemas.microsoft.com/office/powerpoint/2010/main" val="3497362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81408-2383-49D7-926B-B449F6859FD4}" type="datetimeFigureOut">
              <a:rPr lang="en-US" smtClean="0"/>
              <a:t>7/4/2018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8468D5-0D54-4809-8B8B-580E05B05E53}" type="slidenum">
              <a:rPr lang="en-US" smtClean="0"/>
              <a:t>‹#›</a:t>
            </a:fld>
            <a:endParaRPr lang="en-US"/>
          </a:p>
        </p:txBody>
      </p:sp>
    </p:spTree>
    <p:extLst>
      <p:ext uri="{BB962C8B-B14F-4D97-AF65-F5344CB8AC3E}">
        <p14:creationId xmlns:p14="http://schemas.microsoft.com/office/powerpoint/2010/main" val="3522530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EF81408-2383-49D7-926B-B449F6859FD4}" type="datetimeFigureOut">
              <a:rPr lang="en-US" smtClean="0"/>
              <a:t>7/4/2018</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88468D5-0D54-4809-8B8B-580E05B05E5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0440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122362"/>
            <a:ext cx="10816046" cy="1995307"/>
          </a:xfrm>
        </p:spPr>
        <p:txBody>
          <a:bodyPr>
            <a:noAutofit/>
          </a:bodyPr>
          <a:lstStyle/>
          <a:p>
            <a:pPr algn="ctr"/>
            <a:r>
              <a:rPr lang="en-US" sz="6400" dirty="0">
                <a:solidFill>
                  <a:schemeClr val="tx1"/>
                </a:solidFill>
                <a:cs typeface="Times New Roman" panose="02020603050405020304" pitchFamily="18" charset="0"/>
              </a:rPr>
              <a:t>‘Simon Says’, A Memory Game</a:t>
            </a:r>
            <a:br>
              <a:rPr lang="en-US" sz="6400" dirty="0">
                <a:solidFill>
                  <a:schemeClr val="tx1"/>
                </a:solidFill>
                <a:cs typeface="Times New Roman" panose="02020603050405020304" pitchFamily="18" charset="0"/>
              </a:rPr>
            </a:br>
            <a:r>
              <a:rPr lang="en-US" sz="6400" dirty="0">
                <a:solidFill>
                  <a:schemeClr val="tx1"/>
                </a:solidFill>
                <a:cs typeface="Times New Roman" panose="02020603050405020304" pitchFamily="18" charset="0"/>
              </a:rPr>
              <a:t>(Arduino module)</a:t>
            </a:r>
          </a:p>
        </p:txBody>
      </p:sp>
      <p:sp>
        <p:nvSpPr>
          <p:cNvPr id="3" name="Subtitle 2"/>
          <p:cNvSpPr>
            <a:spLocks noGrp="1"/>
          </p:cNvSpPr>
          <p:nvPr>
            <p:ph type="subTitle" idx="1"/>
          </p:nvPr>
        </p:nvSpPr>
        <p:spPr>
          <a:xfrm>
            <a:off x="548639" y="3927566"/>
            <a:ext cx="11329851" cy="2107474"/>
          </a:xfrm>
        </p:spPr>
        <p:txBody>
          <a:bodyPr>
            <a:normAutofit/>
          </a:bodyPr>
          <a:lstStyle/>
          <a:p>
            <a:pPr algn="ctr"/>
            <a:r>
              <a:rPr lang="en-US" dirty="0"/>
              <a:t>ESP4T 2016</a:t>
            </a:r>
          </a:p>
          <a:p>
            <a:pPr algn="ctr"/>
            <a:r>
              <a:rPr lang="en-US" dirty="0"/>
              <a:t>Electrical and Computer Engineering</a:t>
            </a:r>
          </a:p>
          <a:p>
            <a:pPr algn="ctr"/>
            <a:r>
              <a:rPr lang="en-US" dirty="0"/>
              <a:t>College of Engineering and Applied Sciences</a:t>
            </a:r>
          </a:p>
          <a:p>
            <a:pPr algn="ctr"/>
            <a:r>
              <a:rPr lang="en-US" dirty="0"/>
              <a:t>University of Wyoming</a:t>
            </a:r>
          </a:p>
        </p:txBody>
      </p:sp>
      <p:sp>
        <p:nvSpPr>
          <p:cNvPr id="4" name="TextBox 3">
            <a:extLst>
              <a:ext uri="{FF2B5EF4-FFF2-40B4-BE49-F238E27FC236}">
                <a16:creationId xmlns:a16="http://schemas.microsoft.com/office/drawing/2014/main" id="{39F0A215-882E-4B50-82C0-EA08B0F5C9AD}"/>
              </a:ext>
            </a:extLst>
          </p:cNvPr>
          <p:cNvSpPr txBox="1"/>
          <p:nvPr/>
        </p:nvSpPr>
        <p:spPr>
          <a:xfrm>
            <a:off x="5245125" y="3488267"/>
            <a:ext cx="1936877" cy="369332"/>
          </a:xfrm>
          <a:prstGeom prst="rect">
            <a:avLst/>
          </a:prstGeom>
          <a:noFill/>
        </p:spPr>
        <p:txBody>
          <a:bodyPr wrap="none" rtlCol="0">
            <a:spAutoFit/>
          </a:bodyPr>
          <a:lstStyle/>
          <a:p>
            <a:r>
              <a:rPr lang="en-US" dirty="0"/>
              <a:t>By </a:t>
            </a:r>
            <a:r>
              <a:rPr lang="en-US" dirty="0" err="1"/>
              <a:t>Viaswat</a:t>
            </a:r>
            <a:r>
              <a:rPr lang="en-US" dirty="0"/>
              <a:t> Shastry</a:t>
            </a:r>
          </a:p>
        </p:txBody>
      </p:sp>
    </p:spTree>
    <p:extLst>
      <p:ext uri="{BB962C8B-B14F-4D97-AF65-F5344CB8AC3E}">
        <p14:creationId xmlns:p14="http://schemas.microsoft.com/office/powerpoint/2010/main" val="3765087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Goal</a:t>
            </a:r>
          </a:p>
        </p:txBody>
      </p:sp>
      <p:sp>
        <p:nvSpPr>
          <p:cNvPr id="3" name="Content Placeholder 2"/>
          <p:cNvSpPr>
            <a:spLocks noGrp="1"/>
          </p:cNvSpPr>
          <p:nvPr>
            <p:ph idx="1"/>
          </p:nvPr>
        </p:nvSpPr>
        <p:spPr>
          <a:xfrm>
            <a:off x="1097280" y="1856509"/>
            <a:ext cx="10058400" cy="4012585"/>
          </a:xfrm>
        </p:spPr>
        <p:txBody>
          <a:bodyPr>
            <a:normAutofit/>
          </a:bodyPr>
          <a:lstStyle/>
          <a:p>
            <a:r>
              <a:rPr lang="en-US" dirty="0"/>
              <a:t>The idea is to re-create the ‘Simon Says’ game for the Arduino using techniques that we have previously learned. </a:t>
            </a:r>
          </a:p>
          <a:p>
            <a:r>
              <a:rPr lang="en-US" b="1" dirty="0"/>
              <a:t>How: </a:t>
            </a:r>
            <a:r>
              <a:rPr lang="en-US" dirty="0"/>
              <a:t>First the Arduino will light up LEDs in a random fashion. The objective of the level is to recreate this pattern using switch buttons. </a:t>
            </a:r>
          </a:p>
          <a:p>
            <a:r>
              <a:rPr lang="en-US" dirty="0"/>
              <a:t>The first level will only have one LED light up, the second will have two and so on. </a:t>
            </a:r>
          </a:p>
          <a:p>
            <a:r>
              <a:rPr lang="en-US" dirty="0"/>
              <a:t>To win the game, the user must finish ALL 10 levels. (with a 10 LED sequence in the end!)</a:t>
            </a:r>
          </a:p>
          <a:p>
            <a:r>
              <a:rPr lang="en-US" dirty="0"/>
              <a:t>And it can be played any number of times!</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929474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r>
              <a:rPr lang="en-US" dirty="0"/>
              <a:t>It is a game that tests the short term memory capacity of the brain. </a:t>
            </a:r>
          </a:p>
          <a:p>
            <a:r>
              <a:rPr lang="en-US" dirty="0"/>
              <a:t>As we build the game from scratch we will look at some procedural programming concepts and elementary circuit design. </a:t>
            </a:r>
          </a:p>
          <a:p>
            <a:r>
              <a:rPr lang="en-US" b="1" dirty="0"/>
              <a:t>Rating: </a:t>
            </a:r>
            <a:r>
              <a:rPr lang="en-US" dirty="0"/>
              <a:t>(0 being LOW and 5 being HIGH)</a:t>
            </a:r>
            <a:endParaRPr lang="en-US" b="1" dirty="0"/>
          </a:p>
        </p:txBody>
      </p:sp>
      <p:graphicFrame>
        <p:nvGraphicFramePr>
          <p:cNvPr id="9" name="Chart 8"/>
          <p:cNvGraphicFramePr/>
          <p:nvPr>
            <p:extLst>
              <p:ext uri="{D42A27DB-BD31-4B8C-83A1-F6EECF244321}">
                <p14:modId xmlns:p14="http://schemas.microsoft.com/office/powerpoint/2010/main" val="2037249545"/>
              </p:ext>
            </p:extLst>
          </p:nvPr>
        </p:nvGraphicFramePr>
        <p:xfrm>
          <a:off x="3666573" y="3312467"/>
          <a:ext cx="3297645" cy="2202059"/>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9"/>
          <p:cNvSpPr/>
          <p:nvPr/>
        </p:nvSpPr>
        <p:spPr>
          <a:xfrm>
            <a:off x="1025236" y="5608136"/>
            <a:ext cx="10130444" cy="369332"/>
          </a:xfrm>
          <a:prstGeom prst="rect">
            <a:avLst/>
          </a:prstGeom>
        </p:spPr>
        <p:txBody>
          <a:bodyPr wrap="square">
            <a:spAutoFit/>
          </a:bodyPr>
          <a:lstStyle/>
          <a:p>
            <a:r>
              <a:rPr lang="en-US" i="1" dirty="0"/>
              <a:t>(NOTE: All components that are required for this game is available in the provided Arduino kit)</a:t>
            </a:r>
          </a:p>
        </p:txBody>
      </p:sp>
    </p:spTree>
    <p:extLst>
      <p:ext uri="{BB962C8B-B14F-4D97-AF65-F5344CB8AC3E}">
        <p14:creationId xmlns:p14="http://schemas.microsoft.com/office/powerpoint/2010/main" val="1266017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862294"/>
          </a:xfrm>
        </p:spPr>
        <p:txBody>
          <a:bodyPr/>
          <a:lstStyle/>
          <a:p>
            <a:r>
              <a:rPr lang="en-US" dirty="0"/>
              <a:t>Components Required	</a:t>
            </a:r>
          </a:p>
        </p:txBody>
      </p:sp>
      <p:sp>
        <p:nvSpPr>
          <p:cNvPr id="3" name="Content Placeholder 2"/>
          <p:cNvSpPr>
            <a:spLocks noGrp="1"/>
          </p:cNvSpPr>
          <p:nvPr>
            <p:ph idx="1"/>
          </p:nvPr>
        </p:nvSpPr>
        <p:spPr>
          <a:xfrm>
            <a:off x="1097280" y="1080655"/>
            <a:ext cx="10058400" cy="5209310"/>
          </a:xfrm>
        </p:spPr>
        <p:txBody>
          <a:bodyPr>
            <a:normAutofit lnSpcReduction="10000"/>
          </a:bodyPr>
          <a:lstStyle/>
          <a:p>
            <a:pPr marL="0" indent="0">
              <a:lnSpc>
                <a:spcPct val="200000"/>
              </a:lnSpc>
              <a:buClr>
                <a:schemeClr val="tx1"/>
              </a:buClr>
              <a:buNone/>
            </a:pPr>
            <a:r>
              <a:rPr lang="en-US" dirty="0"/>
              <a:t>0.      ONE Arduino board</a:t>
            </a:r>
          </a:p>
          <a:p>
            <a:pPr marL="457200" indent="-457200">
              <a:lnSpc>
                <a:spcPct val="200000"/>
              </a:lnSpc>
              <a:buClr>
                <a:schemeClr val="tx1"/>
              </a:buClr>
              <a:buFont typeface="+mj-lt"/>
              <a:buAutoNum type="arabicPeriod"/>
            </a:pPr>
            <a:r>
              <a:rPr lang="en-US" dirty="0"/>
              <a:t>ONE Breadboard </a:t>
            </a:r>
          </a:p>
          <a:p>
            <a:pPr marL="457200" indent="-457200">
              <a:lnSpc>
                <a:spcPct val="200000"/>
              </a:lnSpc>
              <a:buClr>
                <a:schemeClr val="tx1"/>
              </a:buClr>
              <a:buFont typeface="+mj-lt"/>
              <a:buAutoNum type="arabicPeriod"/>
            </a:pPr>
            <a:r>
              <a:rPr lang="en-US" dirty="0"/>
              <a:t>THREE 220</a:t>
            </a:r>
            <a:r>
              <a:rPr lang="el-GR" dirty="0"/>
              <a:t>Ω</a:t>
            </a:r>
            <a:r>
              <a:rPr lang="en-US" dirty="0"/>
              <a:t> resistors</a:t>
            </a:r>
          </a:p>
          <a:p>
            <a:pPr marL="457200" indent="-457200">
              <a:lnSpc>
                <a:spcPct val="200000"/>
              </a:lnSpc>
              <a:buClr>
                <a:schemeClr val="tx1"/>
              </a:buClr>
              <a:buFont typeface="+mj-lt"/>
              <a:buAutoNum type="arabicPeriod"/>
            </a:pPr>
            <a:r>
              <a:rPr lang="en-US" dirty="0"/>
              <a:t>THREE (preferably) different colored LEDs</a:t>
            </a:r>
          </a:p>
          <a:p>
            <a:pPr marL="457200" indent="-457200">
              <a:lnSpc>
                <a:spcPct val="200000"/>
              </a:lnSpc>
              <a:buClr>
                <a:schemeClr val="tx1"/>
              </a:buClr>
              <a:buFont typeface="+mj-lt"/>
              <a:buAutoNum type="arabicPeriod"/>
            </a:pPr>
            <a:r>
              <a:rPr lang="en-US" dirty="0"/>
              <a:t>MANY Jumper wires! </a:t>
            </a:r>
          </a:p>
          <a:p>
            <a:pPr marL="457200" indent="-457200">
              <a:lnSpc>
                <a:spcPct val="200000"/>
              </a:lnSpc>
              <a:buClr>
                <a:schemeClr val="tx1"/>
              </a:buClr>
              <a:buFont typeface="+mj-lt"/>
              <a:buAutoNum type="arabicPeriod"/>
            </a:pPr>
            <a:r>
              <a:rPr lang="en-US" dirty="0"/>
              <a:t>THREE 1k</a:t>
            </a:r>
            <a:r>
              <a:rPr lang="el-GR" dirty="0"/>
              <a:t>Ω</a:t>
            </a:r>
            <a:r>
              <a:rPr lang="en-US" dirty="0"/>
              <a:t> resistors </a:t>
            </a:r>
          </a:p>
          <a:p>
            <a:pPr marL="457200" indent="-457200">
              <a:lnSpc>
                <a:spcPct val="200000"/>
              </a:lnSpc>
              <a:buClr>
                <a:schemeClr val="tx1"/>
              </a:buClr>
              <a:buFont typeface="+mj-lt"/>
              <a:buAutoNum type="arabicPeriod"/>
            </a:pPr>
            <a:r>
              <a:rPr lang="en-US" dirty="0"/>
              <a:t>ONE Buzzer (the one with a green underbelly!) </a:t>
            </a:r>
          </a:p>
        </p:txBody>
      </p:sp>
      <p:pic>
        <p:nvPicPr>
          <p:cNvPr id="4" name="Picture 3"/>
          <p:cNvPicPr>
            <a:picLocks noChangeAspect="1"/>
          </p:cNvPicPr>
          <p:nvPr/>
        </p:nvPicPr>
        <p:blipFill>
          <a:blip r:embed="rId2"/>
          <a:stretch>
            <a:fillRect/>
          </a:stretch>
        </p:blipFill>
        <p:spPr>
          <a:xfrm>
            <a:off x="3770812" y="1160667"/>
            <a:ext cx="764243" cy="532852"/>
          </a:xfrm>
          <a:prstGeom prst="rect">
            <a:avLst/>
          </a:prstGeom>
        </p:spPr>
      </p:pic>
      <p:pic>
        <p:nvPicPr>
          <p:cNvPr id="5" name="Picture 4"/>
          <p:cNvPicPr>
            <a:picLocks noChangeAspect="1"/>
          </p:cNvPicPr>
          <p:nvPr/>
        </p:nvPicPr>
        <p:blipFill>
          <a:blip r:embed="rId3"/>
          <a:stretch>
            <a:fillRect/>
          </a:stretch>
        </p:blipFill>
        <p:spPr>
          <a:xfrm>
            <a:off x="3770812" y="2714488"/>
            <a:ext cx="644170" cy="625659"/>
          </a:xfrm>
          <a:prstGeom prst="rect">
            <a:avLst/>
          </a:prstGeom>
        </p:spPr>
      </p:pic>
      <p:pic>
        <p:nvPicPr>
          <p:cNvPr id="6" name="Picture 5"/>
          <p:cNvPicPr>
            <a:picLocks noChangeAspect="1"/>
          </p:cNvPicPr>
          <p:nvPr/>
        </p:nvPicPr>
        <p:blipFill>
          <a:blip r:embed="rId4"/>
          <a:stretch>
            <a:fillRect/>
          </a:stretch>
        </p:blipFill>
        <p:spPr>
          <a:xfrm>
            <a:off x="5762601" y="3209729"/>
            <a:ext cx="1016889" cy="687395"/>
          </a:xfrm>
          <a:prstGeom prst="rect">
            <a:avLst/>
          </a:prstGeom>
        </p:spPr>
      </p:pic>
      <p:pic>
        <p:nvPicPr>
          <p:cNvPr id="7" name="Picture 6"/>
          <p:cNvPicPr>
            <a:picLocks noChangeAspect="1"/>
          </p:cNvPicPr>
          <p:nvPr/>
        </p:nvPicPr>
        <p:blipFill>
          <a:blip r:embed="rId5"/>
          <a:stretch>
            <a:fillRect/>
          </a:stretch>
        </p:blipFill>
        <p:spPr>
          <a:xfrm>
            <a:off x="3445164" y="1816739"/>
            <a:ext cx="698479" cy="693525"/>
          </a:xfrm>
          <a:prstGeom prst="rect">
            <a:avLst/>
          </a:prstGeom>
        </p:spPr>
      </p:pic>
      <p:pic>
        <p:nvPicPr>
          <p:cNvPr id="8" name="Picture 7"/>
          <p:cNvPicPr>
            <a:picLocks noChangeAspect="1"/>
          </p:cNvPicPr>
          <p:nvPr/>
        </p:nvPicPr>
        <p:blipFill>
          <a:blip r:embed="rId6"/>
          <a:stretch>
            <a:fillRect/>
          </a:stretch>
        </p:blipFill>
        <p:spPr>
          <a:xfrm>
            <a:off x="3795463" y="3960506"/>
            <a:ext cx="831955" cy="756322"/>
          </a:xfrm>
          <a:prstGeom prst="rect">
            <a:avLst/>
          </a:prstGeom>
        </p:spPr>
      </p:pic>
      <p:pic>
        <p:nvPicPr>
          <p:cNvPr id="9" name="Picture 8"/>
          <p:cNvPicPr>
            <a:picLocks noChangeAspect="1"/>
          </p:cNvPicPr>
          <p:nvPr/>
        </p:nvPicPr>
        <p:blipFill>
          <a:blip r:embed="rId7"/>
          <a:stretch>
            <a:fillRect/>
          </a:stretch>
        </p:blipFill>
        <p:spPr>
          <a:xfrm>
            <a:off x="3679752" y="4828388"/>
            <a:ext cx="855302" cy="711754"/>
          </a:xfrm>
          <a:prstGeom prst="rect">
            <a:avLst/>
          </a:prstGeom>
        </p:spPr>
      </p:pic>
      <p:pic>
        <p:nvPicPr>
          <p:cNvPr id="10" name="Picture 9"/>
          <p:cNvPicPr>
            <a:picLocks noChangeAspect="1"/>
          </p:cNvPicPr>
          <p:nvPr/>
        </p:nvPicPr>
        <p:blipFill>
          <a:blip r:embed="rId8"/>
          <a:stretch>
            <a:fillRect/>
          </a:stretch>
        </p:blipFill>
        <p:spPr>
          <a:xfrm>
            <a:off x="6126480" y="5439528"/>
            <a:ext cx="883920" cy="850437"/>
          </a:xfrm>
          <a:prstGeom prst="rect">
            <a:avLst/>
          </a:prstGeom>
        </p:spPr>
      </p:pic>
    </p:spTree>
    <p:extLst>
      <p:ext uri="{BB962C8B-B14F-4D97-AF65-F5344CB8AC3E}">
        <p14:creationId xmlns:p14="http://schemas.microsoft.com/office/powerpoint/2010/main" val="2176551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75843"/>
          </a:xfrm>
        </p:spPr>
        <p:txBody>
          <a:bodyPr/>
          <a:lstStyle/>
          <a:p>
            <a:r>
              <a:rPr lang="en-US" dirty="0"/>
              <a:t>Final Look </a:t>
            </a:r>
          </a:p>
        </p:txBody>
      </p:sp>
      <p:sp>
        <p:nvSpPr>
          <p:cNvPr id="3" name="Content Placeholder 2"/>
          <p:cNvSpPr>
            <a:spLocks noGrp="1"/>
          </p:cNvSpPr>
          <p:nvPr>
            <p:ph idx="1"/>
          </p:nvPr>
        </p:nvSpPr>
        <p:spPr/>
        <p:txBody>
          <a:bodyPr/>
          <a:lstStyle/>
          <a:p>
            <a:r>
              <a:rPr lang="en-US" dirty="0"/>
              <a:t> </a:t>
            </a:r>
          </a:p>
        </p:txBody>
      </p:sp>
      <p:pic>
        <p:nvPicPr>
          <p:cNvPr id="1026" name="Picture 2" descr="https://lh3.googleusercontent.com/SG7bg0pxs8SKQOPJ9-J72Z66uYJsezf8TWpDWlF7ssFHpXtlQhDvj1w2iDRLn7LBEDBD6pGR_Gj2SgECwulf7UPoJb78Qgmf5xm7cw4VzRczIhiii0QuB-NC48-7OornkBTergFw2gbCv5Af4FWvhYnFNXUvwTqEkBnFAAi1tPrwwQf6yRhkhr9rYQNZ_1efJJiVt8cpqSbGHyuVKuFiyNBOgi4zSdCZwryaO4t2r-g7QEN7OZKj6lPnebfABxeZ_ltSvGHYEtbvH3pxngAp9PtZEH51n5VeeixSi2yyC0D8TqTv0X6iN3EBHc064JSz_Dg9lmxPj7QARxnLeZ-gAQ3KnhuxXrGanitftjpRskCixJs3E03QeusaFMDYyVuVtb4aY4FlHWpZCN_xy_pzJZlaQkmwoSq8k9mVYRRI4Ck5BF9kS1BHHAe_Q-pcKQ43NATA1sApAWlCixn9IfnckyvAXg2vAToUD4CFCHm6AylMTr2qVgzuH2NR8QGAUwNq0RznQcwvt-VuQe6Zxamt36xeGMSZ5t9aO1lX4zYA56XnqI29g_LmH1TnL-r0PrCHVaevfVA9NNPzZQF7mNO1xu0fDE_HsCowu0KeW_2J_fTna2On=w1295-h971-no"/>
          <p:cNvPicPr>
            <a:picLocks noChangeAspect="1" noChangeArrowheads="1"/>
          </p:cNvPicPr>
          <p:nvPr/>
        </p:nvPicPr>
        <p:blipFill rotWithShape="1">
          <a:blip r:embed="rId2">
            <a:extLst>
              <a:ext uri="{28A0092B-C50C-407E-A947-70E740481C1C}">
                <a14:useLocalDpi xmlns:a14="http://schemas.microsoft.com/office/drawing/2010/main" val="0"/>
              </a:ext>
            </a:extLst>
          </a:blip>
          <a:srcRect l="9214" b="21915"/>
          <a:stretch/>
        </p:blipFill>
        <p:spPr bwMode="auto">
          <a:xfrm>
            <a:off x="2753434" y="1845734"/>
            <a:ext cx="6789634" cy="43787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88571" y="1006930"/>
            <a:ext cx="10119360" cy="769441"/>
          </a:xfrm>
          <a:prstGeom prst="rect">
            <a:avLst/>
          </a:prstGeom>
          <a:noFill/>
        </p:spPr>
        <p:txBody>
          <a:bodyPr wrap="square" rtlCol="0">
            <a:spAutoFit/>
          </a:bodyPr>
          <a:lstStyle/>
          <a:p>
            <a:r>
              <a:rPr lang="en-US" sz="2200" dirty="0"/>
              <a:t>The project should look something like this at the end, with a few minor differences in wiring of course: </a:t>
            </a:r>
          </a:p>
        </p:txBody>
      </p:sp>
    </p:spTree>
    <p:extLst>
      <p:ext uri="{BB962C8B-B14F-4D97-AF65-F5344CB8AC3E}">
        <p14:creationId xmlns:p14="http://schemas.microsoft.com/office/powerpoint/2010/main" val="566463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a:t>
            </a:r>
          </a:p>
        </p:txBody>
      </p:sp>
      <p:sp>
        <p:nvSpPr>
          <p:cNvPr id="3" name="Text Placeholder 2"/>
          <p:cNvSpPr>
            <a:spLocks noGrp="1"/>
          </p:cNvSpPr>
          <p:nvPr>
            <p:ph type="body" idx="1"/>
          </p:nvPr>
        </p:nvSpPr>
        <p:spPr/>
        <p:txBody>
          <a:bodyPr/>
          <a:lstStyle/>
          <a:p>
            <a:r>
              <a:rPr lang="en-US" dirty="0"/>
              <a:t>(P.s. Make sure you have all your components in order)</a:t>
            </a:r>
          </a:p>
        </p:txBody>
      </p:sp>
    </p:spTree>
    <p:extLst>
      <p:ext uri="{BB962C8B-B14F-4D97-AF65-F5344CB8AC3E}">
        <p14:creationId xmlns:p14="http://schemas.microsoft.com/office/powerpoint/2010/main" val="1001497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LEDs and Buttons</a:t>
            </a:r>
          </a:p>
        </p:txBody>
      </p:sp>
      <p:sp>
        <p:nvSpPr>
          <p:cNvPr id="3" name="Content Placeholder 2"/>
          <p:cNvSpPr>
            <a:spLocks noGrp="1"/>
          </p:cNvSpPr>
          <p:nvPr>
            <p:ph idx="1"/>
          </p:nvPr>
        </p:nvSpPr>
        <p:spPr>
          <a:xfrm>
            <a:off x="923636" y="1845734"/>
            <a:ext cx="10326256" cy="4023360"/>
          </a:xfrm>
        </p:spPr>
        <p:txBody>
          <a:bodyPr/>
          <a:lstStyle/>
          <a:p>
            <a:r>
              <a:rPr lang="en-US" dirty="0"/>
              <a:t>First let us connect the LEDs and Switch buttons to the breadboard. </a:t>
            </a:r>
          </a:p>
          <a:p>
            <a:r>
              <a:rPr lang="en-US" dirty="0"/>
              <a:t>The resistors connected to the LED are 220 </a:t>
            </a:r>
            <a:r>
              <a:rPr lang="el-GR" dirty="0"/>
              <a:t>Ω</a:t>
            </a:r>
            <a:r>
              <a:rPr lang="en-US" dirty="0"/>
              <a:t> and the ones connected to the push button are 1 k</a:t>
            </a:r>
            <a:r>
              <a:rPr lang="el-GR" dirty="0"/>
              <a:t>Ω</a:t>
            </a:r>
            <a:r>
              <a:rPr lang="en-US" dirty="0"/>
              <a:t>. </a:t>
            </a:r>
          </a:p>
        </p:txBody>
      </p:sp>
      <p:pic>
        <p:nvPicPr>
          <p:cNvPr id="6" name="Picture 5"/>
          <p:cNvPicPr>
            <a:picLocks noChangeAspect="1"/>
          </p:cNvPicPr>
          <p:nvPr/>
        </p:nvPicPr>
        <p:blipFill>
          <a:blip r:embed="rId2"/>
          <a:stretch>
            <a:fillRect/>
          </a:stretch>
        </p:blipFill>
        <p:spPr>
          <a:xfrm>
            <a:off x="3266642" y="2805393"/>
            <a:ext cx="5905955" cy="2876512"/>
          </a:xfrm>
          <a:prstGeom prst="rect">
            <a:avLst/>
          </a:prstGeom>
        </p:spPr>
      </p:pic>
    </p:spTree>
    <p:extLst>
      <p:ext uri="{BB962C8B-B14F-4D97-AF65-F5344CB8AC3E}">
        <p14:creationId xmlns:p14="http://schemas.microsoft.com/office/powerpoint/2010/main" val="1954468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Connect the Buzzer</a:t>
            </a:r>
          </a:p>
        </p:txBody>
      </p:sp>
      <p:sp>
        <p:nvSpPr>
          <p:cNvPr id="3" name="Content Placeholder 2"/>
          <p:cNvSpPr>
            <a:spLocks noGrp="1"/>
          </p:cNvSpPr>
          <p:nvPr>
            <p:ph idx="1"/>
          </p:nvPr>
        </p:nvSpPr>
        <p:spPr/>
        <p:txBody>
          <a:bodyPr/>
          <a:lstStyle/>
          <a:p>
            <a:r>
              <a:rPr lang="en-US" dirty="0"/>
              <a:t>Now we will place the buzzer on the breadboard. </a:t>
            </a:r>
          </a:p>
          <a:p>
            <a:r>
              <a:rPr lang="en-US" i="1" dirty="0"/>
              <a:t>(The side with the ‘+’ symbol on the buzzer is the one with the red wire)</a:t>
            </a:r>
          </a:p>
          <a:p>
            <a:endParaRPr lang="en-US" dirty="0"/>
          </a:p>
        </p:txBody>
      </p:sp>
      <p:pic>
        <p:nvPicPr>
          <p:cNvPr id="6" name="Picture 5"/>
          <p:cNvPicPr>
            <a:picLocks noChangeAspect="1"/>
          </p:cNvPicPr>
          <p:nvPr/>
        </p:nvPicPr>
        <p:blipFill>
          <a:blip r:embed="rId2"/>
          <a:stretch>
            <a:fillRect/>
          </a:stretch>
        </p:blipFill>
        <p:spPr>
          <a:xfrm>
            <a:off x="2168596" y="2937164"/>
            <a:ext cx="8141109" cy="2438400"/>
          </a:xfrm>
          <a:prstGeom prst="rect">
            <a:avLst/>
          </a:prstGeom>
        </p:spPr>
      </p:pic>
    </p:spTree>
    <p:extLst>
      <p:ext uri="{BB962C8B-B14F-4D97-AF65-F5344CB8AC3E}">
        <p14:creationId xmlns:p14="http://schemas.microsoft.com/office/powerpoint/2010/main" val="3599212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84815"/>
          </a:xfrm>
        </p:spPr>
        <p:txBody>
          <a:bodyPr/>
          <a:lstStyle/>
          <a:p>
            <a:r>
              <a:rPr lang="en-US" dirty="0"/>
              <a:t>Step 3: Connect to the Arduino (Part 1)</a:t>
            </a:r>
          </a:p>
        </p:txBody>
      </p:sp>
      <p:sp>
        <p:nvSpPr>
          <p:cNvPr id="3" name="Content Placeholder 2"/>
          <p:cNvSpPr>
            <a:spLocks noGrp="1"/>
          </p:cNvSpPr>
          <p:nvPr>
            <p:ph idx="1"/>
          </p:nvPr>
        </p:nvSpPr>
        <p:spPr>
          <a:xfrm>
            <a:off x="1097280" y="1845733"/>
            <a:ext cx="10058400" cy="4415729"/>
          </a:xfrm>
        </p:spPr>
        <p:txBody>
          <a:bodyPr/>
          <a:lstStyle/>
          <a:p>
            <a:r>
              <a:rPr lang="en-US" dirty="0"/>
              <a:t>Pin 2 – Green LED (green wire)		Pin 7 – Red wire of Buzzer (‘+’ side) (orange wire)</a:t>
            </a:r>
            <a:br>
              <a:rPr lang="en-US" dirty="0"/>
            </a:br>
            <a:r>
              <a:rPr lang="en-US" dirty="0"/>
              <a:t>Pin 3 – Red LED (red wire)		Pin 4 – Yellow LED (yellow wire)</a:t>
            </a:r>
            <a:br>
              <a:rPr lang="en-US" dirty="0"/>
            </a:br>
            <a:endParaRPr lang="en-US" dirty="0"/>
          </a:p>
        </p:txBody>
      </p:sp>
      <p:pic>
        <p:nvPicPr>
          <p:cNvPr id="4" name="Picture 3"/>
          <p:cNvPicPr>
            <a:picLocks noChangeAspect="1"/>
          </p:cNvPicPr>
          <p:nvPr/>
        </p:nvPicPr>
        <p:blipFill>
          <a:blip r:embed="rId2"/>
          <a:stretch>
            <a:fillRect/>
          </a:stretch>
        </p:blipFill>
        <p:spPr>
          <a:xfrm>
            <a:off x="3306619" y="2706202"/>
            <a:ext cx="6068290" cy="3555260"/>
          </a:xfrm>
          <a:prstGeom prst="rect">
            <a:avLst/>
          </a:prstGeom>
        </p:spPr>
      </p:pic>
      <p:sp>
        <p:nvSpPr>
          <p:cNvPr id="5" name="TextBox 4"/>
          <p:cNvSpPr txBox="1"/>
          <p:nvPr/>
        </p:nvSpPr>
        <p:spPr>
          <a:xfrm>
            <a:off x="1097280" y="1126836"/>
            <a:ext cx="10058400" cy="430887"/>
          </a:xfrm>
          <a:prstGeom prst="rect">
            <a:avLst/>
          </a:prstGeom>
          <a:noFill/>
        </p:spPr>
        <p:txBody>
          <a:bodyPr wrap="square" rtlCol="0">
            <a:spAutoFit/>
          </a:bodyPr>
          <a:lstStyle/>
          <a:p>
            <a:r>
              <a:rPr lang="en-US" sz="2200" dirty="0"/>
              <a:t>We will now connect the LEDs and the Buzzer to the Arduino.</a:t>
            </a:r>
          </a:p>
        </p:txBody>
      </p:sp>
    </p:spTree>
    <p:extLst>
      <p:ext uri="{BB962C8B-B14F-4D97-AF65-F5344CB8AC3E}">
        <p14:creationId xmlns:p14="http://schemas.microsoft.com/office/powerpoint/2010/main" val="3508559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766342"/>
          </a:xfrm>
        </p:spPr>
        <p:txBody>
          <a:bodyPr/>
          <a:lstStyle/>
          <a:p>
            <a:r>
              <a:rPr lang="en-US" dirty="0"/>
              <a:t>Step 4: Connect to the Arduino (Part 2)</a:t>
            </a:r>
          </a:p>
        </p:txBody>
      </p:sp>
      <p:sp>
        <p:nvSpPr>
          <p:cNvPr id="3" name="Content Placeholder 2"/>
          <p:cNvSpPr>
            <a:spLocks noGrp="1"/>
          </p:cNvSpPr>
          <p:nvPr>
            <p:ph idx="1"/>
          </p:nvPr>
        </p:nvSpPr>
        <p:spPr/>
        <p:txBody>
          <a:bodyPr/>
          <a:lstStyle/>
          <a:p>
            <a:r>
              <a:rPr lang="en-US" dirty="0"/>
              <a:t>Pin 8 – Button corresponding to Green LED (white wire)</a:t>
            </a:r>
            <a:br>
              <a:rPr lang="en-US" dirty="0"/>
            </a:br>
            <a:r>
              <a:rPr lang="en-US" dirty="0"/>
              <a:t>Pin 9 – Button corresponding to Red LED (blue wire)</a:t>
            </a:r>
            <a:br>
              <a:rPr lang="en-US" dirty="0"/>
            </a:br>
            <a:r>
              <a:rPr lang="en-US" dirty="0"/>
              <a:t>Pin 10 – Button corresponding to Yellow LED (brown wire)</a:t>
            </a:r>
          </a:p>
          <a:p>
            <a:endParaRPr lang="en-US" dirty="0"/>
          </a:p>
        </p:txBody>
      </p:sp>
      <p:pic>
        <p:nvPicPr>
          <p:cNvPr id="4" name="Picture 3"/>
          <p:cNvPicPr>
            <a:picLocks noChangeAspect="1"/>
          </p:cNvPicPr>
          <p:nvPr/>
        </p:nvPicPr>
        <p:blipFill>
          <a:blip r:embed="rId2"/>
          <a:stretch>
            <a:fillRect/>
          </a:stretch>
        </p:blipFill>
        <p:spPr>
          <a:xfrm>
            <a:off x="3414033" y="2881745"/>
            <a:ext cx="5781164" cy="3349405"/>
          </a:xfrm>
          <a:prstGeom prst="rect">
            <a:avLst/>
          </a:prstGeom>
        </p:spPr>
      </p:pic>
      <p:sp>
        <p:nvSpPr>
          <p:cNvPr id="5" name="TextBox 4"/>
          <p:cNvSpPr txBox="1"/>
          <p:nvPr/>
        </p:nvSpPr>
        <p:spPr>
          <a:xfrm>
            <a:off x="1097280" y="1170710"/>
            <a:ext cx="10058400" cy="430887"/>
          </a:xfrm>
          <a:prstGeom prst="rect">
            <a:avLst/>
          </a:prstGeom>
          <a:noFill/>
        </p:spPr>
        <p:txBody>
          <a:bodyPr wrap="square" rtlCol="0">
            <a:spAutoFit/>
          </a:bodyPr>
          <a:lstStyle/>
          <a:p>
            <a:r>
              <a:rPr lang="en-US" sz="2200" dirty="0"/>
              <a:t>We now need to connect the push buttons to their respective ports on the Arduino.</a:t>
            </a:r>
          </a:p>
        </p:txBody>
      </p:sp>
    </p:spTree>
    <p:extLst>
      <p:ext uri="{BB962C8B-B14F-4D97-AF65-F5344CB8AC3E}">
        <p14:creationId xmlns:p14="http://schemas.microsoft.com/office/powerpoint/2010/main" val="2066589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4.5: A Closer Look…</a:t>
            </a:r>
          </a:p>
        </p:txBody>
      </p:sp>
      <p:pic>
        <p:nvPicPr>
          <p:cNvPr id="4" name="Content Placeholder 3"/>
          <p:cNvPicPr>
            <a:picLocks noGrp="1" noChangeAspect="1"/>
          </p:cNvPicPr>
          <p:nvPr>
            <p:ph sz="half" idx="1"/>
          </p:nvPr>
        </p:nvPicPr>
        <p:blipFill>
          <a:blip r:embed="rId2"/>
          <a:stretch>
            <a:fillRect/>
          </a:stretch>
        </p:blipFill>
        <p:spPr>
          <a:xfrm>
            <a:off x="7889967" y="2455409"/>
            <a:ext cx="2229393" cy="3116481"/>
          </a:xfrm>
          <a:prstGeom prst="rect">
            <a:avLst/>
          </a:prstGeom>
        </p:spPr>
      </p:pic>
      <p:sp>
        <p:nvSpPr>
          <p:cNvPr id="5" name="Content Placeholder 4"/>
          <p:cNvSpPr>
            <a:spLocks noGrp="1"/>
          </p:cNvSpPr>
          <p:nvPr>
            <p:ph sz="half" idx="2"/>
          </p:nvPr>
        </p:nvSpPr>
        <p:spPr>
          <a:xfrm>
            <a:off x="1437731" y="1849288"/>
            <a:ext cx="4937760" cy="4023360"/>
          </a:xfrm>
        </p:spPr>
        <p:txBody>
          <a:bodyPr>
            <a:normAutofit lnSpcReduction="10000"/>
          </a:bodyPr>
          <a:lstStyle/>
          <a:p>
            <a:r>
              <a:rPr lang="en-US" dirty="0"/>
              <a:t>Each of your LEDs need to be connected in the </a:t>
            </a:r>
            <a:r>
              <a:rPr lang="en-US" i="1" dirty="0"/>
              <a:t>same</a:t>
            </a:r>
            <a:r>
              <a:rPr lang="en-US" dirty="0"/>
              <a:t> fashion. </a:t>
            </a:r>
          </a:p>
          <a:p>
            <a:r>
              <a:rPr lang="en-US" b="1" dirty="0"/>
              <a:t>Switch button:</a:t>
            </a:r>
            <a:br>
              <a:rPr lang="en-US" dirty="0"/>
            </a:br>
            <a:r>
              <a:rPr lang="en-US" dirty="0"/>
              <a:t>One leg goes to the +5V railing and the other leg is connected to a 1k</a:t>
            </a:r>
            <a:r>
              <a:rPr lang="el-GR" dirty="0"/>
              <a:t>Ω</a:t>
            </a:r>
            <a:r>
              <a:rPr lang="en-US" dirty="0"/>
              <a:t> resistor and Pin 8 on the Arduino. </a:t>
            </a:r>
          </a:p>
          <a:p>
            <a:r>
              <a:rPr lang="en-US" b="1" dirty="0"/>
              <a:t>LED:</a:t>
            </a:r>
            <a:br>
              <a:rPr lang="en-US" dirty="0"/>
            </a:br>
            <a:r>
              <a:rPr lang="en-US" dirty="0"/>
              <a:t>One leg is connected to a 220</a:t>
            </a:r>
            <a:r>
              <a:rPr lang="el-GR" dirty="0"/>
              <a:t>Ω</a:t>
            </a:r>
            <a:r>
              <a:rPr lang="en-US" dirty="0"/>
              <a:t> resistor that is going to GND while the other leg is connected to the jumper going to the Pin 2 of the Arduino. </a:t>
            </a:r>
          </a:p>
          <a:p>
            <a:r>
              <a:rPr lang="en-US" i="1" dirty="0"/>
              <a:t>(NOTE: This is only for the GREEN LED setup. Pin numbers will vary for the other ones)</a:t>
            </a:r>
          </a:p>
        </p:txBody>
      </p:sp>
      <p:sp>
        <p:nvSpPr>
          <p:cNvPr id="6" name="TextBox 5"/>
          <p:cNvSpPr txBox="1"/>
          <p:nvPr/>
        </p:nvSpPr>
        <p:spPr>
          <a:xfrm>
            <a:off x="8421191" y="1813542"/>
            <a:ext cx="653142" cy="369332"/>
          </a:xfrm>
          <a:prstGeom prst="rect">
            <a:avLst/>
          </a:prstGeom>
          <a:noFill/>
        </p:spPr>
        <p:txBody>
          <a:bodyPr wrap="square" rtlCol="0">
            <a:spAutoFit/>
          </a:bodyPr>
          <a:lstStyle/>
          <a:p>
            <a:r>
              <a:rPr lang="en-US" dirty="0"/>
              <a:t>Pin 8 </a:t>
            </a:r>
          </a:p>
        </p:txBody>
      </p:sp>
      <p:sp>
        <p:nvSpPr>
          <p:cNvPr id="7" name="TextBox 6"/>
          <p:cNvSpPr txBox="1"/>
          <p:nvPr/>
        </p:nvSpPr>
        <p:spPr>
          <a:xfrm>
            <a:off x="10040981" y="1849288"/>
            <a:ext cx="775064" cy="369332"/>
          </a:xfrm>
          <a:prstGeom prst="rect">
            <a:avLst/>
          </a:prstGeom>
          <a:noFill/>
        </p:spPr>
        <p:txBody>
          <a:bodyPr wrap="square" rtlCol="0">
            <a:spAutoFit/>
          </a:bodyPr>
          <a:lstStyle/>
          <a:p>
            <a:r>
              <a:rPr lang="en-US" dirty="0"/>
              <a:t>Pin 2</a:t>
            </a:r>
          </a:p>
        </p:txBody>
      </p:sp>
      <p:sp>
        <p:nvSpPr>
          <p:cNvPr id="8" name="TextBox 7"/>
          <p:cNvSpPr txBox="1"/>
          <p:nvPr/>
        </p:nvSpPr>
        <p:spPr>
          <a:xfrm>
            <a:off x="7342139" y="2420669"/>
            <a:ext cx="679270" cy="369332"/>
          </a:xfrm>
          <a:prstGeom prst="rect">
            <a:avLst/>
          </a:prstGeom>
          <a:noFill/>
        </p:spPr>
        <p:txBody>
          <a:bodyPr wrap="square" rtlCol="0">
            <a:spAutoFit/>
          </a:bodyPr>
          <a:lstStyle/>
          <a:p>
            <a:r>
              <a:rPr lang="en-US" dirty="0"/>
              <a:t>GND</a:t>
            </a:r>
          </a:p>
        </p:txBody>
      </p:sp>
      <p:sp>
        <p:nvSpPr>
          <p:cNvPr id="9" name="TextBox 8"/>
          <p:cNvSpPr txBox="1"/>
          <p:nvPr/>
        </p:nvSpPr>
        <p:spPr>
          <a:xfrm>
            <a:off x="7407861" y="2964359"/>
            <a:ext cx="547827" cy="369332"/>
          </a:xfrm>
          <a:prstGeom prst="rect">
            <a:avLst/>
          </a:prstGeom>
          <a:noFill/>
        </p:spPr>
        <p:txBody>
          <a:bodyPr wrap="square" rtlCol="0">
            <a:spAutoFit/>
          </a:bodyPr>
          <a:lstStyle/>
          <a:p>
            <a:r>
              <a:rPr lang="en-US" dirty="0"/>
              <a:t>+5V</a:t>
            </a:r>
          </a:p>
        </p:txBody>
      </p:sp>
      <p:cxnSp>
        <p:nvCxnSpPr>
          <p:cNvPr id="11" name="Straight Arrow Connector 10"/>
          <p:cNvCxnSpPr/>
          <p:nvPr/>
        </p:nvCxnSpPr>
        <p:spPr>
          <a:xfrm flipV="1">
            <a:off x="9745704" y="2152349"/>
            <a:ext cx="434616" cy="3030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H="1" flipV="1">
            <a:off x="8961934" y="2108414"/>
            <a:ext cx="243027" cy="346996"/>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61640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5: Connect to the Arduino (Part 3)</a:t>
            </a:r>
          </a:p>
        </p:txBody>
      </p:sp>
      <p:sp>
        <p:nvSpPr>
          <p:cNvPr id="3" name="Content Placeholder 2"/>
          <p:cNvSpPr>
            <a:spLocks noGrp="1"/>
          </p:cNvSpPr>
          <p:nvPr>
            <p:ph idx="1"/>
          </p:nvPr>
        </p:nvSpPr>
        <p:spPr/>
        <p:txBody>
          <a:bodyPr/>
          <a:lstStyle/>
          <a:p>
            <a:r>
              <a:rPr lang="en-US" dirty="0"/>
              <a:t>This is the final leg of the circuit building process. We need to connect the +5V and GND to the board without which nothing will work. </a:t>
            </a:r>
            <a:br>
              <a:rPr lang="en-US" dirty="0"/>
            </a:br>
            <a:r>
              <a:rPr lang="en-US" dirty="0"/>
              <a:t>The </a:t>
            </a:r>
            <a:r>
              <a:rPr lang="en-US" b="1" dirty="0"/>
              <a:t>TWO</a:t>
            </a:r>
            <a:r>
              <a:rPr lang="en-US" dirty="0"/>
              <a:t> wires on the extreme right end of the figure. </a:t>
            </a:r>
          </a:p>
          <a:p>
            <a:r>
              <a:rPr lang="en-US" dirty="0"/>
              <a:t>+5V – Red (+) railing (red wire)</a:t>
            </a:r>
            <a:br>
              <a:rPr lang="en-US" dirty="0"/>
            </a:br>
            <a:r>
              <a:rPr lang="en-US" dirty="0"/>
              <a:t>GND – Blue (-) railing (black wire)</a:t>
            </a:r>
          </a:p>
          <a:p>
            <a:endParaRPr lang="en-US" dirty="0"/>
          </a:p>
        </p:txBody>
      </p:sp>
      <p:pic>
        <p:nvPicPr>
          <p:cNvPr id="4" name="Picture 3"/>
          <p:cNvPicPr>
            <a:picLocks noChangeAspect="1"/>
          </p:cNvPicPr>
          <p:nvPr/>
        </p:nvPicPr>
        <p:blipFill>
          <a:blip r:embed="rId2"/>
          <a:stretch>
            <a:fillRect/>
          </a:stretch>
        </p:blipFill>
        <p:spPr>
          <a:xfrm>
            <a:off x="5871070" y="2784960"/>
            <a:ext cx="4178094" cy="3381701"/>
          </a:xfrm>
          <a:prstGeom prst="rect">
            <a:avLst/>
          </a:prstGeom>
        </p:spPr>
      </p:pic>
    </p:spTree>
    <p:extLst>
      <p:ext uri="{BB962C8B-B14F-4D97-AF65-F5344CB8AC3E}">
        <p14:creationId xmlns:p14="http://schemas.microsoft.com/office/powerpoint/2010/main" val="486449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6: Circuit Check!	</a:t>
            </a:r>
          </a:p>
        </p:txBody>
      </p:sp>
      <p:sp>
        <p:nvSpPr>
          <p:cNvPr id="3" name="Content Placeholder 2"/>
          <p:cNvSpPr>
            <a:spLocks noGrp="1"/>
          </p:cNvSpPr>
          <p:nvPr>
            <p:ph idx="1"/>
          </p:nvPr>
        </p:nvSpPr>
        <p:spPr/>
        <p:txBody>
          <a:bodyPr/>
          <a:lstStyle/>
          <a:p>
            <a:r>
              <a:rPr lang="en-US" dirty="0"/>
              <a:t>You should have a total of </a:t>
            </a:r>
            <a:r>
              <a:rPr lang="en-US" b="1" dirty="0"/>
              <a:t>NINE</a:t>
            </a:r>
            <a:r>
              <a:rPr lang="en-US" dirty="0"/>
              <a:t> (9) wires coming out of the ports in your Arduino. </a:t>
            </a:r>
          </a:p>
          <a:p>
            <a:r>
              <a:rPr lang="en-US" b="1" dirty="0"/>
              <a:t>ONE</a:t>
            </a:r>
            <a:r>
              <a:rPr lang="en-US" dirty="0"/>
              <a:t> from +5V and </a:t>
            </a:r>
            <a:r>
              <a:rPr lang="en-US" b="1" dirty="0"/>
              <a:t>ONE</a:t>
            </a:r>
            <a:r>
              <a:rPr lang="en-US" dirty="0"/>
              <a:t> from GND going into their respective railings of RED and BLUE lining. </a:t>
            </a:r>
          </a:p>
          <a:p>
            <a:r>
              <a:rPr lang="en-US" b="1" dirty="0"/>
              <a:t>THREE</a:t>
            </a:r>
            <a:r>
              <a:rPr lang="en-US" dirty="0"/>
              <a:t> consecutive wires from pins </a:t>
            </a:r>
            <a:r>
              <a:rPr lang="en-US" b="1" dirty="0"/>
              <a:t>2</a:t>
            </a:r>
            <a:r>
              <a:rPr lang="en-US" dirty="0"/>
              <a:t>, </a:t>
            </a:r>
            <a:r>
              <a:rPr lang="en-US" b="1" dirty="0"/>
              <a:t>3</a:t>
            </a:r>
            <a:r>
              <a:rPr lang="en-US" dirty="0"/>
              <a:t> and </a:t>
            </a:r>
            <a:r>
              <a:rPr lang="en-US" b="1" dirty="0"/>
              <a:t>4</a:t>
            </a:r>
            <a:r>
              <a:rPr lang="en-US" dirty="0"/>
              <a:t> going into a leg of the </a:t>
            </a:r>
            <a:r>
              <a:rPr lang="en-US" b="1" dirty="0"/>
              <a:t>Green</a:t>
            </a:r>
            <a:r>
              <a:rPr lang="en-US" dirty="0"/>
              <a:t>, </a:t>
            </a:r>
            <a:r>
              <a:rPr lang="en-US" b="1" dirty="0"/>
              <a:t>Red</a:t>
            </a:r>
            <a:r>
              <a:rPr lang="en-US" dirty="0"/>
              <a:t> and </a:t>
            </a:r>
            <a:r>
              <a:rPr lang="en-US" b="1" dirty="0"/>
              <a:t>Yellow LED</a:t>
            </a:r>
            <a:r>
              <a:rPr lang="en-US" dirty="0"/>
              <a:t>. </a:t>
            </a:r>
            <a:br>
              <a:rPr lang="en-US" dirty="0"/>
            </a:br>
            <a:r>
              <a:rPr lang="en-US" dirty="0"/>
              <a:t>The other leg of the </a:t>
            </a:r>
            <a:r>
              <a:rPr lang="en-US" b="1" dirty="0"/>
              <a:t>LED</a:t>
            </a:r>
            <a:r>
              <a:rPr lang="en-US" dirty="0"/>
              <a:t> should be going into one side of a </a:t>
            </a:r>
            <a:r>
              <a:rPr lang="en-US" b="1" dirty="0"/>
              <a:t>220 </a:t>
            </a:r>
            <a:r>
              <a:rPr lang="el-GR" b="1" dirty="0"/>
              <a:t>Ω</a:t>
            </a:r>
            <a:r>
              <a:rPr lang="en-US" dirty="0"/>
              <a:t> resistor. </a:t>
            </a:r>
          </a:p>
          <a:p>
            <a:r>
              <a:rPr lang="en-US" b="1" dirty="0"/>
              <a:t>ONE</a:t>
            </a:r>
            <a:r>
              <a:rPr lang="en-US" dirty="0"/>
              <a:t> wire going from pin </a:t>
            </a:r>
            <a:r>
              <a:rPr lang="en-US" b="1" dirty="0"/>
              <a:t>7</a:t>
            </a:r>
            <a:r>
              <a:rPr lang="en-US" dirty="0"/>
              <a:t> to the </a:t>
            </a:r>
            <a:r>
              <a:rPr lang="en-US" b="1" dirty="0"/>
              <a:t>‘+’</a:t>
            </a:r>
            <a:r>
              <a:rPr lang="en-US" dirty="0"/>
              <a:t> side of the Buzzer. </a:t>
            </a:r>
          </a:p>
          <a:p>
            <a:r>
              <a:rPr lang="en-US" b="1" dirty="0"/>
              <a:t>THREE</a:t>
            </a:r>
            <a:r>
              <a:rPr lang="en-US" dirty="0"/>
              <a:t> consecutive wires going from pins </a:t>
            </a:r>
            <a:r>
              <a:rPr lang="en-US" b="1" dirty="0"/>
              <a:t>8</a:t>
            </a:r>
            <a:r>
              <a:rPr lang="en-US" dirty="0"/>
              <a:t>, </a:t>
            </a:r>
            <a:r>
              <a:rPr lang="en-US" b="1" dirty="0"/>
              <a:t>9</a:t>
            </a:r>
            <a:r>
              <a:rPr lang="en-US" dirty="0"/>
              <a:t> and </a:t>
            </a:r>
            <a:r>
              <a:rPr lang="en-US" b="1" dirty="0"/>
              <a:t>10</a:t>
            </a:r>
            <a:r>
              <a:rPr lang="en-US" dirty="0"/>
              <a:t> into one leg of the </a:t>
            </a:r>
            <a:r>
              <a:rPr lang="en-US" b="1" dirty="0"/>
              <a:t>switch button</a:t>
            </a:r>
            <a:r>
              <a:rPr lang="en-US" dirty="0"/>
              <a:t>. </a:t>
            </a:r>
            <a:br>
              <a:rPr lang="en-US" dirty="0"/>
            </a:br>
            <a:r>
              <a:rPr lang="en-US" dirty="0"/>
              <a:t>The other leg of the switch button should be connected to the </a:t>
            </a:r>
            <a:r>
              <a:rPr lang="en-US" b="1" dirty="0"/>
              <a:t>RED</a:t>
            </a:r>
            <a:r>
              <a:rPr lang="en-US" dirty="0"/>
              <a:t> railing on the bread board. </a:t>
            </a:r>
          </a:p>
          <a:p>
            <a:endParaRPr lang="en-US" dirty="0"/>
          </a:p>
        </p:txBody>
      </p:sp>
    </p:spTree>
    <p:extLst>
      <p:ext uri="{BB962C8B-B14F-4D97-AF65-F5344CB8AC3E}">
        <p14:creationId xmlns:p14="http://schemas.microsoft.com/office/powerpoint/2010/main" val="842778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97280" y="286604"/>
            <a:ext cx="10058400" cy="553905"/>
          </a:xfrm>
        </p:spPr>
        <p:txBody>
          <a:bodyPr>
            <a:normAutofit fontScale="90000"/>
          </a:bodyPr>
          <a:lstStyle/>
          <a:p>
            <a:r>
              <a:rPr lang="en-US" dirty="0"/>
              <a:t>Final Schematic</a:t>
            </a:r>
          </a:p>
        </p:txBody>
      </p:sp>
      <p:sp>
        <p:nvSpPr>
          <p:cNvPr id="10" name="Content Placeholder 9"/>
          <p:cNvSpPr>
            <a:spLocks noGrp="1"/>
          </p:cNvSpPr>
          <p:nvPr>
            <p:ph idx="1"/>
          </p:nvPr>
        </p:nvSpPr>
        <p:spPr/>
        <p:txBody>
          <a:bodyPr/>
          <a:lstStyle/>
          <a:p>
            <a:r>
              <a:rPr lang="en-US" dirty="0"/>
              <a:t> </a:t>
            </a:r>
          </a:p>
        </p:txBody>
      </p:sp>
      <p:pic>
        <p:nvPicPr>
          <p:cNvPr id="11" name="Picture 10"/>
          <p:cNvPicPr>
            <a:picLocks noChangeAspect="1"/>
          </p:cNvPicPr>
          <p:nvPr/>
        </p:nvPicPr>
        <p:blipFill>
          <a:blip r:embed="rId2"/>
          <a:stretch>
            <a:fillRect/>
          </a:stretch>
        </p:blipFill>
        <p:spPr>
          <a:xfrm>
            <a:off x="3574474" y="1845734"/>
            <a:ext cx="5452884" cy="4420279"/>
          </a:xfrm>
          <a:prstGeom prst="rect">
            <a:avLst/>
          </a:prstGeom>
        </p:spPr>
      </p:pic>
      <p:sp>
        <p:nvSpPr>
          <p:cNvPr id="2" name="TextBox 1"/>
          <p:cNvSpPr txBox="1"/>
          <p:nvPr/>
        </p:nvSpPr>
        <p:spPr>
          <a:xfrm>
            <a:off x="960553" y="840509"/>
            <a:ext cx="10520247" cy="769441"/>
          </a:xfrm>
          <a:prstGeom prst="rect">
            <a:avLst/>
          </a:prstGeom>
          <a:noFill/>
        </p:spPr>
        <p:txBody>
          <a:bodyPr wrap="square" rtlCol="0">
            <a:spAutoFit/>
          </a:bodyPr>
          <a:lstStyle/>
          <a:p>
            <a:r>
              <a:rPr lang="en-US" sz="2200" dirty="0"/>
              <a:t>(It is </a:t>
            </a:r>
            <a:r>
              <a:rPr lang="en-US" sz="2200" b="1" dirty="0"/>
              <a:t>NOT </a:t>
            </a:r>
            <a:r>
              <a:rPr lang="en-US" sz="2200" dirty="0"/>
              <a:t>recommended that you start building your circuit based on this. The ideal procedure would be to follow the previous steps in order and then refer to this at the end.)</a:t>
            </a:r>
          </a:p>
        </p:txBody>
      </p:sp>
    </p:spTree>
    <p:extLst>
      <p:ext uri="{BB962C8B-B14F-4D97-AF65-F5344CB8AC3E}">
        <p14:creationId xmlns:p14="http://schemas.microsoft.com/office/powerpoint/2010/main" val="3531062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Step 7: Programming the game</a:t>
            </a:r>
          </a:p>
        </p:txBody>
      </p:sp>
      <p:sp>
        <p:nvSpPr>
          <p:cNvPr id="4" name="Subtitle 3"/>
          <p:cNvSpPr>
            <a:spLocks noGrp="1"/>
          </p:cNvSpPr>
          <p:nvPr>
            <p:ph type="subTitle" idx="1"/>
          </p:nvPr>
        </p:nvSpPr>
        <p:spPr/>
        <p:txBody>
          <a:bodyPr/>
          <a:lstStyle/>
          <a:p>
            <a:r>
              <a:rPr lang="en-US" dirty="0"/>
              <a:t>We have completed the hardware aspect of the game so we move onto the software aspect. </a:t>
            </a:r>
          </a:p>
        </p:txBody>
      </p:sp>
    </p:spTree>
    <p:extLst>
      <p:ext uri="{BB962C8B-B14F-4D97-AF65-F5344CB8AC3E}">
        <p14:creationId xmlns:p14="http://schemas.microsoft.com/office/powerpoint/2010/main" val="1115369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8: Opening the program </a:t>
            </a:r>
          </a:p>
        </p:txBody>
      </p:sp>
      <p:sp>
        <p:nvSpPr>
          <p:cNvPr id="3" name="Content Placeholder 2"/>
          <p:cNvSpPr>
            <a:spLocks noGrp="1"/>
          </p:cNvSpPr>
          <p:nvPr>
            <p:ph idx="1"/>
          </p:nvPr>
        </p:nvSpPr>
        <p:spPr/>
        <p:txBody>
          <a:bodyPr/>
          <a:lstStyle/>
          <a:p>
            <a:r>
              <a:rPr lang="en-US" dirty="0"/>
              <a:t>We now need to open the program that you have downloaded in the Arduino IDE. </a:t>
            </a:r>
          </a:p>
          <a:p>
            <a:r>
              <a:rPr lang="en-US" dirty="0"/>
              <a:t>To do this, first go to </a:t>
            </a:r>
            <a:r>
              <a:rPr lang="en-US" b="1" dirty="0"/>
              <a:t>File (upper left corner) → Open… </a:t>
            </a:r>
            <a:r>
              <a:rPr lang="en-US" dirty="0"/>
              <a:t>and click on that option. </a:t>
            </a:r>
            <a:br>
              <a:rPr lang="en-US" dirty="0"/>
            </a:br>
            <a:r>
              <a:rPr lang="en-US" dirty="0"/>
              <a:t>Or press </a:t>
            </a:r>
            <a:r>
              <a:rPr lang="en-US" b="1" dirty="0"/>
              <a:t>Ctrl + O </a:t>
            </a:r>
            <a:r>
              <a:rPr lang="en-US" dirty="0"/>
              <a:t>(</a:t>
            </a:r>
            <a:r>
              <a:rPr lang="en-US" b="1" dirty="0"/>
              <a:t>Command + O</a:t>
            </a:r>
            <a:r>
              <a:rPr lang="en-US" dirty="0"/>
              <a:t> in Mac) to get to the same option. </a:t>
            </a:r>
          </a:p>
          <a:p>
            <a:r>
              <a:rPr lang="en-US" dirty="0"/>
              <a:t>You should be directed to new window which allows you to browse your file system. </a:t>
            </a:r>
          </a:p>
          <a:p>
            <a:r>
              <a:rPr lang="en-US" dirty="0"/>
              <a:t>Navigate through your file system to find the Arduino file and select it. </a:t>
            </a:r>
          </a:p>
          <a:p>
            <a:r>
              <a:rPr lang="en-US" dirty="0"/>
              <a:t>Then </a:t>
            </a:r>
            <a:r>
              <a:rPr lang="en-US" b="1" dirty="0"/>
              <a:t>‘Open’ </a:t>
            </a:r>
            <a:r>
              <a:rPr lang="en-US" dirty="0"/>
              <a:t>the file and you will be taken to an Arduino window with the program in it. </a:t>
            </a:r>
          </a:p>
          <a:p>
            <a:endParaRPr lang="en-US" dirty="0"/>
          </a:p>
        </p:txBody>
      </p:sp>
    </p:spTree>
    <p:extLst>
      <p:ext uri="{BB962C8B-B14F-4D97-AF65-F5344CB8AC3E}">
        <p14:creationId xmlns:p14="http://schemas.microsoft.com/office/powerpoint/2010/main" val="2256843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673978"/>
          </a:xfrm>
        </p:spPr>
        <p:txBody>
          <a:bodyPr>
            <a:normAutofit fontScale="90000"/>
          </a:bodyPr>
          <a:lstStyle/>
          <a:p>
            <a:r>
              <a:rPr lang="en-US" dirty="0"/>
              <a:t>Step 8: Choosing the right COM Port	</a:t>
            </a:r>
          </a:p>
        </p:txBody>
      </p:sp>
      <p:sp>
        <p:nvSpPr>
          <p:cNvPr id="3" name="Content Placeholder 2"/>
          <p:cNvSpPr>
            <a:spLocks noGrp="1"/>
          </p:cNvSpPr>
          <p:nvPr>
            <p:ph idx="1"/>
          </p:nvPr>
        </p:nvSpPr>
        <p:spPr/>
        <p:txBody>
          <a:bodyPr/>
          <a:lstStyle/>
          <a:p>
            <a:r>
              <a:rPr lang="en-US" dirty="0"/>
              <a:t>This means you should have a cable with one end in the Arduino and the other in the USB port of your system. </a:t>
            </a:r>
            <a:br>
              <a:rPr lang="en-US" dirty="0"/>
            </a:br>
            <a:r>
              <a:rPr lang="en-US" dirty="0"/>
              <a:t>To select the right COM port, follow this screenshot:</a:t>
            </a:r>
            <a:br>
              <a:rPr lang="en-US" dirty="0"/>
            </a:br>
            <a:r>
              <a:rPr lang="en-US" dirty="0"/>
              <a:t>Next to your COM port it should say </a:t>
            </a:r>
            <a:r>
              <a:rPr lang="en-US" b="1" dirty="0"/>
              <a:t>‘(Arduino/</a:t>
            </a:r>
            <a:r>
              <a:rPr lang="en-US" b="1" dirty="0" err="1"/>
              <a:t>Genuino</a:t>
            </a:r>
            <a:r>
              <a:rPr lang="en-US" b="1" dirty="0"/>
              <a:t> UNO)’</a:t>
            </a:r>
            <a:r>
              <a:rPr lang="en-US" dirty="0"/>
              <a:t>. </a:t>
            </a:r>
            <a:br>
              <a:rPr lang="en-US" dirty="0"/>
            </a:br>
            <a:r>
              <a:rPr lang="en-US" i="1" dirty="0"/>
              <a:t>(You may have a different COM number, that is fine)</a:t>
            </a:r>
          </a:p>
        </p:txBody>
      </p:sp>
      <p:pic>
        <p:nvPicPr>
          <p:cNvPr id="5" name="Content Placeholder 4"/>
          <p:cNvPicPr>
            <a:picLocks noChangeAspect="1"/>
          </p:cNvPicPr>
          <p:nvPr/>
        </p:nvPicPr>
        <p:blipFill rotWithShape="1">
          <a:blip r:embed="rId2"/>
          <a:srcRect l="-242" t="1731" r="52751" b="64498"/>
          <a:stretch/>
        </p:blipFill>
        <p:spPr>
          <a:xfrm>
            <a:off x="2919085" y="3435926"/>
            <a:ext cx="7289623" cy="2807855"/>
          </a:xfrm>
          <a:prstGeom prst="rect">
            <a:avLst/>
          </a:prstGeom>
        </p:spPr>
      </p:pic>
      <p:sp>
        <p:nvSpPr>
          <p:cNvPr id="4" name="TextBox 3"/>
          <p:cNvSpPr txBox="1"/>
          <p:nvPr/>
        </p:nvSpPr>
        <p:spPr>
          <a:xfrm>
            <a:off x="1191490" y="960582"/>
            <a:ext cx="9964189" cy="769441"/>
          </a:xfrm>
          <a:prstGeom prst="rect">
            <a:avLst/>
          </a:prstGeom>
          <a:noFill/>
        </p:spPr>
        <p:txBody>
          <a:bodyPr wrap="square" rtlCol="0">
            <a:spAutoFit/>
          </a:bodyPr>
          <a:lstStyle/>
          <a:p>
            <a:r>
              <a:rPr lang="en-US" sz="2200" dirty="0"/>
              <a:t>Before we can start on this step, ensure that your Arduino is connected to your laptop/computer. </a:t>
            </a:r>
          </a:p>
        </p:txBody>
      </p:sp>
    </p:spTree>
    <p:extLst>
      <p:ext uri="{BB962C8B-B14F-4D97-AF65-F5344CB8AC3E}">
        <p14:creationId xmlns:p14="http://schemas.microsoft.com/office/powerpoint/2010/main" val="3854045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Step 9: Uploading program to the Arduino</a:t>
            </a:r>
          </a:p>
        </p:txBody>
      </p:sp>
      <p:sp>
        <p:nvSpPr>
          <p:cNvPr id="6" name="Content Placeholder 5"/>
          <p:cNvSpPr>
            <a:spLocks noGrp="1"/>
          </p:cNvSpPr>
          <p:nvPr>
            <p:ph idx="1"/>
          </p:nvPr>
        </p:nvSpPr>
        <p:spPr>
          <a:xfrm>
            <a:off x="1097279" y="1845734"/>
            <a:ext cx="10244975" cy="4023360"/>
          </a:xfrm>
        </p:spPr>
        <p:txBody>
          <a:bodyPr/>
          <a:lstStyle/>
          <a:p>
            <a:r>
              <a:rPr lang="en-US" dirty="0"/>
              <a:t>We now have to put the program onto the Arduino so that we can play game. </a:t>
            </a:r>
          </a:p>
          <a:p>
            <a:r>
              <a:rPr lang="en-US" dirty="0"/>
              <a:t>The simplest way is to click the right arrow button on the taskbar of the Arduino IDE</a:t>
            </a:r>
          </a:p>
          <a:p>
            <a:endParaRPr lang="en-US" dirty="0"/>
          </a:p>
          <a:p>
            <a:endParaRPr lang="en-US" dirty="0"/>
          </a:p>
          <a:p>
            <a:endParaRPr lang="en-US" dirty="0"/>
          </a:p>
          <a:p>
            <a:r>
              <a:rPr lang="en-US" dirty="0"/>
              <a:t>The terminal at the bottom of your IDE should now say </a:t>
            </a:r>
            <a:r>
              <a:rPr lang="en-US" b="1" dirty="0"/>
              <a:t>‘Uploading…’ </a:t>
            </a:r>
            <a:r>
              <a:rPr lang="en-US" dirty="0"/>
              <a:t>and then </a:t>
            </a:r>
            <a:r>
              <a:rPr lang="en-US" b="1" dirty="0"/>
              <a:t>‘Done Uploading.’</a:t>
            </a:r>
            <a:r>
              <a:rPr lang="en-US" dirty="0"/>
              <a:t> </a:t>
            </a:r>
          </a:p>
          <a:p>
            <a:r>
              <a:rPr lang="en-US" dirty="0"/>
              <a:t>If so, your program is on the board and you can start playing the game. </a:t>
            </a:r>
          </a:p>
        </p:txBody>
      </p:sp>
      <p:pic>
        <p:nvPicPr>
          <p:cNvPr id="8" name="Picture 7"/>
          <p:cNvPicPr>
            <a:picLocks noChangeAspect="1"/>
          </p:cNvPicPr>
          <p:nvPr/>
        </p:nvPicPr>
        <p:blipFill>
          <a:blip r:embed="rId2"/>
          <a:stretch>
            <a:fillRect/>
          </a:stretch>
        </p:blipFill>
        <p:spPr>
          <a:xfrm>
            <a:off x="4249252" y="2697018"/>
            <a:ext cx="3596318" cy="1255857"/>
          </a:xfrm>
          <a:prstGeom prst="rect">
            <a:avLst/>
          </a:prstGeom>
        </p:spPr>
      </p:pic>
    </p:spTree>
    <p:extLst>
      <p:ext uri="{BB962C8B-B14F-4D97-AF65-F5344CB8AC3E}">
        <p14:creationId xmlns:p14="http://schemas.microsoft.com/office/powerpoint/2010/main" val="558313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Errors while Uploading</a:t>
            </a:r>
          </a:p>
        </p:txBody>
      </p:sp>
      <p:sp>
        <p:nvSpPr>
          <p:cNvPr id="3" name="Content Placeholder 2"/>
          <p:cNvSpPr>
            <a:spLocks noGrp="1"/>
          </p:cNvSpPr>
          <p:nvPr>
            <p:ph idx="1"/>
          </p:nvPr>
        </p:nvSpPr>
        <p:spPr/>
        <p:txBody>
          <a:bodyPr/>
          <a:lstStyle/>
          <a:p>
            <a:r>
              <a:rPr lang="en-US" sz="2200" b="1" dirty="0"/>
              <a:t>Ignore this slide if you could upload onto the board successfully. </a:t>
            </a:r>
          </a:p>
          <a:p>
            <a:r>
              <a:rPr lang="en-US" dirty="0"/>
              <a:t>Most of the time, the problem seems to be with finding the right COM port. </a:t>
            </a:r>
            <a:br>
              <a:rPr lang="en-US" dirty="0"/>
            </a:br>
            <a:r>
              <a:rPr lang="en-US" dirty="0"/>
              <a:t>Follow the steps as </a:t>
            </a:r>
            <a:r>
              <a:rPr lang="en-US" sz="2200" dirty="0"/>
              <a:t>described</a:t>
            </a:r>
            <a:r>
              <a:rPr lang="en-US" dirty="0"/>
              <a:t> in the previous slide to choose the right COM port. </a:t>
            </a:r>
          </a:p>
          <a:p>
            <a:r>
              <a:rPr lang="en-US" dirty="0"/>
              <a:t>Try unplugging the Arduino and plugging it back in again. </a:t>
            </a:r>
          </a:p>
          <a:p>
            <a:r>
              <a:rPr lang="en-US" dirty="0"/>
              <a:t>For syntax errors, follow C code style of syntax as shown in the workshops and implement any suggested changes. </a:t>
            </a:r>
            <a:br>
              <a:rPr lang="en-US" dirty="0"/>
            </a:br>
            <a:r>
              <a:rPr lang="en-US" dirty="0"/>
              <a:t>Look out for unmatched parenthesis, brackets, and missing semicolons. </a:t>
            </a:r>
          </a:p>
          <a:p>
            <a:r>
              <a:rPr lang="en-US" dirty="0"/>
              <a:t>Google any errors that can’t be solved from the above methods. </a:t>
            </a:r>
          </a:p>
        </p:txBody>
      </p:sp>
    </p:spTree>
    <p:extLst>
      <p:ext uri="{BB962C8B-B14F-4D97-AF65-F5344CB8AC3E}">
        <p14:creationId xmlns:p14="http://schemas.microsoft.com/office/powerpoint/2010/main" val="229889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Step 11: Enjoy the game!</a:t>
            </a:r>
          </a:p>
        </p:txBody>
      </p:sp>
      <p:sp>
        <p:nvSpPr>
          <p:cNvPr id="4" name="Subtitle 3"/>
          <p:cNvSpPr>
            <a:spLocks noGrp="1"/>
          </p:cNvSpPr>
          <p:nvPr>
            <p:ph type="subTitle" idx="1"/>
          </p:nvPr>
        </p:nvSpPr>
        <p:spPr/>
        <p:txBody>
          <a:bodyPr/>
          <a:lstStyle/>
          <a:p>
            <a:r>
              <a:rPr lang="en-US" dirty="0"/>
              <a:t>Follow the instructions given in the code to play the game. Have fun!</a:t>
            </a:r>
          </a:p>
        </p:txBody>
      </p:sp>
    </p:spTree>
    <p:extLst>
      <p:ext uri="{BB962C8B-B14F-4D97-AF65-F5344CB8AC3E}">
        <p14:creationId xmlns:p14="http://schemas.microsoft.com/office/powerpoint/2010/main" val="3785351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12: Suggested changes</a:t>
            </a:r>
          </a:p>
        </p:txBody>
      </p:sp>
      <p:sp>
        <p:nvSpPr>
          <p:cNvPr id="3" name="Content Placeholder 2"/>
          <p:cNvSpPr>
            <a:spLocks noGrp="1"/>
          </p:cNvSpPr>
          <p:nvPr>
            <p:ph idx="1"/>
          </p:nvPr>
        </p:nvSpPr>
        <p:spPr/>
        <p:txBody>
          <a:bodyPr/>
          <a:lstStyle/>
          <a:p>
            <a:r>
              <a:rPr lang="en-US" dirty="0"/>
              <a:t>The game does get boring after a while. </a:t>
            </a:r>
          </a:p>
          <a:p>
            <a:r>
              <a:rPr lang="en-US" dirty="0"/>
              <a:t>To spice it up a bit, you can make it more </a:t>
            </a:r>
            <a:r>
              <a:rPr lang="en-US" i="1" dirty="0"/>
              <a:t>difficult</a:t>
            </a:r>
            <a:r>
              <a:rPr lang="en-US" dirty="0"/>
              <a:t>. </a:t>
            </a:r>
          </a:p>
          <a:p>
            <a:pPr marL="457200" indent="-457200">
              <a:buFont typeface="+mj-lt"/>
              <a:buAutoNum type="arabicPeriod"/>
            </a:pPr>
            <a:r>
              <a:rPr lang="en-US" dirty="0"/>
              <a:t>Increase the number of levels required to complete the game. </a:t>
            </a:r>
            <a:br>
              <a:rPr lang="en-US" dirty="0"/>
            </a:br>
            <a:r>
              <a:rPr lang="en-US" dirty="0"/>
              <a:t>This can be done by changing the variable </a:t>
            </a:r>
            <a:r>
              <a:rPr lang="en-US" b="1" dirty="0"/>
              <a:t>LEVELS_TO_COMPLETE</a:t>
            </a:r>
          </a:p>
          <a:p>
            <a:pPr marL="457200" indent="-457200">
              <a:buFont typeface="+mj-lt"/>
              <a:buAutoNum type="arabicPeriod"/>
            </a:pPr>
            <a:r>
              <a:rPr lang="en-US" dirty="0"/>
              <a:t>Decrease the amount of time given to the user to enter his option. </a:t>
            </a:r>
            <a:br>
              <a:rPr lang="en-US" dirty="0"/>
            </a:br>
            <a:r>
              <a:rPr lang="en-US" dirty="0"/>
              <a:t>This can be done by changing the variable </a:t>
            </a:r>
            <a:r>
              <a:rPr lang="en-US" b="1" dirty="0"/>
              <a:t>ENTRY_TIME_LIMIT</a:t>
            </a:r>
          </a:p>
          <a:p>
            <a:pPr marL="457200" indent="-457200">
              <a:buFont typeface="+mj-lt"/>
              <a:buAutoNum type="arabicPeriod"/>
            </a:pPr>
            <a:endParaRPr lang="en-US" dirty="0"/>
          </a:p>
        </p:txBody>
      </p:sp>
    </p:spTree>
    <p:extLst>
      <p:ext uri="{BB962C8B-B14F-4D97-AF65-F5344CB8AC3E}">
        <p14:creationId xmlns:p14="http://schemas.microsoft.com/office/powerpoint/2010/main" val="2974919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12: Suggested Changes (Part 2)</a:t>
            </a:r>
          </a:p>
        </p:txBody>
      </p:sp>
      <p:sp>
        <p:nvSpPr>
          <p:cNvPr id="3" name="Content Placeholder 2"/>
          <p:cNvSpPr>
            <a:spLocks noGrp="1"/>
          </p:cNvSpPr>
          <p:nvPr>
            <p:ph idx="1"/>
          </p:nvPr>
        </p:nvSpPr>
        <p:spPr>
          <a:xfrm>
            <a:off x="535709" y="1845734"/>
            <a:ext cx="11526982" cy="4241030"/>
          </a:xfrm>
        </p:spPr>
        <p:txBody>
          <a:bodyPr>
            <a:noAutofit/>
          </a:bodyPr>
          <a:lstStyle/>
          <a:p>
            <a:pPr marL="457200" indent="-457200">
              <a:buAutoNum type="arabicPeriod" startAt="3"/>
            </a:pPr>
            <a:r>
              <a:rPr lang="en-US" dirty="0"/>
              <a:t>Increase the number of options to </a:t>
            </a:r>
            <a:r>
              <a:rPr lang="en-US" b="1" dirty="0"/>
              <a:t>FOUR (4)</a:t>
            </a:r>
            <a:br>
              <a:rPr lang="en-US" dirty="0"/>
            </a:br>
            <a:r>
              <a:rPr lang="en-US" dirty="0"/>
              <a:t>This will require ONE more LED, ONE more pushbutton and TWO extra resistors. </a:t>
            </a:r>
          </a:p>
          <a:p>
            <a:pPr marL="0" indent="0">
              <a:buNone/>
            </a:pPr>
            <a:r>
              <a:rPr lang="en-US" dirty="0"/>
              <a:t>Wiring this extra LED and push button in will be the same as for the previous three. </a:t>
            </a:r>
            <a:br>
              <a:rPr lang="en-US" dirty="0"/>
            </a:br>
            <a:r>
              <a:rPr lang="en-US" dirty="0"/>
              <a:t>When connecting to the Arduino, pin 5 can connect to the LED while pin 11 can connect to the push button. </a:t>
            </a:r>
            <a:br>
              <a:rPr lang="en-US" dirty="0"/>
            </a:br>
            <a:r>
              <a:rPr lang="en-US" dirty="0"/>
              <a:t>The resistors will go into the same slots as before. </a:t>
            </a:r>
          </a:p>
          <a:p>
            <a:pPr marL="0" indent="0">
              <a:buNone/>
            </a:pPr>
            <a:r>
              <a:rPr lang="en-US" dirty="0"/>
              <a:t>There will be a few minor changes in the program. </a:t>
            </a:r>
            <a:br>
              <a:rPr lang="en-US" dirty="0"/>
            </a:br>
            <a:r>
              <a:rPr lang="en-US" dirty="0"/>
              <a:t>The variable NO_OF_LEDS should be changed to 4 obviously. </a:t>
            </a:r>
            <a:br>
              <a:rPr lang="en-US" dirty="0"/>
            </a:br>
            <a:r>
              <a:rPr lang="en-US" dirty="0"/>
              <a:t>The new LED of a different color will need a new variable CHOICE_&lt;new color&gt; defined as 3</a:t>
            </a:r>
            <a:br>
              <a:rPr lang="en-US" dirty="0"/>
            </a:br>
            <a:r>
              <a:rPr lang="en-US" dirty="0"/>
              <a:t>The pin numbers to the new LED and push button will have to be defined as 5 and 11 respectively</a:t>
            </a:r>
            <a:br>
              <a:rPr lang="en-US" dirty="0"/>
            </a:br>
            <a:r>
              <a:rPr lang="en-US" dirty="0"/>
              <a:t>In the setup() function, we will have to set these pins to be INPUT_PULLUP and OUTPUT </a:t>
            </a:r>
            <a:br>
              <a:rPr lang="en-US" dirty="0"/>
            </a:br>
            <a:br>
              <a:rPr lang="en-US" dirty="0"/>
            </a:br>
            <a:r>
              <a:rPr lang="en-US" dirty="0"/>
              <a:t>There are a few more changes in the rest of the program that are quite intuitive. </a:t>
            </a:r>
            <a:br>
              <a:rPr lang="en-US" dirty="0"/>
            </a:br>
            <a:r>
              <a:rPr lang="en-US" dirty="0"/>
              <a:t>Sections in the code that repeat a certain procedure for the three LEDs should be modified </a:t>
            </a:r>
            <a:r>
              <a:rPr lang="en-US" i="1" dirty="0"/>
              <a:t>(added to) </a:t>
            </a:r>
            <a:r>
              <a:rPr lang="en-US" dirty="0"/>
              <a:t>to accommodate the fourth LED. </a:t>
            </a:r>
            <a:endParaRPr lang="en-US" i="1" dirty="0"/>
          </a:p>
        </p:txBody>
      </p:sp>
    </p:spTree>
    <p:extLst>
      <p:ext uri="{BB962C8B-B14F-4D97-AF65-F5344CB8AC3E}">
        <p14:creationId xmlns:p14="http://schemas.microsoft.com/office/powerpoint/2010/main" val="138639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Bonus: Code Snippets</a:t>
            </a:r>
          </a:p>
        </p:txBody>
      </p:sp>
      <p:sp>
        <p:nvSpPr>
          <p:cNvPr id="4" name="Subtitle 3"/>
          <p:cNvSpPr>
            <a:spLocks noGrp="1"/>
          </p:cNvSpPr>
          <p:nvPr>
            <p:ph type="subTitle" idx="1"/>
          </p:nvPr>
        </p:nvSpPr>
        <p:spPr/>
        <p:txBody>
          <a:bodyPr/>
          <a:lstStyle/>
          <a:p>
            <a:r>
              <a:rPr lang="en-US" dirty="0"/>
              <a:t>The following slides will contain explanations to certain excerpts of the code. </a:t>
            </a:r>
          </a:p>
        </p:txBody>
      </p:sp>
    </p:spTree>
    <p:extLst>
      <p:ext uri="{BB962C8B-B14F-4D97-AF65-F5344CB8AC3E}">
        <p14:creationId xmlns:p14="http://schemas.microsoft.com/office/powerpoint/2010/main" val="3600909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The </a:t>
            </a:r>
            <a:r>
              <a:rPr lang="en-US" i="1" dirty="0"/>
              <a:t>setup() </a:t>
            </a:r>
            <a:r>
              <a:rPr lang="en-US" dirty="0"/>
              <a:t>function</a:t>
            </a:r>
          </a:p>
        </p:txBody>
      </p:sp>
      <p:sp>
        <p:nvSpPr>
          <p:cNvPr id="11" name="Content Placeholder 10"/>
          <p:cNvSpPr>
            <a:spLocks noGrp="1"/>
          </p:cNvSpPr>
          <p:nvPr>
            <p:ph sz="half" idx="1"/>
          </p:nvPr>
        </p:nvSpPr>
        <p:spPr>
          <a:xfrm>
            <a:off x="1097278" y="1845734"/>
            <a:ext cx="6026333" cy="4023360"/>
          </a:xfrm>
        </p:spPr>
        <p:txBody>
          <a:bodyPr>
            <a:normAutofit lnSpcReduction="10000"/>
          </a:bodyPr>
          <a:lstStyle/>
          <a:p>
            <a:r>
              <a:rPr lang="en-US" dirty="0"/>
              <a:t>The </a:t>
            </a:r>
            <a:r>
              <a:rPr lang="en-US" i="1" dirty="0"/>
              <a:t>setup() </a:t>
            </a:r>
            <a:r>
              <a:rPr lang="en-US" dirty="0"/>
              <a:t>function contains code that only needs to be executed </a:t>
            </a:r>
            <a:r>
              <a:rPr lang="en-US" b="1" dirty="0"/>
              <a:t>once </a:t>
            </a:r>
            <a:r>
              <a:rPr lang="en-US" dirty="0"/>
              <a:t>during the whole program. So we declare the different peripherals we will be using, in this function. </a:t>
            </a:r>
          </a:p>
          <a:p>
            <a:r>
              <a:rPr lang="en-US" dirty="0"/>
              <a:t>Since we are using the push button in the pullup configuration we will be declaring that in </a:t>
            </a:r>
            <a:r>
              <a:rPr lang="en-US" i="1" dirty="0" err="1"/>
              <a:t>pinMode</a:t>
            </a:r>
            <a:r>
              <a:rPr lang="en-US" dirty="0"/>
              <a:t>.</a:t>
            </a:r>
          </a:p>
          <a:p>
            <a:r>
              <a:rPr lang="en-US" dirty="0"/>
              <a:t>We will be using the LEDs as an output device to indicate to the user. </a:t>
            </a:r>
          </a:p>
          <a:p>
            <a:r>
              <a:rPr lang="en-US" dirty="0"/>
              <a:t>We will also be using the buzzer as an output device to give the user audio cues to aid in playing the game. </a:t>
            </a:r>
          </a:p>
          <a:p>
            <a:r>
              <a:rPr lang="en-US" dirty="0"/>
              <a:t>At the end, we will play a sequence of lights to indicate that the setup has occurred correctly. </a:t>
            </a:r>
          </a:p>
        </p:txBody>
      </p:sp>
      <p:pic>
        <p:nvPicPr>
          <p:cNvPr id="13" name="Content Placeholder 12"/>
          <p:cNvPicPr>
            <a:picLocks noGrp="1" noChangeAspect="1"/>
          </p:cNvPicPr>
          <p:nvPr>
            <p:ph sz="half" idx="2"/>
          </p:nvPr>
        </p:nvPicPr>
        <p:blipFill>
          <a:blip r:embed="rId2"/>
          <a:stretch>
            <a:fillRect/>
          </a:stretch>
        </p:blipFill>
        <p:spPr>
          <a:xfrm>
            <a:off x="7106897" y="2447637"/>
            <a:ext cx="5018365" cy="2794924"/>
          </a:xfrm>
          <a:prstGeom prst="rect">
            <a:avLst/>
          </a:prstGeom>
        </p:spPr>
      </p:pic>
    </p:spTree>
    <p:extLst>
      <p:ext uri="{BB962C8B-B14F-4D97-AF65-F5344CB8AC3E}">
        <p14:creationId xmlns:p14="http://schemas.microsoft.com/office/powerpoint/2010/main" val="1377597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i="1" dirty="0"/>
              <a:t>loop() </a:t>
            </a:r>
            <a:r>
              <a:rPr lang="en-US" dirty="0"/>
              <a:t>function</a:t>
            </a:r>
          </a:p>
        </p:txBody>
      </p:sp>
      <p:sp>
        <p:nvSpPr>
          <p:cNvPr id="3" name="Content Placeholder 2"/>
          <p:cNvSpPr>
            <a:spLocks noGrp="1"/>
          </p:cNvSpPr>
          <p:nvPr>
            <p:ph sz="half" idx="1"/>
          </p:nvPr>
        </p:nvSpPr>
        <p:spPr>
          <a:xfrm>
            <a:off x="803564" y="1845734"/>
            <a:ext cx="5588000" cy="4023360"/>
          </a:xfrm>
        </p:spPr>
        <p:txBody>
          <a:bodyPr/>
          <a:lstStyle/>
          <a:p>
            <a:r>
              <a:rPr lang="en-US" dirty="0"/>
              <a:t>In the </a:t>
            </a:r>
            <a:r>
              <a:rPr lang="en-US" i="1" dirty="0"/>
              <a:t>loop() </a:t>
            </a:r>
            <a:r>
              <a:rPr lang="en-US" dirty="0"/>
              <a:t>function exists code that needs to be executed </a:t>
            </a:r>
            <a:r>
              <a:rPr lang="en-US" b="1" dirty="0"/>
              <a:t>repeatedly</a:t>
            </a:r>
            <a:r>
              <a:rPr lang="en-US" dirty="0"/>
              <a:t> for the game to continue. </a:t>
            </a:r>
          </a:p>
          <a:p>
            <a:r>
              <a:rPr lang="en-US" dirty="0"/>
              <a:t>Every time the Arduino is reset we need to restart the game. So we do that by flashing all the LEDs ON and OFF to signal the user. </a:t>
            </a:r>
          </a:p>
          <a:p>
            <a:r>
              <a:rPr lang="en-US" dirty="0"/>
              <a:t>Then we do a simple check to see if the player has won the memory game, if they have the function </a:t>
            </a:r>
            <a:r>
              <a:rPr lang="en-US" i="1" dirty="0" err="1"/>
              <a:t>play_memory</a:t>
            </a:r>
            <a:r>
              <a:rPr lang="en-US" i="1" dirty="0"/>
              <a:t>() </a:t>
            </a:r>
            <a:r>
              <a:rPr lang="en-US" dirty="0"/>
              <a:t>will return true and we play the sound track to indicate a win. If not, we play the loser audio track. Both of these will be accompanied with a visual cue of LEDs lighting up. </a:t>
            </a:r>
          </a:p>
        </p:txBody>
      </p:sp>
      <p:pic>
        <p:nvPicPr>
          <p:cNvPr id="5" name="Content Placeholder 4"/>
          <p:cNvPicPr>
            <a:picLocks noGrp="1" noChangeAspect="1"/>
          </p:cNvPicPr>
          <p:nvPr>
            <p:ph sz="half" idx="2"/>
          </p:nvPr>
        </p:nvPicPr>
        <p:blipFill>
          <a:blip r:embed="rId2"/>
          <a:stretch>
            <a:fillRect/>
          </a:stretch>
        </p:blipFill>
        <p:spPr>
          <a:xfrm>
            <a:off x="6354306" y="2530764"/>
            <a:ext cx="5762227" cy="2336799"/>
          </a:xfrm>
          <a:prstGeom prst="rect">
            <a:avLst/>
          </a:prstGeom>
        </p:spPr>
      </p:pic>
    </p:spTree>
    <p:extLst>
      <p:ext uri="{BB962C8B-B14F-4D97-AF65-F5344CB8AC3E}">
        <p14:creationId xmlns:p14="http://schemas.microsoft.com/office/powerpoint/2010/main" val="1619334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376733"/>
          </a:xfrm>
        </p:spPr>
        <p:txBody>
          <a:bodyPr/>
          <a:lstStyle/>
          <a:p>
            <a:r>
              <a:rPr lang="en-US" dirty="0"/>
              <a:t>The </a:t>
            </a:r>
            <a:r>
              <a:rPr lang="en-US" i="1" dirty="0" err="1"/>
              <a:t>play_memory</a:t>
            </a:r>
            <a:r>
              <a:rPr lang="en-US" i="1" dirty="0"/>
              <a:t>(void) </a:t>
            </a:r>
            <a:r>
              <a:rPr lang="en-US" dirty="0"/>
              <a:t>function </a:t>
            </a:r>
          </a:p>
        </p:txBody>
      </p:sp>
      <p:sp>
        <p:nvSpPr>
          <p:cNvPr id="3" name="Content Placeholder 2"/>
          <p:cNvSpPr>
            <a:spLocks noGrp="1"/>
          </p:cNvSpPr>
          <p:nvPr>
            <p:ph sz="half" idx="1"/>
          </p:nvPr>
        </p:nvSpPr>
        <p:spPr>
          <a:xfrm>
            <a:off x="235132" y="1845734"/>
            <a:ext cx="5904412" cy="4189306"/>
          </a:xfrm>
        </p:spPr>
        <p:txBody>
          <a:bodyPr>
            <a:normAutofit fontScale="92500" lnSpcReduction="20000"/>
          </a:bodyPr>
          <a:lstStyle/>
          <a:p>
            <a:r>
              <a:rPr lang="en-US" dirty="0"/>
              <a:t>First we do a check to see if there are any remaining levels in the game. The following block of code will only execute if that is true. </a:t>
            </a:r>
          </a:p>
          <a:p>
            <a:r>
              <a:rPr lang="en-US" dirty="0"/>
              <a:t>Then to level up, we will add an extra LED to the sequence to make it tougher. </a:t>
            </a:r>
          </a:p>
          <a:p>
            <a:r>
              <a:rPr lang="en-US" dirty="0"/>
              <a:t>Following this, we will play the LED sequence back to the user. </a:t>
            </a:r>
          </a:p>
          <a:p>
            <a:r>
              <a:rPr lang="en-US" dirty="0"/>
              <a:t>Then we check for the user input to each LED blink. The variable choice will store what button number was pressed. We will then compare it to what the current button is to see if it is correct. </a:t>
            </a:r>
          </a:p>
          <a:p>
            <a:r>
              <a:rPr lang="en-US" dirty="0"/>
              <a:t>And this happens for each and every LED flash till the end of the sequence. </a:t>
            </a:r>
          </a:p>
          <a:p>
            <a:r>
              <a:rPr lang="en-US" dirty="0"/>
              <a:t>If all of the user’s options are correct, we will return true to the loop() function signifying that the game is now won. </a:t>
            </a:r>
          </a:p>
        </p:txBody>
      </p:sp>
      <p:pic>
        <p:nvPicPr>
          <p:cNvPr id="5" name="Content Placeholder 4"/>
          <p:cNvPicPr>
            <a:picLocks noGrp="1" noChangeAspect="1"/>
          </p:cNvPicPr>
          <p:nvPr>
            <p:ph sz="half" idx="2"/>
          </p:nvPr>
        </p:nvPicPr>
        <p:blipFill rotWithShape="1">
          <a:blip r:embed="rId2"/>
          <a:srcRect l="2495"/>
          <a:stretch/>
        </p:blipFill>
        <p:spPr>
          <a:xfrm>
            <a:off x="6068291" y="2315719"/>
            <a:ext cx="6121223" cy="2782753"/>
          </a:xfrm>
          <a:prstGeom prst="rect">
            <a:avLst/>
          </a:prstGeom>
        </p:spPr>
      </p:pic>
    </p:spTree>
    <p:extLst>
      <p:ext uri="{BB962C8B-B14F-4D97-AF65-F5344CB8AC3E}">
        <p14:creationId xmlns:p14="http://schemas.microsoft.com/office/powerpoint/2010/main" val="1817634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546173"/>
          </a:xfrm>
        </p:spPr>
        <p:txBody>
          <a:bodyPr>
            <a:normAutofit fontScale="90000"/>
          </a:bodyPr>
          <a:lstStyle/>
          <a:p>
            <a:r>
              <a:rPr lang="en-US" dirty="0"/>
              <a:t>The </a:t>
            </a:r>
            <a:r>
              <a:rPr lang="en-US" i="1" dirty="0" err="1"/>
              <a:t>add_to_moves</a:t>
            </a:r>
            <a:r>
              <a:rPr lang="en-US" i="1" dirty="0"/>
              <a:t>(void) </a:t>
            </a:r>
            <a:r>
              <a:rPr lang="en-US" dirty="0"/>
              <a:t>function </a:t>
            </a:r>
          </a:p>
        </p:txBody>
      </p:sp>
      <p:sp>
        <p:nvSpPr>
          <p:cNvPr id="3" name="Content Placeholder 2"/>
          <p:cNvSpPr>
            <a:spLocks noGrp="1"/>
          </p:cNvSpPr>
          <p:nvPr>
            <p:ph sz="half" idx="1"/>
          </p:nvPr>
        </p:nvSpPr>
        <p:spPr>
          <a:xfrm>
            <a:off x="524622" y="1939636"/>
            <a:ext cx="5259979" cy="3929458"/>
          </a:xfrm>
        </p:spPr>
        <p:txBody>
          <a:bodyPr/>
          <a:lstStyle/>
          <a:p>
            <a:r>
              <a:rPr lang="en-US" dirty="0"/>
              <a:t>First we use the Arduino’s random function to get a number between 0 and the NO_OF_LEDS – 1 and store it in the variable </a:t>
            </a:r>
            <a:r>
              <a:rPr lang="en-US" i="1" dirty="0" err="1"/>
              <a:t>newButton</a:t>
            </a:r>
            <a:r>
              <a:rPr lang="en-US" dirty="0"/>
              <a:t>. </a:t>
            </a:r>
          </a:p>
          <a:p>
            <a:r>
              <a:rPr lang="en-US" dirty="0"/>
              <a:t>Then we check to see what the Arduino spits out and match it to an LED choice. </a:t>
            </a:r>
          </a:p>
          <a:p>
            <a:r>
              <a:rPr lang="en-US" dirty="0"/>
              <a:t>Since we now have one more LED in our sequence we have to increment the number of the moves in the game and assign </a:t>
            </a:r>
            <a:r>
              <a:rPr lang="en-US" i="1" dirty="0" err="1"/>
              <a:t>newButton</a:t>
            </a:r>
            <a:r>
              <a:rPr lang="en-US" dirty="0"/>
              <a:t> to the latest one. </a:t>
            </a:r>
          </a:p>
        </p:txBody>
      </p:sp>
      <p:pic>
        <p:nvPicPr>
          <p:cNvPr id="5" name="Content Placeholder 4"/>
          <p:cNvPicPr>
            <a:picLocks noGrp="1" noChangeAspect="1"/>
          </p:cNvPicPr>
          <p:nvPr>
            <p:ph sz="half" idx="2"/>
          </p:nvPr>
        </p:nvPicPr>
        <p:blipFill>
          <a:blip r:embed="rId2"/>
          <a:stretch>
            <a:fillRect/>
          </a:stretch>
        </p:blipFill>
        <p:spPr>
          <a:xfrm>
            <a:off x="5879402" y="2835564"/>
            <a:ext cx="6185817" cy="1764145"/>
          </a:xfrm>
          <a:prstGeom prst="rect">
            <a:avLst/>
          </a:prstGeom>
        </p:spPr>
      </p:pic>
      <p:sp>
        <p:nvSpPr>
          <p:cNvPr id="6" name="TextBox 5"/>
          <p:cNvSpPr txBox="1"/>
          <p:nvPr/>
        </p:nvSpPr>
        <p:spPr>
          <a:xfrm>
            <a:off x="1171169" y="832777"/>
            <a:ext cx="10058085" cy="769441"/>
          </a:xfrm>
          <a:prstGeom prst="rect">
            <a:avLst/>
          </a:prstGeom>
          <a:noFill/>
        </p:spPr>
        <p:txBody>
          <a:bodyPr wrap="square" rtlCol="0">
            <a:spAutoFit/>
          </a:bodyPr>
          <a:lstStyle/>
          <a:p>
            <a:r>
              <a:rPr lang="en-US" sz="2200" dirty="0"/>
              <a:t>This purpose of this function is to add a new LED to the existing sequence during level up. And this has to be a randomly chosen LED. </a:t>
            </a:r>
          </a:p>
        </p:txBody>
      </p:sp>
    </p:spTree>
    <p:extLst>
      <p:ext uri="{BB962C8B-B14F-4D97-AF65-F5344CB8AC3E}">
        <p14:creationId xmlns:p14="http://schemas.microsoft.com/office/powerpoint/2010/main" val="818514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4883"/>
          </a:xfrm>
        </p:spPr>
        <p:txBody>
          <a:bodyPr>
            <a:normAutofit fontScale="90000"/>
          </a:bodyPr>
          <a:lstStyle/>
          <a:p>
            <a:r>
              <a:rPr lang="en-US" dirty="0"/>
              <a:t>The </a:t>
            </a:r>
            <a:r>
              <a:rPr lang="en-US" i="1" dirty="0" err="1"/>
              <a:t>wait_for_button</a:t>
            </a:r>
            <a:r>
              <a:rPr lang="en-US" i="1" dirty="0"/>
              <a:t>(void) </a:t>
            </a:r>
            <a:r>
              <a:rPr lang="en-US" dirty="0"/>
              <a:t>function</a:t>
            </a:r>
          </a:p>
        </p:txBody>
      </p:sp>
      <p:sp>
        <p:nvSpPr>
          <p:cNvPr id="3" name="Content Placeholder 2"/>
          <p:cNvSpPr>
            <a:spLocks noGrp="1"/>
          </p:cNvSpPr>
          <p:nvPr>
            <p:ph sz="half" idx="1"/>
          </p:nvPr>
        </p:nvSpPr>
        <p:spPr>
          <a:xfrm>
            <a:off x="339896" y="1875027"/>
            <a:ext cx="4937760" cy="4023360"/>
          </a:xfrm>
        </p:spPr>
        <p:txBody>
          <a:bodyPr>
            <a:normAutofit fontScale="92500" lnSpcReduction="20000"/>
          </a:bodyPr>
          <a:lstStyle/>
          <a:p>
            <a:pPr marL="0" indent="0">
              <a:buNone/>
            </a:pPr>
            <a:r>
              <a:rPr lang="en-US" dirty="0"/>
              <a:t>In the first line we start an in-built timer as soon as the function starts and we store the start time in a variable called </a:t>
            </a:r>
            <a:r>
              <a:rPr lang="en-US" i="1" dirty="0" err="1"/>
              <a:t>startTime</a:t>
            </a:r>
            <a:r>
              <a:rPr lang="en-US" dirty="0"/>
              <a:t>. </a:t>
            </a:r>
          </a:p>
          <a:p>
            <a:pPr marL="0" indent="0">
              <a:buNone/>
            </a:pPr>
            <a:r>
              <a:rPr lang="en-US" dirty="0"/>
              <a:t>Then we check difference between the current time and the</a:t>
            </a:r>
            <a:r>
              <a:rPr lang="en-US" i="1" dirty="0"/>
              <a:t> </a:t>
            </a:r>
            <a:r>
              <a:rPr lang="en-US" i="1" dirty="0" err="1"/>
              <a:t>startTime</a:t>
            </a:r>
            <a:r>
              <a:rPr lang="en-US" i="1" dirty="0"/>
              <a:t> </a:t>
            </a:r>
            <a:r>
              <a:rPr lang="en-US" dirty="0"/>
              <a:t>to see if too much time has elapsed. If it has then we exit the loop and don’t record the user’s button press. </a:t>
            </a:r>
          </a:p>
          <a:p>
            <a:pPr marL="0" indent="0">
              <a:buNone/>
            </a:pPr>
            <a:r>
              <a:rPr lang="en-US" dirty="0"/>
              <a:t>If it hasn’t then we enter the while loop and wait for a button press. This button press will be stored in the variable button. </a:t>
            </a:r>
          </a:p>
          <a:p>
            <a:pPr marL="0" indent="0">
              <a:buNone/>
            </a:pPr>
            <a:r>
              <a:rPr lang="en-US" dirty="0"/>
              <a:t>When that is done we play back the sound of the button the user just pressed for audio feedback. </a:t>
            </a:r>
          </a:p>
          <a:p>
            <a:pPr marL="0" indent="0">
              <a:buNone/>
            </a:pPr>
            <a:r>
              <a:rPr lang="en-US" dirty="0"/>
              <a:t>We then delay for some time in the case of switch bounce or a double tap and return the value of the button (i.e. </a:t>
            </a:r>
            <a:r>
              <a:rPr lang="en-US" b="1" dirty="0"/>
              <a:t>8</a:t>
            </a:r>
            <a:r>
              <a:rPr lang="en-US" dirty="0"/>
              <a:t>, </a:t>
            </a:r>
            <a:r>
              <a:rPr lang="en-US" b="1" dirty="0"/>
              <a:t>9</a:t>
            </a:r>
            <a:r>
              <a:rPr lang="en-US" dirty="0"/>
              <a:t> or </a:t>
            </a:r>
            <a:r>
              <a:rPr lang="en-US" b="1" dirty="0"/>
              <a:t>10</a:t>
            </a:r>
            <a:r>
              <a:rPr lang="en-US" dirty="0"/>
              <a:t>) pressed. </a:t>
            </a:r>
          </a:p>
        </p:txBody>
      </p:sp>
      <p:pic>
        <p:nvPicPr>
          <p:cNvPr id="6" name="Content Placeholder 5"/>
          <p:cNvPicPr>
            <a:picLocks noGrp="1" noChangeAspect="1"/>
          </p:cNvPicPr>
          <p:nvPr>
            <p:ph sz="half" idx="2"/>
          </p:nvPr>
        </p:nvPicPr>
        <p:blipFill>
          <a:blip r:embed="rId2"/>
          <a:stretch>
            <a:fillRect/>
          </a:stretch>
        </p:blipFill>
        <p:spPr>
          <a:xfrm>
            <a:off x="5316077" y="2235200"/>
            <a:ext cx="6647901" cy="2669309"/>
          </a:xfrm>
          <a:prstGeom prst="rect">
            <a:avLst/>
          </a:prstGeom>
        </p:spPr>
      </p:pic>
      <p:sp>
        <p:nvSpPr>
          <p:cNvPr id="5" name="TextBox 4"/>
          <p:cNvSpPr txBox="1"/>
          <p:nvPr/>
        </p:nvSpPr>
        <p:spPr>
          <a:xfrm>
            <a:off x="1097279" y="973822"/>
            <a:ext cx="10058402" cy="769441"/>
          </a:xfrm>
          <a:prstGeom prst="rect">
            <a:avLst/>
          </a:prstGeom>
          <a:noFill/>
        </p:spPr>
        <p:txBody>
          <a:bodyPr wrap="square" rtlCol="0">
            <a:spAutoFit/>
          </a:bodyPr>
          <a:lstStyle/>
          <a:p>
            <a:r>
              <a:rPr lang="en-US" sz="2200" dirty="0"/>
              <a:t>As the name suggests this function does nothing but </a:t>
            </a:r>
            <a:r>
              <a:rPr lang="en-US" sz="2200" b="1" dirty="0"/>
              <a:t>wait</a:t>
            </a:r>
            <a:r>
              <a:rPr lang="en-US" sz="2200" dirty="0"/>
              <a:t> for a button to be pressed and then pass it on. </a:t>
            </a:r>
          </a:p>
        </p:txBody>
      </p:sp>
    </p:spTree>
    <p:extLst>
      <p:ext uri="{BB962C8B-B14F-4D97-AF65-F5344CB8AC3E}">
        <p14:creationId xmlns:p14="http://schemas.microsoft.com/office/powerpoint/2010/main" val="4281954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572378"/>
          </a:xfrm>
        </p:spPr>
        <p:txBody>
          <a:bodyPr>
            <a:normAutofit fontScale="90000"/>
          </a:bodyPr>
          <a:lstStyle/>
          <a:p>
            <a:r>
              <a:rPr lang="en-US" dirty="0"/>
              <a:t>The </a:t>
            </a:r>
            <a:r>
              <a:rPr lang="en-US" b="1" dirty="0" err="1"/>
              <a:t>checkButton</a:t>
            </a:r>
            <a:r>
              <a:rPr lang="en-US" b="1" dirty="0"/>
              <a:t>(void) </a:t>
            </a:r>
            <a:r>
              <a:rPr lang="en-US" dirty="0"/>
              <a:t>function</a:t>
            </a:r>
          </a:p>
        </p:txBody>
      </p:sp>
      <p:sp>
        <p:nvSpPr>
          <p:cNvPr id="3" name="Content Placeholder 2"/>
          <p:cNvSpPr>
            <a:spLocks noGrp="1"/>
          </p:cNvSpPr>
          <p:nvPr>
            <p:ph sz="half" idx="1"/>
          </p:nvPr>
        </p:nvSpPr>
        <p:spPr/>
        <p:txBody>
          <a:bodyPr/>
          <a:lstStyle/>
          <a:p>
            <a:r>
              <a:rPr lang="en-US" dirty="0"/>
              <a:t>This is a simple function, in which we use Arduino’s </a:t>
            </a:r>
            <a:r>
              <a:rPr lang="en-US" i="1" dirty="0" err="1"/>
              <a:t>digitalRead</a:t>
            </a:r>
            <a:r>
              <a:rPr lang="en-US" dirty="0"/>
              <a:t> function to see if a button was pressed. </a:t>
            </a:r>
          </a:p>
          <a:p>
            <a:r>
              <a:rPr lang="en-US" dirty="0"/>
              <a:t>Since the button is in</a:t>
            </a:r>
            <a:r>
              <a:rPr lang="en-US" i="1" dirty="0"/>
              <a:t> INPUT_PULLUP </a:t>
            </a:r>
            <a:r>
              <a:rPr lang="en-US" dirty="0"/>
              <a:t>mode, a ‘</a:t>
            </a:r>
            <a:r>
              <a:rPr lang="en-US" b="1" dirty="0"/>
              <a:t>1</a:t>
            </a:r>
            <a:r>
              <a:rPr lang="en-US" dirty="0"/>
              <a:t>’ value is recorded as a button push. So if we see a ‘</a:t>
            </a:r>
            <a:r>
              <a:rPr lang="en-US" b="1" dirty="0"/>
              <a:t>1</a:t>
            </a:r>
            <a:r>
              <a:rPr lang="en-US" dirty="0"/>
              <a:t>’ on pin </a:t>
            </a:r>
            <a:r>
              <a:rPr lang="en-US" b="1" dirty="0"/>
              <a:t>10</a:t>
            </a:r>
            <a:r>
              <a:rPr lang="en-US" dirty="0"/>
              <a:t>, we send back </a:t>
            </a:r>
            <a:r>
              <a:rPr lang="en-US" i="1" dirty="0"/>
              <a:t>CHOICE_YELLOW</a:t>
            </a:r>
            <a:r>
              <a:rPr lang="en-US" dirty="0"/>
              <a:t> since it corresponds to the Yellow LED and so on. </a:t>
            </a:r>
          </a:p>
          <a:p>
            <a:r>
              <a:rPr lang="en-US" dirty="0"/>
              <a:t>We also have an option for the eventuality that there is no button push. We return </a:t>
            </a:r>
            <a:r>
              <a:rPr lang="en-US" i="1" dirty="0"/>
              <a:t>CHOICE_NONE </a:t>
            </a:r>
            <a:r>
              <a:rPr lang="en-US" dirty="0"/>
              <a:t>then. </a:t>
            </a:r>
          </a:p>
        </p:txBody>
      </p:sp>
      <p:sp>
        <p:nvSpPr>
          <p:cNvPr id="6" name="TextBox 5"/>
          <p:cNvSpPr txBox="1"/>
          <p:nvPr/>
        </p:nvSpPr>
        <p:spPr>
          <a:xfrm>
            <a:off x="1097279" y="858982"/>
            <a:ext cx="10058402" cy="769441"/>
          </a:xfrm>
          <a:prstGeom prst="rect">
            <a:avLst/>
          </a:prstGeom>
          <a:noFill/>
        </p:spPr>
        <p:txBody>
          <a:bodyPr wrap="square" rtlCol="0">
            <a:spAutoFit/>
          </a:bodyPr>
          <a:lstStyle/>
          <a:p>
            <a:r>
              <a:rPr lang="en-US" sz="2200" dirty="0"/>
              <a:t>Once again this function does exactly what it says. It </a:t>
            </a:r>
            <a:r>
              <a:rPr lang="en-US" sz="2200" b="1" dirty="0"/>
              <a:t>checks</a:t>
            </a:r>
            <a:r>
              <a:rPr lang="en-US" sz="2200" dirty="0"/>
              <a:t> to see if a button has been pressed and if so, which button has been pressed. </a:t>
            </a:r>
          </a:p>
        </p:txBody>
      </p:sp>
      <p:pic>
        <p:nvPicPr>
          <p:cNvPr id="9" name="Content Placeholder 8"/>
          <p:cNvPicPr>
            <a:picLocks noGrp="1" noChangeAspect="1"/>
          </p:cNvPicPr>
          <p:nvPr>
            <p:ph sz="half" idx="2"/>
          </p:nvPr>
        </p:nvPicPr>
        <p:blipFill>
          <a:blip r:embed="rId2"/>
          <a:stretch>
            <a:fillRect/>
          </a:stretch>
        </p:blipFill>
        <p:spPr>
          <a:xfrm>
            <a:off x="6547810" y="3140363"/>
            <a:ext cx="5452327" cy="1071418"/>
          </a:xfrm>
          <a:prstGeom prst="rect">
            <a:avLst/>
          </a:prstGeom>
        </p:spPr>
      </p:pic>
    </p:spTree>
    <p:extLst>
      <p:ext uri="{BB962C8B-B14F-4D97-AF65-F5344CB8AC3E}">
        <p14:creationId xmlns:p14="http://schemas.microsoft.com/office/powerpoint/2010/main" val="553035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rest of the code…</a:t>
            </a:r>
          </a:p>
        </p:txBody>
      </p:sp>
      <p:sp>
        <p:nvSpPr>
          <p:cNvPr id="6" name="Content Placeholder 5"/>
          <p:cNvSpPr>
            <a:spLocks noGrp="1"/>
          </p:cNvSpPr>
          <p:nvPr>
            <p:ph idx="1"/>
          </p:nvPr>
        </p:nvSpPr>
        <p:spPr/>
        <p:txBody>
          <a:bodyPr/>
          <a:lstStyle/>
          <a:p>
            <a:r>
              <a:rPr lang="en-US" dirty="0"/>
              <a:t>The rest of the code contains toner and sound functions. </a:t>
            </a:r>
          </a:p>
          <a:p>
            <a:r>
              <a:rPr lang="en-US" dirty="0"/>
              <a:t>These functions are an extra functionality added to the game. If they are removed the game will run exactly the same way, without audio cues of course. </a:t>
            </a:r>
          </a:p>
          <a:p>
            <a:r>
              <a:rPr lang="en-US" dirty="0"/>
              <a:t>These functions contain the sound bytes that are played when a game is won or lost. And the tones that are played for every push button. </a:t>
            </a:r>
          </a:p>
          <a:p>
            <a:r>
              <a:rPr lang="en-US" dirty="0"/>
              <a:t>The crux of the code required for the regular functioning of the game is before this part. The logical statements required to make decisions, hardware-software interaction, visual playback and so on. </a:t>
            </a:r>
          </a:p>
          <a:p>
            <a:r>
              <a:rPr lang="en-US" dirty="0"/>
              <a:t>Comments are available in the code file and you are encouraged to look at it!</a:t>
            </a:r>
          </a:p>
        </p:txBody>
      </p:sp>
    </p:spTree>
    <p:extLst>
      <p:ext uri="{BB962C8B-B14F-4D97-AF65-F5344CB8AC3E}">
        <p14:creationId xmlns:p14="http://schemas.microsoft.com/office/powerpoint/2010/main" val="3322979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Thank you!</a:t>
            </a:r>
          </a:p>
        </p:txBody>
      </p:sp>
      <p:sp>
        <p:nvSpPr>
          <p:cNvPr id="5" name="Subtitle 4"/>
          <p:cNvSpPr>
            <a:spLocks noGrp="1"/>
          </p:cNvSpPr>
          <p:nvPr>
            <p:ph type="subTitle" idx="1"/>
          </p:nvPr>
        </p:nvSpPr>
        <p:spPr/>
        <p:txBody>
          <a:bodyPr/>
          <a:lstStyle/>
          <a:p>
            <a:r>
              <a:rPr lang="en-US"/>
              <a:t>The end. </a:t>
            </a:r>
          </a:p>
        </p:txBody>
      </p:sp>
    </p:spTree>
    <p:extLst>
      <p:ext uri="{BB962C8B-B14F-4D97-AF65-F5344CB8AC3E}">
        <p14:creationId xmlns:p14="http://schemas.microsoft.com/office/powerpoint/2010/main" val="387466888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364</TotalTime>
  <Words>1864</Words>
  <Application>Microsoft Office PowerPoint</Application>
  <PresentationFormat>Widescreen</PresentationFormat>
  <Paragraphs>144</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Calibri</vt:lpstr>
      <vt:lpstr>Calibri Light</vt:lpstr>
      <vt:lpstr>Times New Roman</vt:lpstr>
      <vt:lpstr>Retrospect</vt:lpstr>
      <vt:lpstr>‘Simon Says’, A Memory Game (Arduino module)</vt:lpstr>
      <vt:lpstr>Goal</vt:lpstr>
      <vt:lpstr>Overview</vt:lpstr>
      <vt:lpstr>Components Required </vt:lpstr>
      <vt:lpstr>Final Look </vt:lpstr>
      <vt:lpstr>Let’s Get Started! </vt:lpstr>
      <vt:lpstr>Step 1. LEDs and Buttons</vt:lpstr>
      <vt:lpstr>Step 2: Connect the Buzzer</vt:lpstr>
      <vt:lpstr>Step 3: Connect to the Arduino (Part 1)</vt:lpstr>
      <vt:lpstr>Step 4: Connect to the Arduino (Part 2)</vt:lpstr>
      <vt:lpstr>Step 4.5: A Closer Look…</vt:lpstr>
      <vt:lpstr>Step 5: Connect to the Arduino (Part 3)</vt:lpstr>
      <vt:lpstr>Step 6: Circuit Check! </vt:lpstr>
      <vt:lpstr>Final Schematic</vt:lpstr>
      <vt:lpstr>Step 7: Programming the game</vt:lpstr>
      <vt:lpstr>Step 8: Opening the program </vt:lpstr>
      <vt:lpstr>Step 8: Choosing the right COM Port </vt:lpstr>
      <vt:lpstr> Step 9: Uploading program to the Arduino</vt:lpstr>
      <vt:lpstr>Errors while Uploading</vt:lpstr>
      <vt:lpstr>Step 11: Enjoy the game!</vt:lpstr>
      <vt:lpstr>Step 12: Suggested changes</vt:lpstr>
      <vt:lpstr>Step 12: Suggested Changes (Part 2)</vt:lpstr>
      <vt:lpstr>Bonus: Code Snippets</vt:lpstr>
      <vt:lpstr>The setup() function</vt:lpstr>
      <vt:lpstr>The loop() function</vt:lpstr>
      <vt:lpstr>The play_memory(void) function </vt:lpstr>
      <vt:lpstr>The add_to_moves(void) function </vt:lpstr>
      <vt:lpstr>The wait_for_button(void) function</vt:lpstr>
      <vt:lpstr>The checkButton(void) function</vt:lpstr>
      <vt:lpstr>The rest of the code…</vt:lpstr>
      <vt:lpstr>Thank you!</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‘Simon Says’, A Memory Game (Arduino module)</dc:title>
  <dc:creator>Vivaswat Shastry</dc:creator>
  <cp:lastModifiedBy>Robert F. Kubichek</cp:lastModifiedBy>
  <cp:revision>47</cp:revision>
  <dcterms:created xsi:type="dcterms:W3CDTF">2016-10-01T20:17:42Z</dcterms:created>
  <dcterms:modified xsi:type="dcterms:W3CDTF">2018-07-04T21:44:55Z</dcterms:modified>
</cp:coreProperties>
</file>