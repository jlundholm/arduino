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sldIdLst>
    <p:sldId id="256" r:id="rId2"/>
    <p:sldId id="284" r:id="rId3"/>
    <p:sldId id="257" r:id="rId4"/>
    <p:sldId id="258" r:id="rId5"/>
    <p:sldId id="259" r:id="rId6"/>
    <p:sldId id="260" r:id="rId7"/>
    <p:sldId id="265" r:id="rId8"/>
    <p:sldId id="261" r:id="rId9"/>
    <p:sldId id="266" r:id="rId10"/>
    <p:sldId id="262" r:id="rId11"/>
    <p:sldId id="263" r:id="rId12"/>
    <p:sldId id="267" r:id="rId13"/>
    <p:sldId id="264" r:id="rId14"/>
    <p:sldId id="268" r:id="rId15"/>
    <p:sldId id="269" r:id="rId16"/>
    <p:sldId id="270" r:id="rId17"/>
    <p:sldId id="271" r:id="rId18"/>
    <p:sldId id="272" r:id="rId19"/>
    <p:sldId id="273" r:id="rId20"/>
    <p:sldId id="274" r:id="rId21"/>
    <p:sldId id="275" r:id="rId22"/>
    <p:sldId id="276" r:id="rId23"/>
    <p:sldId id="278" r:id="rId24"/>
    <p:sldId id="279" r:id="rId25"/>
    <p:sldId id="277" r:id="rId26"/>
    <p:sldId id="280" r:id="rId27"/>
    <p:sldId id="281" r:id="rId28"/>
    <p:sldId id="282" r:id="rId29"/>
    <p:sldId id="283"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3" d="100"/>
          <a:sy n="113" d="100"/>
        </p:scale>
        <p:origin x="1554"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A25B9D06-D4D2-4872-94D0-4FE16E42A6B9}" type="datetimeFigureOut">
              <a:rPr lang="en-US" smtClean="0"/>
              <a:t>7/4/2018</a:t>
            </a:fld>
            <a:endParaRPr lang="en-IN"/>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IN"/>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9C670316-7D53-489B-9113-78364BF2C615}"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A25B9D06-D4D2-4872-94D0-4FE16E42A6B9}" type="datetimeFigureOut">
              <a:rPr lang="en-US" smtClean="0"/>
              <a:t>7/4/2018</a:t>
            </a:fld>
            <a:endParaRPr lang="en-IN"/>
          </a:p>
        </p:txBody>
      </p:sp>
      <p:sp>
        <p:nvSpPr>
          <p:cNvPr id="9" name="Slide Number Placeholder 8"/>
          <p:cNvSpPr>
            <a:spLocks noGrp="1"/>
          </p:cNvSpPr>
          <p:nvPr>
            <p:ph type="sldNum" sz="quarter" idx="15"/>
          </p:nvPr>
        </p:nvSpPr>
        <p:spPr/>
        <p:txBody>
          <a:bodyPr rtlCol="0"/>
          <a:lstStyle/>
          <a:p>
            <a:fld id="{9C670316-7D53-489B-9113-78364BF2C615}" type="slidenum">
              <a:rPr lang="en-IN" smtClean="0"/>
              <a:t>‹#›</a:t>
            </a:fld>
            <a:endParaRPr lang="en-IN"/>
          </a:p>
        </p:txBody>
      </p:sp>
      <p:sp>
        <p:nvSpPr>
          <p:cNvPr id="10" name="Footer Placeholder 9"/>
          <p:cNvSpPr>
            <a:spLocks noGrp="1"/>
          </p:cNvSpPr>
          <p:nvPr>
            <p:ph type="ftr" sz="quarter" idx="16"/>
          </p:nvPr>
        </p:nvSpPr>
        <p:spPr/>
        <p:txBody>
          <a:bodyPr rtlCol="0"/>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A25B9D06-D4D2-4872-94D0-4FE16E42A6B9}" type="datetimeFigureOut">
              <a:rPr lang="en-US" smtClean="0"/>
              <a:t>7/4/2018</a:t>
            </a:fld>
            <a:endParaRPr lang="en-IN"/>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IN"/>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9C670316-7D53-489B-9113-78364BF2C615}" type="slidenum">
              <a:rPr lang="en-IN" smtClean="0"/>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25B9D06-D4D2-4872-94D0-4FE16E42A6B9}" type="datetimeFigureOut">
              <a:rPr lang="en-US" smtClean="0"/>
              <a:t>7/4/2018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670316-7D53-489B-9113-78364BF2C615}" type="slidenum">
              <a:rPr lang="en-IN" smtClean="0"/>
              <a:t>‹#›</a:t>
            </a:fld>
            <a:endParaRPr lang="en-IN"/>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A25B9D06-D4D2-4872-94D0-4FE16E42A6B9}" type="datetimeFigureOut">
              <a:rPr lang="en-US" smtClean="0"/>
              <a:t>7/4/2018</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670316-7D53-489B-9113-78364BF2C615}" type="slidenum">
              <a:rPr lang="en-IN" smtClean="0"/>
              <a:t>‹#›</a:t>
            </a:fld>
            <a:endParaRPr lang="en-IN"/>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A25B9D06-D4D2-4872-94D0-4FE16E42A6B9}" type="datetimeFigureOut">
              <a:rPr lang="en-US" smtClean="0"/>
              <a:t>7/4/2018</a:t>
            </a:fld>
            <a:endParaRPr lang="en-IN"/>
          </a:p>
        </p:txBody>
      </p:sp>
      <p:sp>
        <p:nvSpPr>
          <p:cNvPr id="7" name="Slide Number Placeholder 6"/>
          <p:cNvSpPr>
            <a:spLocks noGrp="1"/>
          </p:cNvSpPr>
          <p:nvPr>
            <p:ph type="sldNum" sz="quarter" idx="11"/>
          </p:nvPr>
        </p:nvSpPr>
        <p:spPr/>
        <p:txBody>
          <a:bodyPr rtlCol="0"/>
          <a:lstStyle/>
          <a:p>
            <a:fld id="{9C670316-7D53-489B-9113-78364BF2C615}" type="slidenum">
              <a:rPr lang="en-IN" smtClean="0"/>
              <a:t>‹#›</a:t>
            </a:fld>
            <a:endParaRPr lang="en-IN"/>
          </a:p>
        </p:txBody>
      </p:sp>
      <p:sp>
        <p:nvSpPr>
          <p:cNvPr id="8" name="Footer Placeholder 7"/>
          <p:cNvSpPr>
            <a:spLocks noGrp="1"/>
          </p:cNvSpPr>
          <p:nvPr>
            <p:ph type="ftr" sz="quarter" idx="12"/>
          </p:nvPr>
        </p:nvSpPr>
        <p:spPr/>
        <p:txBody>
          <a:bodyPr rtlCol="0"/>
          <a:lstStyle/>
          <a:p>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5B9D06-D4D2-4872-94D0-4FE16E42A6B9}" type="datetimeFigureOut">
              <a:rPr lang="en-US" smtClean="0"/>
              <a:t>7/4/2018</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C670316-7D53-489B-9113-78364BF2C61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A25B9D06-D4D2-4872-94D0-4FE16E42A6B9}" type="datetimeFigureOut">
              <a:rPr lang="en-US" smtClean="0"/>
              <a:t>7/4/2018</a:t>
            </a:fld>
            <a:endParaRPr lang="en-IN"/>
          </a:p>
        </p:txBody>
      </p:sp>
      <p:sp>
        <p:nvSpPr>
          <p:cNvPr id="22" name="Slide Number Placeholder 21"/>
          <p:cNvSpPr>
            <a:spLocks noGrp="1"/>
          </p:cNvSpPr>
          <p:nvPr>
            <p:ph type="sldNum" sz="quarter" idx="15"/>
          </p:nvPr>
        </p:nvSpPr>
        <p:spPr/>
        <p:txBody>
          <a:bodyPr rtlCol="0"/>
          <a:lstStyle/>
          <a:p>
            <a:fld id="{9C670316-7D53-489B-9113-78364BF2C615}" type="slidenum">
              <a:rPr lang="en-IN" smtClean="0"/>
              <a:t>‹#›</a:t>
            </a:fld>
            <a:endParaRPr lang="en-IN"/>
          </a:p>
        </p:txBody>
      </p:sp>
      <p:sp>
        <p:nvSpPr>
          <p:cNvPr id="23" name="Footer Placeholder 22"/>
          <p:cNvSpPr>
            <a:spLocks noGrp="1"/>
          </p:cNvSpPr>
          <p:nvPr>
            <p:ph type="ftr" sz="quarter" idx="16"/>
          </p:nvPr>
        </p:nvSpPr>
        <p:spPr/>
        <p:txBody>
          <a:bodyPr rtlCol="0"/>
          <a:lstStyle/>
          <a:p>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A25B9D06-D4D2-4872-94D0-4FE16E42A6B9}" type="datetimeFigureOut">
              <a:rPr lang="en-US" smtClean="0"/>
              <a:t>7/4/2018</a:t>
            </a:fld>
            <a:endParaRPr lang="en-IN"/>
          </a:p>
        </p:txBody>
      </p:sp>
      <p:sp>
        <p:nvSpPr>
          <p:cNvPr id="18" name="Slide Number Placeholder 17"/>
          <p:cNvSpPr>
            <a:spLocks noGrp="1"/>
          </p:cNvSpPr>
          <p:nvPr>
            <p:ph type="sldNum" sz="quarter" idx="11"/>
          </p:nvPr>
        </p:nvSpPr>
        <p:spPr/>
        <p:txBody>
          <a:bodyPr rtlCol="0"/>
          <a:lstStyle/>
          <a:p>
            <a:fld id="{9C670316-7D53-489B-9113-78364BF2C615}" type="slidenum">
              <a:rPr lang="en-IN" smtClean="0"/>
              <a:t>‹#›</a:t>
            </a:fld>
            <a:endParaRPr lang="en-IN"/>
          </a:p>
        </p:txBody>
      </p:sp>
      <p:sp>
        <p:nvSpPr>
          <p:cNvPr id="21" name="Footer Placeholder 20"/>
          <p:cNvSpPr>
            <a:spLocks noGrp="1"/>
          </p:cNvSpPr>
          <p:nvPr>
            <p:ph type="ftr" sz="quarter" idx="12"/>
          </p:nvPr>
        </p:nvSpPr>
        <p:spPr/>
        <p:txBody>
          <a:bodyPr rtlCol="0"/>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25B9D06-D4D2-4872-94D0-4FE16E42A6B9}" type="datetimeFigureOut">
              <a:rPr lang="en-US" smtClean="0"/>
              <a:t>7/4/2018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670316-7D53-489B-9113-78364BF2C61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25B9D06-D4D2-4872-94D0-4FE16E42A6B9}" type="datetimeFigureOut">
              <a:rPr lang="en-US" smtClean="0"/>
              <a:t>7/4/2018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670316-7D53-489B-9113-78364BF2C61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A25B9D06-D4D2-4872-94D0-4FE16E42A6B9}" type="datetimeFigureOut">
              <a:rPr lang="en-US" smtClean="0"/>
              <a:t>7/4/2018</a:t>
            </a:fld>
            <a:endParaRPr lang="en-IN"/>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IN"/>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9C670316-7D53-489B-9113-78364BF2C615}"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43042" y="1285860"/>
            <a:ext cx="6172200" cy="1894362"/>
          </a:xfrm>
        </p:spPr>
        <p:txBody>
          <a:bodyPr>
            <a:normAutofit/>
          </a:bodyPr>
          <a:lstStyle/>
          <a:p>
            <a:pPr algn="ctr"/>
            <a:r>
              <a:rPr lang="en-IN" dirty="0"/>
              <a:t>Burglar Alarm </a:t>
            </a:r>
            <a:br>
              <a:rPr lang="en-IN" dirty="0"/>
            </a:br>
            <a:br>
              <a:rPr lang="en-IN" dirty="0"/>
            </a:br>
            <a:r>
              <a:rPr lang="en-IN" dirty="0"/>
              <a:t>(</a:t>
            </a:r>
            <a:r>
              <a:rPr lang="en-IN" dirty="0" err="1"/>
              <a:t>Arduino</a:t>
            </a:r>
            <a:r>
              <a:rPr lang="en-IN" dirty="0"/>
              <a:t> Module))</a:t>
            </a:r>
          </a:p>
        </p:txBody>
      </p:sp>
      <p:sp>
        <p:nvSpPr>
          <p:cNvPr id="3" name="Subtitle 2"/>
          <p:cNvSpPr>
            <a:spLocks noGrp="1"/>
          </p:cNvSpPr>
          <p:nvPr>
            <p:ph type="subTitle" idx="1"/>
          </p:nvPr>
        </p:nvSpPr>
        <p:spPr>
          <a:xfrm>
            <a:off x="214282" y="5286388"/>
            <a:ext cx="8929718" cy="1371600"/>
          </a:xfrm>
        </p:spPr>
        <p:txBody>
          <a:bodyPr>
            <a:normAutofit/>
          </a:bodyPr>
          <a:lstStyle/>
          <a:p>
            <a:pPr algn="ctr"/>
            <a:r>
              <a:rPr lang="en-IN" dirty="0">
                <a:effectLst>
                  <a:outerShdw blurRad="38100" dist="38100" dir="2700000" algn="tl">
                    <a:srgbClr val="000000">
                      <a:alpha val="43137"/>
                    </a:srgbClr>
                  </a:outerShdw>
                </a:effectLst>
              </a:rPr>
              <a:t>ELECTRICAL AND COMPUTER ENGINEERING DEPARTMENT</a:t>
            </a:r>
          </a:p>
          <a:p>
            <a:pPr algn="ctr"/>
            <a:r>
              <a:rPr lang="en-IN" dirty="0">
                <a:effectLst>
                  <a:outerShdw blurRad="38100" dist="38100" dir="2700000" algn="tl">
                    <a:srgbClr val="000000">
                      <a:alpha val="43137"/>
                    </a:srgbClr>
                  </a:outerShdw>
                </a:effectLst>
              </a:rPr>
              <a:t>COLLEGE OF ENGINEERING AND APPLIED SCIENCES</a:t>
            </a:r>
          </a:p>
          <a:p>
            <a:pPr algn="ctr"/>
            <a:r>
              <a:rPr lang="en-IN" dirty="0">
                <a:effectLst>
                  <a:outerShdw blurRad="38100" dist="38100" dir="2700000" algn="tl">
                    <a:srgbClr val="000000">
                      <a:alpha val="43137"/>
                    </a:srgbClr>
                  </a:outerShdw>
                </a:effectLst>
              </a:rPr>
              <a:t>UNIVERSITY OF WYOMING</a:t>
            </a:r>
          </a:p>
        </p:txBody>
      </p:sp>
      <p:pic>
        <p:nvPicPr>
          <p:cNvPr id="1026" name="Picture 2"/>
          <p:cNvPicPr>
            <a:picLocks noChangeAspect="1" noChangeArrowheads="1"/>
          </p:cNvPicPr>
          <p:nvPr/>
        </p:nvPicPr>
        <p:blipFill>
          <a:blip r:embed="rId2"/>
          <a:srcRect/>
          <a:stretch>
            <a:fillRect/>
          </a:stretch>
        </p:blipFill>
        <p:spPr bwMode="auto">
          <a:xfrm>
            <a:off x="6500826" y="2714620"/>
            <a:ext cx="2039129" cy="2033588"/>
          </a:xfrm>
          <a:prstGeom prst="rect">
            <a:avLst/>
          </a:prstGeom>
          <a:noFill/>
          <a:ln w="9525">
            <a:noFill/>
            <a:miter lim="800000"/>
            <a:headEnd/>
            <a:tailEnd/>
          </a:ln>
          <a:effectLst/>
        </p:spPr>
      </p:pic>
      <p:sp>
        <p:nvSpPr>
          <p:cNvPr id="4" name="TextBox 3">
            <a:extLst>
              <a:ext uri="{FF2B5EF4-FFF2-40B4-BE49-F238E27FC236}">
                <a16:creationId xmlns:a16="http://schemas.microsoft.com/office/drawing/2014/main" id="{697F7309-5B2B-4437-B7BA-533E66F3DF57}"/>
              </a:ext>
            </a:extLst>
          </p:cNvPr>
          <p:cNvSpPr txBox="1"/>
          <p:nvPr/>
        </p:nvSpPr>
        <p:spPr>
          <a:xfrm>
            <a:off x="3563888" y="4019460"/>
            <a:ext cx="1423788" cy="369332"/>
          </a:xfrm>
          <a:prstGeom prst="rect">
            <a:avLst/>
          </a:prstGeom>
          <a:noFill/>
        </p:spPr>
        <p:txBody>
          <a:bodyPr wrap="none" rtlCol="0">
            <a:spAutoFit/>
          </a:bodyPr>
          <a:lstStyle/>
          <a:p>
            <a:r>
              <a:rPr lang="en-US" dirty="0"/>
              <a:t>Reenu Paul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Standards</a:t>
            </a:r>
          </a:p>
        </p:txBody>
      </p:sp>
      <p:sp>
        <p:nvSpPr>
          <p:cNvPr id="3" name="Content Placeholder 2"/>
          <p:cNvSpPr>
            <a:spLocks noGrp="1"/>
          </p:cNvSpPr>
          <p:nvPr>
            <p:ph sz="quarter" idx="1"/>
          </p:nvPr>
        </p:nvSpPr>
        <p:spPr>
          <a:xfrm>
            <a:off x="457200" y="1600200"/>
            <a:ext cx="7467600" cy="532656"/>
          </a:xfrm>
        </p:spPr>
        <p:txBody>
          <a:bodyPr>
            <a:normAutofit fontScale="70000" lnSpcReduction="20000"/>
          </a:bodyPr>
          <a:lstStyle/>
          <a:p>
            <a:r>
              <a:rPr lang="en-US" dirty="0"/>
              <a:t>https://www.nextgenscience.org/pe/1-ps4-4-waves-and-their-applications-technologies-information-transfer</a:t>
            </a:r>
          </a:p>
        </p:txBody>
      </p:sp>
      <p:pic>
        <p:nvPicPr>
          <p:cNvPr id="4" name="Picture 3"/>
          <p:cNvPicPr>
            <a:picLocks noChangeAspect="1"/>
          </p:cNvPicPr>
          <p:nvPr/>
        </p:nvPicPr>
        <p:blipFill>
          <a:blip r:embed="rId2"/>
          <a:stretch>
            <a:fillRect/>
          </a:stretch>
        </p:blipFill>
        <p:spPr>
          <a:xfrm>
            <a:off x="417953" y="2388867"/>
            <a:ext cx="7943850" cy="838200"/>
          </a:xfrm>
          <a:prstGeom prst="rect">
            <a:avLst/>
          </a:prstGeom>
        </p:spPr>
      </p:pic>
      <p:sp>
        <p:nvSpPr>
          <p:cNvPr id="7" name="TextBox 6"/>
          <p:cNvSpPr txBox="1"/>
          <p:nvPr/>
        </p:nvSpPr>
        <p:spPr>
          <a:xfrm>
            <a:off x="405408" y="3661478"/>
            <a:ext cx="7571184" cy="615553"/>
          </a:xfrm>
          <a:prstGeom prst="rect">
            <a:avLst/>
          </a:prstGeom>
          <a:noFill/>
        </p:spPr>
        <p:txBody>
          <a:bodyPr wrap="square" rtlCol="0">
            <a:spAutoFit/>
          </a:bodyPr>
          <a:lstStyle/>
          <a:p>
            <a:pPr marL="285750" indent="-285750">
              <a:buFont typeface="Courier New" panose="02070309020205020404" pitchFamily="49" charset="0"/>
              <a:buChar char="o"/>
            </a:pPr>
            <a:r>
              <a:rPr lang="en-US" sz="1700" dirty="0"/>
              <a:t>https://www.nextgenscience.org/pe/1-ps4-1-waves-and-their-applications-technologies-information-transfer</a:t>
            </a:r>
          </a:p>
        </p:txBody>
      </p:sp>
      <p:pic>
        <p:nvPicPr>
          <p:cNvPr id="8" name="Picture 7"/>
          <p:cNvPicPr>
            <a:picLocks noChangeAspect="1"/>
          </p:cNvPicPr>
          <p:nvPr/>
        </p:nvPicPr>
        <p:blipFill>
          <a:blip r:embed="rId3"/>
          <a:stretch>
            <a:fillRect/>
          </a:stretch>
        </p:blipFill>
        <p:spPr>
          <a:xfrm>
            <a:off x="683568" y="4711442"/>
            <a:ext cx="7839075" cy="876300"/>
          </a:xfrm>
          <a:prstGeom prst="rect">
            <a:avLst/>
          </a:prstGeom>
        </p:spPr>
      </p:pic>
    </p:spTree>
    <p:extLst>
      <p:ext uri="{BB962C8B-B14F-4D97-AF65-F5344CB8AC3E}">
        <p14:creationId xmlns:p14="http://schemas.microsoft.com/office/powerpoint/2010/main" val="1255736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Learning Objectives</a:t>
            </a:r>
            <a:br>
              <a:rPr lang="en-IN" dirty="0"/>
            </a:br>
            <a:endParaRPr lang="en-IN" dirty="0"/>
          </a:p>
        </p:txBody>
      </p:sp>
      <p:sp>
        <p:nvSpPr>
          <p:cNvPr id="3" name="Content Placeholder 2"/>
          <p:cNvSpPr>
            <a:spLocks noGrp="1"/>
          </p:cNvSpPr>
          <p:nvPr>
            <p:ph sz="quarter" idx="1"/>
          </p:nvPr>
        </p:nvSpPr>
        <p:spPr/>
        <p:txBody>
          <a:bodyPr/>
          <a:lstStyle/>
          <a:p>
            <a:r>
              <a:rPr lang="en-IN" dirty="0"/>
              <a:t>The goal of this module is to teach students about the properties of sound and computing distance with an ultrasonic sensor.</a:t>
            </a:r>
          </a:p>
          <a:p>
            <a:r>
              <a:rPr lang="en-IN" dirty="0"/>
              <a:t>The program can also be used to measure the relative distance.</a:t>
            </a:r>
          </a:p>
          <a:p>
            <a:r>
              <a:rPr lang="en-IN" dirty="0"/>
              <a:t>This module can also be used in robots for home security or object avoidance.</a:t>
            </a:r>
          </a:p>
          <a:p>
            <a:pPr>
              <a:buNone/>
            </a:pPr>
            <a:endParaRPr lang="en-IN" dirty="0"/>
          </a:p>
          <a:p>
            <a:pPr>
              <a:buNone/>
            </a:pPr>
            <a:endParaRPr lang="en-IN" dirty="0"/>
          </a:p>
          <a:p>
            <a:pPr>
              <a:buNone/>
            </a:pPr>
            <a:endParaRPr lang="en-IN" dirty="0"/>
          </a:p>
          <a:p>
            <a:pPr>
              <a:buNone/>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Module Overview</a:t>
            </a:r>
            <a:br>
              <a:rPr lang="en-IN" dirty="0"/>
            </a:br>
            <a:endParaRPr lang="en-IN" dirty="0"/>
          </a:p>
        </p:txBody>
      </p:sp>
      <p:sp>
        <p:nvSpPr>
          <p:cNvPr id="3" name="Content Placeholder 2"/>
          <p:cNvSpPr>
            <a:spLocks noGrp="1"/>
          </p:cNvSpPr>
          <p:nvPr>
            <p:ph sz="quarter" idx="1"/>
          </p:nvPr>
        </p:nvSpPr>
        <p:spPr/>
        <p:txBody>
          <a:bodyPr/>
          <a:lstStyle/>
          <a:p>
            <a:r>
              <a:rPr lang="en-IN" dirty="0"/>
              <a:t>The main component of the module is the ultrasonic sensor HC-SR04 that sends out pulses that hit an object and reflect back to the sensor. The range of the sensor is about 200 – 400 cm.</a:t>
            </a:r>
          </a:p>
          <a:p>
            <a:r>
              <a:rPr lang="en-IN" dirty="0"/>
              <a:t>The LCD screen displays the distance recorded by the ultrasonic sensor.</a:t>
            </a:r>
          </a:p>
          <a:p>
            <a:r>
              <a:rPr lang="en-IN" dirty="0"/>
              <a:t>When the object (intruder) enters the pre-determined range of the sensor, the buzzer starts beeping at higher frequency.</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Required Components</a:t>
            </a:r>
            <a:br>
              <a:rPr lang="en-IN" dirty="0"/>
            </a:br>
            <a:endParaRPr lang="en-IN" dirty="0"/>
          </a:p>
        </p:txBody>
      </p:sp>
      <p:sp>
        <p:nvSpPr>
          <p:cNvPr id="3" name="Content Placeholder 2"/>
          <p:cNvSpPr>
            <a:spLocks noGrp="1"/>
          </p:cNvSpPr>
          <p:nvPr>
            <p:ph sz="quarter" idx="1"/>
          </p:nvPr>
        </p:nvSpPr>
        <p:spPr>
          <a:xfrm>
            <a:off x="428596" y="1071546"/>
            <a:ext cx="8186766" cy="5500726"/>
          </a:xfrm>
        </p:spPr>
        <p:txBody>
          <a:bodyPr>
            <a:normAutofit fontScale="47500" lnSpcReduction="20000"/>
          </a:bodyPr>
          <a:lstStyle/>
          <a:p>
            <a:pPr marL="457200" indent="-457200">
              <a:buClrTx/>
              <a:buFont typeface="+mj-lt"/>
              <a:buAutoNum type="arabicPeriod"/>
            </a:pPr>
            <a:r>
              <a:rPr lang="en-IN" sz="3300" dirty="0"/>
              <a:t>1 * </a:t>
            </a:r>
            <a:r>
              <a:rPr lang="en-IN" sz="3300" dirty="0" err="1"/>
              <a:t>Arduino</a:t>
            </a:r>
            <a:r>
              <a:rPr lang="en-IN" sz="3300" dirty="0"/>
              <a:t> Board                                                     </a:t>
            </a:r>
          </a:p>
          <a:p>
            <a:pPr marL="457200" indent="-457200">
              <a:buClrTx/>
              <a:buFont typeface="+mj-lt"/>
              <a:buAutoNum type="arabicPeriod"/>
            </a:pPr>
            <a:endParaRPr lang="en-IN" sz="3000" dirty="0"/>
          </a:p>
          <a:p>
            <a:pPr marL="457200" indent="-457200">
              <a:buClrTx/>
              <a:buFont typeface="+mj-lt"/>
              <a:buAutoNum type="arabicPeriod"/>
            </a:pPr>
            <a:endParaRPr lang="en-IN" sz="3000" dirty="0"/>
          </a:p>
          <a:p>
            <a:pPr marL="457200" indent="-457200">
              <a:buClrTx/>
              <a:buFont typeface="+mj-lt"/>
              <a:buAutoNum type="arabicPeriod"/>
            </a:pPr>
            <a:r>
              <a:rPr lang="en-IN" sz="3000" dirty="0"/>
              <a:t>1 * USB cable to attach to PC </a:t>
            </a:r>
          </a:p>
          <a:p>
            <a:pPr marL="457200" indent="-457200">
              <a:buClrTx/>
              <a:buFont typeface="+mj-lt"/>
              <a:buAutoNum type="arabicPeriod"/>
            </a:pPr>
            <a:endParaRPr lang="en-IN" sz="3000" dirty="0"/>
          </a:p>
          <a:p>
            <a:pPr marL="457200" indent="-457200">
              <a:buClrTx/>
              <a:buFont typeface="+mj-lt"/>
              <a:buAutoNum type="arabicPeriod"/>
            </a:pPr>
            <a:endParaRPr lang="en-IN" sz="3000" dirty="0"/>
          </a:p>
          <a:p>
            <a:pPr marL="457200" indent="-457200">
              <a:buClrTx/>
              <a:buFont typeface="+mj-lt"/>
              <a:buAutoNum type="arabicPeriod"/>
            </a:pPr>
            <a:r>
              <a:rPr lang="en-IN" sz="3000" dirty="0"/>
              <a:t>1 * Ultrasonic sensor HC-SR04</a:t>
            </a:r>
          </a:p>
          <a:p>
            <a:pPr marL="457200" indent="-457200">
              <a:buClrTx/>
              <a:buFont typeface="+mj-lt"/>
              <a:buAutoNum type="arabicPeriod"/>
            </a:pPr>
            <a:endParaRPr lang="en-IN" sz="3000" dirty="0"/>
          </a:p>
          <a:p>
            <a:pPr marL="457200" indent="-457200">
              <a:buClrTx/>
              <a:buFont typeface="+mj-lt"/>
              <a:buAutoNum type="arabicPeriod"/>
            </a:pPr>
            <a:endParaRPr lang="en-IN" sz="3000" dirty="0"/>
          </a:p>
          <a:p>
            <a:pPr marL="457200" indent="-457200">
              <a:buClrTx/>
              <a:buFont typeface="+mj-lt"/>
              <a:buAutoNum type="arabicPeriod"/>
            </a:pPr>
            <a:r>
              <a:rPr lang="en-IN" sz="3000" dirty="0"/>
              <a:t>1 * Buzzer</a:t>
            </a:r>
          </a:p>
          <a:p>
            <a:pPr marL="457200" indent="-457200">
              <a:buClrTx/>
              <a:buFont typeface="+mj-lt"/>
              <a:buAutoNum type="arabicPeriod"/>
            </a:pPr>
            <a:endParaRPr lang="en-IN" sz="3000" dirty="0"/>
          </a:p>
          <a:p>
            <a:pPr marL="457200" indent="-457200">
              <a:buClrTx/>
              <a:buFont typeface="+mj-lt"/>
              <a:buAutoNum type="arabicPeriod"/>
            </a:pPr>
            <a:endParaRPr lang="en-IN" sz="3000" dirty="0"/>
          </a:p>
          <a:p>
            <a:pPr marL="457200" indent="-457200">
              <a:buClrTx/>
              <a:buFont typeface="+mj-lt"/>
              <a:buAutoNum type="arabicPeriod"/>
            </a:pPr>
            <a:r>
              <a:rPr lang="en-IN" sz="3000" dirty="0"/>
              <a:t>1 * LCD 1602 Module </a:t>
            </a:r>
          </a:p>
          <a:p>
            <a:pPr marL="457200" indent="-457200">
              <a:buClrTx/>
              <a:buFont typeface="+mj-lt"/>
              <a:buAutoNum type="arabicPeriod"/>
            </a:pPr>
            <a:endParaRPr lang="en-IN" sz="3000" dirty="0"/>
          </a:p>
          <a:p>
            <a:pPr marL="457200" indent="-457200">
              <a:buClrTx/>
              <a:buFont typeface="+mj-lt"/>
              <a:buAutoNum type="arabicPeriod"/>
            </a:pPr>
            <a:endParaRPr lang="en-IN" sz="3000" dirty="0"/>
          </a:p>
          <a:p>
            <a:pPr marL="457200" indent="-457200">
              <a:buClrTx/>
              <a:buFont typeface="+mj-lt"/>
              <a:buAutoNum type="arabicPeriod"/>
            </a:pPr>
            <a:r>
              <a:rPr lang="en-IN" sz="3000" dirty="0"/>
              <a:t>1 * Breadboard </a:t>
            </a:r>
          </a:p>
          <a:p>
            <a:pPr marL="457200" indent="-457200">
              <a:buClrTx/>
              <a:buFont typeface="+mj-lt"/>
              <a:buAutoNum type="arabicPeriod"/>
            </a:pPr>
            <a:endParaRPr lang="en-IN" sz="3000" dirty="0"/>
          </a:p>
          <a:p>
            <a:pPr marL="457200" indent="-457200">
              <a:buClrTx/>
              <a:buFont typeface="+mj-lt"/>
              <a:buAutoNum type="arabicPeriod"/>
            </a:pPr>
            <a:endParaRPr lang="en-IN" sz="3000" dirty="0"/>
          </a:p>
          <a:p>
            <a:pPr marL="457200" indent="-457200">
              <a:buClrTx/>
              <a:buFont typeface="+mj-lt"/>
              <a:buAutoNum type="arabicPeriod"/>
            </a:pPr>
            <a:r>
              <a:rPr lang="en-IN" sz="3000" dirty="0"/>
              <a:t>1 * Potentiometer  </a:t>
            </a:r>
          </a:p>
          <a:p>
            <a:pPr marL="457200" indent="-457200">
              <a:buClrTx/>
              <a:buFont typeface="+mj-lt"/>
              <a:buAutoNum type="arabicPeriod"/>
            </a:pPr>
            <a:endParaRPr lang="en-IN" sz="3000" dirty="0"/>
          </a:p>
          <a:p>
            <a:pPr marL="457200" indent="-457200">
              <a:buClrTx/>
              <a:buFont typeface="+mj-lt"/>
              <a:buAutoNum type="arabicPeriod"/>
            </a:pPr>
            <a:endParaRPr lang="en-IN" sz="3000" dirty="0"/>
          </a:p>
          <a:p>
            <a:pPr marL="457200" indent="-457200">
              <a:buClrTx/>
              <a:buFont typeface="+mj-lt"/>
              <a:buAutoNum type="arabicPeriod"/>
            </a:pPr>
            <a:r>
              <a:rPr lang="en-IN" sz="3000" dirty="0"/>
              <a:t>Several jumper wires for connections </a:t>
            </a:r>
          </a:p>
          <a:p>
            <a:pPr marL="457200" indent="-457200">
              <a:buClrTx/>
              <a:buFont typeface="+mj-lt"/>
              <a:buAutoNum type="arabicPeriod"/>
            </a:pPr>
            <a:endParaRPr lang="en-IN" dirty="0"/>
          </a:p>
        </p:txBody>
      </p:sp>
      <p:pic>
        <p:nvPicPr>
          <p:cNvPr id="7" name="Picture 2"/>
          <p:cNvPicPr>
            <a:picLocks noChangeAspect="1" noChangeArrowheads="1"/>
          </p:cNvPicPr>
          <p:nvPr/>
        </p:nvPicPr>
        <p:blipFill>
          <a:blip r:embed="rId2" cstate="print"/>
          <a:srcRect/>
          <a:stretch>
            <a:fillRect/>
          </a:stretch>
        </p:blipFill>
        <p:spPr bwMode="auto">
          <a:xfrm>
            <a:off x="4429124" y="928670"/>
            <a:ext cx="928694" cy="661420"/>
          </a:xfrm>
          <a:prstGeom prst="rect">
            <a:avLst/>
          </a:prstGeom>
          <a:noFill/>
          <a:ln w="9525">
            <a:noFill/>
            <a:miter lim="800000"/>
            <a:headEnd/>
            <a:tailEnd/>
          </a:ln>
          <a:effectLst/>
        </p:spPr>
      </p:pic>
      <p:pic>
        <p:nvPicPr>
          <p:cNvPr id="8" name="Picture 3"/>
          <p:cNvPicPr>
            <a:picLocks noChangeAspect="1" noChangeArrowheads="1"/>
          </p:cNvPicPr>
          <p:nvPr/>
        </p:nvPicPr>
        <p:blipFill>
          <a:blip r:embed="rId3"/>
          <a:srcRect/>
          <a:stretch>
            <a:fillRect/>
          </a:stretch>
        </p:blipFill>
        <p:spPr bwMode="auto">
          <a:xfrm>
            <a:off x="4429124" y="1500174"/>
            <a:ext cx="858917" cy="785818"/>
          </a:xfrm>
          <a:prstGeom prst="rect">
            <a:avLst/>
          </a:prstGeom>
          <a:noFill/>
          <a:ln w="9525">
            <a:noFill/>
            <a:miter lim="800000"/>
            <a:headEnd/>
            <a:tailEnd/>
          </a:ln>
          <a:effectLst/>
        </p:spPr>
      </p:pic>
      <p:pic>
        <p:nvPicPr>
          <p:cNvPr id="9" name="Picture 4"/>
          <p:cNvPicPr>
            <a:picLocks noChangeAspect="1" noChangeArrowheads="1"/>
          </p:cNvPicPr>
          <p:nvPr/>
        </p:nvPicPr>
        <p:blipFill>
          <a:blip r:embed="rId4" cstate="print"/>
          <a:srcRect/>
          <a:stretch>
            <a:fillRect/>
          </a:stretch>
        </p:blipFill>
        <p:spPr bwMode="auto">
          <a:xfrm>
            <a:off x="4500562" y="2357430"/>
            <a:ext cx="799431" cy="642942"/>
          </a:xfrm>
          <a:prstGeom prst="rect">
            <a:avLst/>
          </a:prstGeom>
          <a:noFill/>
          <a:ln w="9525">
            <a:noFill/>
            <a:miter lim="800000"/>
            <a:headEnd/>
            <a:tailEnd/>
          </a:ln>
          <a:effectLst/>
        </p:spPr>
      </p:pic>
      <p:pic>
        <p:nvPicPr>
          <p:cNvPr id="10" name="Picture 5"/>
          <p:cNvPicPr>
            <a:picLocks noChangeAspect="1" noChangeArrowheads="1"/>
          </p:cNvPicPr>
          <p:nvPr/>
        </p:nvPicPr>
        <p:blipFill>
          <a:blip r:embed="rId5" cstate="print"/>
          <a:srcRect/>
          <a:stretch>
            <a:fillRect/>
          </a:stretch>
        </p:blipFill>
        <p:spPr bwMode="auto">
          <a:xfrm>
            <a:off x="4643438" y="3143248"/>
            <a:ext cx="553859" cy="642942"/>
          </a:xfrm>
          <a:prstGeom prst="rect">
            <a:avLst/>
          </a:prstGeom>
          <a:noFill/>
          <a:ln w="9525">
            <a:noFill/>
            <a:miter lim="800000"/>
            <a:headEnd/>
            <a:tailEnd/>
          </a:ln>
          <a:effectLst/>
        </p:spPr>
      </p:pic>
      <p:pic>
        <p:nvPicPr>
          <p:cNvPr id="11" name="Picture 6"/>
          <p:cNvPicPr>
            <a:picLocks noChangeAspect="1" noChangeArrowheads="1"/>
          </p:cNvPicPr>
          <p:nvPr/>
        </p:nvPicPr>
        <p:blipFill>
          <a:blip r:embed="rId6" cstate="print"/>
          <a:srcRect/>
          <a:stretch>
            <a:fillRect/>
          </a:stretch>
        </p:blipFill>
        <p:spPr bwMode="auto">
          <a:xfrm>
            <a:off x="4429124" y="3714752"/>
            <a:ext cx="928694" cy="723905"/>
          </a:xfrm>
          <a:prstGeom prst="rect">
            <a:avLst/>
          </a:prstGeom>
          <a:noFill/>
          <a:ln w="9525">
            <a:noFill/>
            <a:miter lim="800000"/>
            <a:headEnd/>
            <a:tailEnd/>
          </a:ln>
          <a:effectLst/>
        </p:spPr>
      </p:pic>
      <p:pic>
        <p:nvPicPr>
          <p:cNvPr id="12" name="Picture 7"/>
          <p:cNvPicPr>
            <a:picLocks noChangeAspect="1" noChangeArrowheads="1"/>
          </p:cNvPicPr>
          <p:nvPr/>
        </p:nvPicPr>
        <p:blipFill>
          <a:blip r:embed="rId7" cstate="print"/>
          <a:srcRect/>
          <a:stretch>
            <a:fillRect/>
          </a:stretch>
        </p:blipFill>
        <p:spPr bwMode="auto">
          <a:xfrm>
            <a:off x="4429124" y="4500570"/>
            <a:ext cx="1285884" cy="571504"/>
          </a:xfrm>
          <a:prstGeom prst="rect">
            <a:avLst/>
          </a:prstGeom>
          <a:noFill/>
          <a:ln w="9525">
            <a:noFill/>
            <a:miter lim="800000"/>
            <a:headEnd/>
            <a:tailEnd/>
          </a:ln>
          <a:effectLst/>
        </p:spPr>
      </p:pic>
      <p:pic>
        <p:nvPicPr>
          <p:cNvPr id="13" name="Picture 8"/>
          <p:cNvPicPr>
            <a:picLocks noChangeAspect="1" noChangeArrowheads="1"/>
          </p:cNvPicPr>
          <p:nvPr/>
        </p:nvPicPr>
        <p:blipFill>
          <a:blip r:embed="rId8"/>
          <a:srcRect/>
          <a:stretch>
            <a:fillRect/>
          </a:stretch>
        </p:blipFill>
        <p:spPr bwMode="auto">
          <a:xfrm>
            <a:off x="4714876" y="5143512"/>
            <a:ext cx="696946" cy="785818"/>
          </a:xfrm>
          <a:prstGeom prst="rect">
            <a:avLst/>
          </a:prstGeom>
          <a:noFill/>
          <a:ln w="9525">
            <a:noFill/>
            <a:miter lim="800000"/>
            <a:headEnd/>
            <a:tailEnd/>
          </a:ln>
          <a:effectLst/>
        </p:spPr>
      </p:pic>
      <p:pic>
        <p:nvPicPr>
          <p:cNvPr id="14" name="Picture 9"/>
          <p:cNvPicPr>
            <a:picLocks noChangeAspect="1" noChangeArrowheads="1"/>
          </p:cNvPicPr>
          <p:nvPr/>
        </p:nvPicPr>
        <p:blipFill>
          <a:blip r:embed="rId9" cstate="print"/>
          <a:srcRect/>
          <a:stretch>
            <a:fillRect/>
          </a:stretch>
        </p:blipFill>
        <p:spPr bwMode="auto">
          <a:xfrm>
            <a:off x="4429124" y="5857892"/>
            <a:ext cx="1357322" cy="78071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STEP 1: Setting up Circuit</a:t>
            </a:r>
            <a:br>
              <a:rPr lang="en-IN" dirty="0"/>
            </a:br>
            <a:endParaRPr lang="en-IN" dirty="0"/>
          </a:p>
        </p:txBody>
      </p:sp>
      <p:sp>
        <p:nvSpPr>
          <p:cNvPr id="12" name="Content Placeholder 11"/>
          <p:cNvSpPr>
            <a:spLocks noGrp="1"/>
          </p:cNvSpPr>
          <p:nvPr>
            <p:ph sz="quarter" idx="1"/>
          </p:nvPr>
        </p:nvSpPr>
        <p:spPr>
          <a:xfrm>
            <a:off x="500034" y="1571612"/>
            <a:ext cx="4071966" cy="4873752"/>
          </a:xfrm>
        </p:spPr>
        <p:txBody>
          <a:bodyPr/>
          <a:lstStyle/>
          <a:p>
            <a:r>
              <a:rPr lang="en-IN" dirty="0"/>
              <a:t>The first component that we will connect is the ultrasonic sensor. The sensor has four pins – </a:t>
            </a:r>
            <a:r>
              <a:rPr lang="en-IN" dirty="0" err="1"/>
              <a:t>Vcc</a:t>
            </a:r>
            <a:r>
              <a:rPr lang="en-IN" dirty="0"/>
              <a:t>, Trigger, Echo and Ground. </a:t>
            </a:r>
          </a:p>
          <a:p>
            <a:endParaRPr lang="en-IN" dirty="0"/>
          </a:p>
          <a:p>
            <a:endParaRPr lang="en-IN" dirty="0"/>
          </a:p>
        </p:txBody>
      </p:sp>
      <p:pic>
        <p:nvPicPr>
          <p:cNvPr id="14" name="Picture 2"/>
          <p:cNvPicPr>
            <a:picLocks noChangeAspect="1" noChangeArrowheads="1"/>
          </p:cNvPicPr>
          <p:nvPr/>
        </p:nvPicPr>
        <p:blipFill>
          <a:blip r:embed="rId2"/>
          <a:srcRect/>
          <a:stretch>
            <a:fillRect/>
          </a:stretch>
        </p:blipFill>
        <p:spPr bwMode="auto">
          <a:xfrm>
            <a:off x="4643438" y="1500174"/>
            <a:ext cx="4035806" cy="464347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1: Pin Connections</a:t>
            </a:r>
            <a:br>
              <a:rPr lang="en-IN" dirty="0"/>
            </a:br>
            <a:endParaRPr lang="en-IN" dirty="0"/>
          </a:p>
        </p:txBody>
      </p:sp>
      <p:pic>
        <p:nvPicPr>
          <p:cNvPr id="8194" name="Picture 2"/>
          <p:cNvPicPr>
            <a:picLocks noGrp="1" noChangeAspect="1" noChangeArrowheads="1"/>
          </p:cNvPicPr>
          <p:nvPr>
            <p:ph sz="quarter" idx="1"/>
          </p:nvPr>
        </p:nvPicPr>
        <p:blipFill>
          <a:blip r:embed="rId2"/>
          <a:srcRect/>
          <a:stretch>
            <a:fillRect/>
          </a:stretch>
        </p:blipFill>
        <p:spPr bwMode="auto">
          <a:xfrm>
            <a:off x="2643174" y="1357298"/>
            <a:ext cx="3071834" cy="4470887"/>
          </a:xfrm>
          <a:prstGeom prst="rect">
            <a:avLst/>
          </a:prstGeom>
          <a:noFill/>
          <a:ln w="9525">
            <a:noFill/>
            <a:miter lim="800000"/>
            <a:headEnd/>
            <a:tailEnd/>
          </a:ln>
          <a:effectLst/>
        </p:spPr>
      </p:pic>
      <p:sp>
        <p:nvSpPr>
          <p:cNvPr id="5" name="TextBox 4"/>
          <p:cNvSpPr txBox="1"/>
          <p:nvPr/>
        </p:nvSpPr>
        <p:spPr>
          <a:xfrm>
            <a:off x="3714744" y="5429264"/>
            <a:ext cx="857256" cy="369332"/>
          </a:xfrm>
          <a:prstGeom prst="rect">
            <a:avLst/>
          </a:prstGeom>
          <a:noFill/>
        </p:spPr>
        <p:txBody>
          <a:bodyPr wrap="square" rtlCol="0">
            <a:spAutoFit/>
          </a:bodyPr>
          <a:lstStyle/>
          <a:p>
            <a:r>
              <a:rPr lang="en-IN" b="1" dirty="0"/>
              <a:t>Pin 2</a:t>
            </a:r>
          </a:p>
        </p:txBody>
      </p:sp>
      <p:sp>
        <p:nvSpPr>
          <p:cNvPr id="6" name="TextBox 5"/>
          <p:cNvSpPr txBox="1"/>
          <p:nvPr/>
        </p:nvSpPr>
        <p:spPr>
          <a:xfrm>
            <a:off x="4286248" y="5000636"/>
            <a:ext cx="1000132" cy="369332"/>
          </a:xfrm>
          <a:prstGeom prst="rect">
            <a:avLst/>
          </a:prstGeom>
          <a:noFill/>
        </p:spPr>
        <p:txBody>
          <a:bodyPr wrap="square" rtlCol="0">
            <a:spAutoFit/>
          </a:bodyPr>
          <a:lstStyle/>
          <a:p>
            <a:r>
              <a:rPr lang="en-IN" b="1" dirty="0"/>
              <a:t>Pin 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2: Connecting LCD Screen</a:t>
            </a:r>
            <a:br>
              <a:rPr lang="en-IN" dirty="0"/>
            </a:br>
            <a:endParaRPr lang="en-IN" dirty="0"/>
          </a:p>
        </p:txBody>
      </p:sp>
      <p:sp>
        <p:nvSpPr>
          <p:cNvPr id="5" name="Content Placeholder 4"/>
          <p:cNvSpPr>
            <a:spLocks noGrp="1"/>
          </p:cNvSpPr>
          <p:nvPr>
            <p:ph sz="quarter" idx="1"/>
          </p:nvPr>
        </p:nvSpPr>
        <p:spPr>
          <a:xfrm>
            <a:off x="428596" y="1285860"/>
            <a:ext cx="3257544" cy="4873752"/>
          </a:xfrm>
        </p:spPr>
        <p:txBody>
          <a:bodyPr/>
          <a:lstStyle/>
          <a:p>
            <a:r>
              <a:rPr lang="en-IN" dirty="0"/>
              <a:t>The second component that we will connect is the LCD with 16 pins. There are 4 pins that will remain unconnected so please make sure to connect the remaining 12 pins. A potentiometer in connected for LCD contrast.</a:t>
            </a:r>
          </a:p>
          <a:p>
            <a:endParaRPr lang="en-IN" dirty="0"/>
          </a:p>
        </p:txBody>
      </p:sp>
      <p:pic>
        <p:nvPicPr>
          <p:cNvPr id="7" name="Picture 2"/>
          <p:cNvPicPr>
            <a:picLocks noChangeAspect="1" noChangeArrowheads="1"/>
          </p:cNvPicPr>
          <p:nvPr/>
        </p:nvPicPr>
        <p:blipFill>
          <a:blip r:embed="rId2"/>
          <a:srcRect/>
          <a:stretch>
            <a:fillRect/>
          </a:stretch>
        </p:blipFill>
        <p:spPr bwMode="auto">
          <a:xfrm>
            <a:off x="4071934" y="1071546"/>
            <a:ext cx="4357718" cy="5316416"/>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2" name="Picture 6"/>
          <p:cNvPicPr>
            <a:picLocks noChangeAspect="1" noChangeArrowheads="1"/>
          </p:cNvPicPr>
          <p:nvPr/>
        </p:nvPicPr>
        <p:blipFill>
          <a:blip r:embed="rId2"/>
          <a:srcRect/>
          <a:stretch>
            <a:fillRect/>
          </a:stretch>
        </p:blipFill>
        <p:spPr bwMode="auto">
          <a:xfrm>
            <a:off x="5715008" y="1285860"/>
            <a:ext cx="2928958" cy="3686890"/>
          </a:xfrm>
          <a:prstGeom prst="rect">
            <a:avLst/>
          </a:prstGeom>
          <a:noFill/>
          <a:ln w="9525">
            <a:noFill/>
            <a:miter lim="800000"/>
            <a:headEnd/>
            <a:tailEnd/>
          </a:ln>
          <a:effectLst/>
        </p:spPr>
      </p:pic>
      <p:pic>
        <p:nvPicPr>
          <p:cNvPr id="18" name="Picture 4"/>
          <p:cNvPicPr>
            <a:picLocks noGrp="1" noChangeAspect="1" noChangeArrowheads="1"/>
          </p:cNvPicPr>
          <p:nvPr>
            <p:ph sz="quarter" idx="1"/>
          </p:nvPr>
        </p:nvPicPr>
        <p:blipFill>
          <a:blip r:embed="rId3"/>
          <a:srcRect/>
          <a:stretch>
            <a:fillRect/>
          </a:stretch>
        </p:blipFill>
        <p:spPr bwMode="auto">
          <a:xfrm>
            <a:off x="428596" y="1071546"/>
            <a:ext cx="4786346" cy="5357194"/>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IN" dirty="0"/>
              <a:t>STEP 2: Pin Connections</a:t>
            </a:r>
            <a:br>
              <a:rPr lang="en-IN" dirty="0"/>
            </a:br>
            <a:endParaRPr lang="en-IN" dirty="0"/>
          </a:p>
        </p:txBody>
      </p:sp>
      <p:sp>
        <p:nvSpPr>
          <p:cNvPr id="5" name="TextBox 4"/>
          <p:cNvSpPr txBox="1"/>
          <p:nvPr/>
        </p:nvSpPr>
        <p:spPr>
          <a:xfrm>
            <a:off x="285720" y="5000636"/>
            <a:ext cx="857256" cy="369332"/>
          </a:xfrm>
          <a:prstGeom prst="rect">
            <a:avLst/>
          </a:prstGeom>
          <a:noFill/>
        </p:spPr>
        <p:txBody>
          <a:bodyPr wrap="square" rtlCol="0">
            <a:spAutoFit/>
          </a:bodyPr>
          <a:lstStyle/>
          <a:p>
            <a:r>
              <a:rPr lang="en-IN" dirty="0"/>
              <a:t>3.3 V</a:t>
            </a:r>
          </a:p>
        </p:txBody>
      </p:sp>
      <p:sp>
        <p:nvSpPr>
          <p:cNvPr id="7" name="TextBox 6"/>
          <p:cNvSpPr txBox="1"/>
          <p:nvPr/>
        </p:nvSpPr>
        <p:spPr>
          <a:xfrm>
            <a:off x="1285852" y="5643578"/>
            <a:ext cx="1143008" cy="646331"/>
          </a:xfrm>
          <a:prstGeom prst="rect">
            <a:avLst/>
          </a:prstGeom>
          <a:noFill/>
        </p:spPr>
        <p:txBody>
          <a:bodyPr wrap="square" rtlCol="0">
            <a:spAutoFit/>
          </a:bodyPr>
          <a:lstStyle/>
          <a:p>
            <a:r>
              <a:rPr lang="en-IN" dirty="0"/>
              <a:t>Pin 11</a:t>
            </a:r>
          </a:p>
          <a:p>
            <a:endParaRPr lang="en-IN" dirty="0"/>
          </a:p>
        </p:txBody>
      </p:sp>
      <p:sp>
        <p:nvSpPr>
          <p:cNvPr id="6" name="TextBox 5"/>
          <p:cNvSpPr txBox="1"/>
          <p:nvPr/>
        </p:nvSpPr>
        <p:spPr>
          <a:xfrm>
            <a:off x="357158" y="5929330"/>
            <a:ext cx="1143008" cy="646331"/>
          </a:xfrm>
          <a:prstGeom prst="rect">
            <a:avLst/>
          </a:prstGeom>
          <a:noFill/>
        </p:spPr>
        <p:txBody>
          <a:bodyPr wrap="square" rtlCol="0">
            <a:spAutoFit/>
          </a:bodyPr>
          <a:lstStyle/>
          <a:p>
            <a:r>
              <a:rPr lang="en-IN" dirty="0"/>
              <a:t>Pin 12</a:t>
            </a:r>
          </a:p>
          <a:p>
            <a:endParaRPr lang="en-IN" dirty="0"/>
          </a:p>
        </p:txBody>
      </p:sp>
      <p:sp>
        <p:nvSpPr>
          <p:cNvPr id="8" name="TextBox 7"/>
          <p:cNvSpPr txBox="1"/>
          <p:nvPr/>
        </p:nvSpPr>
        <p:spPr>
          <a:xfrm>
            <a:off x="4500562" y="5072074"/>
            <a:ext cx="1928826" cy="1200329"/>
          </a:xfrm>
          <a:prstGeom prst="rect">
            <a:avLst/>
          </a:prstGeom>
          <a:noFill/>
        </p:spPr>
        <p:txBody>
          <a:bodyPr wrap="square" rtlCol="0">
            <a:spAutoFit/>
          </a:bodyPr>
          <a:lstStyle/>
          <a:p>
            <a:r>
              <a:rPr lang="en-IN" dirty="0"/>
              <a:t>To middle pin of potentiometer</a:t>
            </a:r>
          </a:p>
          <a:p>
            <a:endParaRPr lang="en-IN" dirty="0"/>
          </a:p>
          <a:p>
            <a:endParaRPr lang="en-IN" dirty="0"/>
          </a:p>
        </p:txBody>
      </p:sp>
      <p:sp>
        <p:nvSpPr>
          <p:cNvPr id="10" name="TextBox 9"/>
          <p:cNvSpPr txBox="1"/>
          <p:nvPr/>
        </p:nvSpPr>
        <p:spPr>
          <a:xfrm>
            <a:off x="2643174" y="5857892"/>
            <a:ext cx="1071570" cy="646331"/>
          </a:xfrm>
          <a:prstGeom prst="rect">
            <a:avLst/>
          </a:prstGeom>
          <a:noFill/>
        </p:spPr>
        <p:txBody>
          <a:bodyPr wrap="square" rtlCol="0">
            <a:spAutoFit/>
          </a:bodyPr>
          <a:lstStyle/>
          <a:p>
            <a:r>
              <a:rPr lang="en-IN" dirty="0"/>
              <a:t>Pin 9</a:t>
            </a:r>
          </a:p>
          <a:p>
            <a:endParaRPr lang="en-IN" dirty="0"/>
          </a:p>
        </p:txBody>
      </p:sp>
      <p:sp>
        <p:nvSpPr>
          <p:cNvPr id="9" name="TextBox 8"/>
          <p:cNvSpPr txBox="1"/>
          <p:nvPr/>
        </p:nvSpPr>
        <p:spPr>
          <a:xfrm>
            <a:off x="1785918" y="5929330"/>
            <a:ext cx="1214446" cy="646331"/>
          </a:xfrm>
          <a:prstGeom prst="rect">
            <a:avLst/>
          </a:prstGeom>
          <a:noFill/>
        </p:spPr>
        <p:txBody>
          <a:bodyPr wrap="square" rtlCol="0">
            <a:spAutoFit/>
          </a:bodyPr>
          <a:lstStyle/>
          <a:p>
            <a:r>
              <a:rPr lang="en-IN" dirty="0"/>
              <a:t>Pin 10</a:t>
            </a:r>
          </a:p>
          <a:p>
            <a:endParaRPr lang="en-IN" dirty="0"/>
          </a:p>
        </p:txBody>
      </p:sp>
      <p:sp>
        <p:nvSpPr>
          <p:cNvPr id="14" name="TextBox 13"/>
          <p:cNvSpPr txBox="1"/>
          <p:nvPr/>
        </p:nvSpPr>
        <p:spPr>
          <a:xfrm>
            <a:off x="3286116" y="5786454"/>
            <a:ext cx="1214446" cy="646331"/>
          </a:xfrm>
          <a:prstGeom prst="rect">
            <a:avLst/>
          </a:prstGeom>
          <a:noFill/>
        </p:spPr>
        <p:txBody>
          <a:bodyPr wrap="square" rtlCol="0">
            <a:spAutoFit/>
          </a:bodyPr>
          <a:lstStyle/>
          <a:p>
            <a:r>
              <a:rPr lang="en-IN" dirty="0"/>
              <a:t>Pin 8</a:t>
            </a:r>
          </a:p>
          <a:p>
            <a:endParaRPr lang="en-IN" dirty="0"/>
          </a:p>
        </p:txBody>
      </p:sp>
      <p:sp>
        <p:nvSpPr>
          <p:cNvPr id="15" name="TextBox 14"/>
          <p:cNvSpPr txBox="1"/>
          <p:nvPr/>
        </p:nvSpPr>
        <p:spPr>
          <a:xfrm>
            <a:off x="4000496" y="5929330"/>
            <a:ext cx="1214446" cy="646331"/>
          </a:xfrm>
          <a:prstGeom prst="rect">
            <a:avLst/>
          </a:prstGeom>
          <a:noFill/>
        </p:spPr>
        <p:txBody>
          <a:bodyPr wrap="square" rtlCol="0">
            <a:spAutoFit/>
          </a:bodyPr>
          <a:lstStyle/>
          <a:p>
            <a:r>
              <a:rPr lang="en-IN" dirty="0"/>
              <a:t>Pin 7</a:t>
            </a:r>
          </a:p>
          <a:p>
            <a:endParaRPr lang="en-IN" dirty="0"/>
          </a:p>
        </p:txBody>
      </p:sp>
      <p:sp>
        <p:nvSpPr>
          <p:cNvPr id="20" name="TextBox 19"/>
          <p:cNvSpPr txBox="1"/>
          <p:nvPr/>
        </p:nvSpPr>
        <p:spPr>
          <a:xfrm>
            <a:off x="6500826" y="4357694"/>
            <a:ext cx="2098651" cy="369332"/>
          </a:xfrm>
          <a:prstGeom prst="rect">
            <a:avLst/>
          </a:prstGeom>
          <a:noFill/>
        </p:spPr>
        <p:txBody>
          <a:bodyPr wrap="none" rtlCol="0">
            <a:spAutoFit/>
          </a:bodyPr>
          <a:lstStyle/>
          <a:p>
            <a:r>
              <a:rPr lang="en-IN" dirty="0"/>
              <a:t>To 3</a:t>
            </a:r>
            <a:r>
              <a:rPr lang="en-IN" baseline="30000" dirty="0"/>
              <a:t>rd</a:t>
            </a:r>
            <a:r>
              <a:rPr lang="en-IN" dirty="0"/>
              <a:t> pin on LCD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CHECKPOINT 1</a:t>
            </a:r>
            <a:br>
              <a:rPr lang="en-IN" dirty="0"/>
            </a:br>
            <a:endParaRPr lang="en-IN" dirty="0"/>
          </a:p>
        </p:txBody>
      </p:sp>
      <p:sp>
        <p:nvSpPr>
          <p:cNvPr id="5" name="Content Placeholder 4"/>
          <p:cNvSpPr>
            <a:spLocks noGrp="1"/>
          </p:cNvSpPr>
          <p:nvPr>
            <p:ph sz="quarter" idx="1"/>
          </p:nvPr>
        </p:nvSpPr>
        <p:spPr>
          <a:xfrm>
            <a:off x="571472" y="1142984"/>
            <a:ext cx="7467600" cy="4873752"/>
          </a:xfrm>
        </p:spPr>
        <p:txBody>
          <a:bodyPr/>
          <a:lstStyle/>
          <a:p>
            <a:r>
              <a:rPr lang="en-IN" dirty="0"/>
              <a:t>At this point, this is what your circuit should look like:</a:t>
            </a:r>
          </a:p>
          <a:p>
            <a:endParaRPr lang="en-IN" dirty="0"/>
          </a:p>
        </p:txBody>
      </p:sp>
      <p:pic>
        <p:nvPicPr>
          <p:cNvPr id="6" name="Picture 2"/>
          <p:cNvPicPr>
            <a:picLocks noChangeAspect="1" noChangeArrowheads="1"/>
          </p:cNvPicPr>
          <p:nvPr/>
        </p:nvPicPr>
        <p:blipFill>
          <a:blip r:embed="rId2"/>
          <a:srcRect/>
          <a:stretch>
            <a:fillRect/>
          </a:stretch>
        </p:blipFill>
        <p:spPr bwMode="auto">
          <a:xfrm>
            <a:off x="1785918" y="1643050"/>
            <a:ext cx="6000792" cy="4943834"/>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3: Connecting the Buzzer</a:t>
            </a:r>
            <a:br>
              <a:rPr lang="en-IN" dirty="0"/>
            </a:br>
            <a:endParaRPr lang="en-IN" dirty="0"/>
          </a:p>
        </p:txBody>
      </p:sp>
      <p:sp>
        <p:nvSpPr>
          <p:cNvPr id="3" name="Content Placeholder 2"/>
          <p:cNvSpPr>
            <a:spLocks noGrp="1"/>
          </p:cNvSpPr>
          <p:nvPr>
            <p:ph sz="quarter" idx="1"/>
          </p:nvPr>
        </p:nvSpPr>
        <p:spPr>
          <a:xfrm>
            <a:off x="457200" y="1600200"/>
            <a:ext cx="3186106" cy="4873752"/>
          </a:xfrm>
        </p:spPr>
        <p:txBody>
          <a:bodyPr/>
          <a:lstStyle/>
          <a:p>
            <a:r>
              <a:rPr lang="en-IN" dirty="0"/>
              <a:t>Connect the positive terminal to pin 7 and negative terminal to ground. Make sure to avoid switching the terminals. </a:t>
            </a:r>
          </a:p>
        </p:txBody>
      </p:sp>
      <p:pic>
        <p:nvPicPr>
          <p:cNvPr id="5" name="Picture 2"/>
          <p:cNvPicPr>
            <a:picLocks noChangeAspect="1" noChangeArrowheads="1"/>
          </p:cNvPicPr>
          <p:nvPr/>
        </p:nvPicPr>
        <p:blipFill>
          <a:blip r:embed="rId2"/>
          <a:srcRect/>
          <a:stretch>
            <a:fillRect/>
          </a:stretch>
        </p:blipFill>
        <p:spPr bwMode="auto">
          <a:xfrm>
            <a:off x="4143371" y="1428736"/>
            <a:ext cx="3728171" cy="464347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3: Pin Connections</a:t>
            </a:r>
            <a:br>
              <a:rPr lang="en-IN" dirty="0"/>
            </a:br>
            <a:endParaRPr lang="en-IN" dirty="0"/>
          </a:p>
        </p:txBody>
      </p:sp>
      <p:pic>
        <p:nvPicPr>
          <p:cNvPr id="6" name="Picture 2"/>
          <p:cNvPicPr>
            <a:picLocks noGrp="1" noChangeAspect="1" noChangeArrowheads="1"/>
          </p:cNvPicPr>
          <p:nvPr>
            <p:ph sz="quarter" idx="1"/>
          </p:nvPr>
        </p:nvPicPr>
        <p:blipFill>
          <a:blip r:embed="rId2"/>
          <a:srcRect/>
          <a:stretch>
            <a:fillRect/>
          </a:stretch>
        </p:blipFill>
        <p:spPr bwMode="auto">
          <a:xfrm>
            <a:off x="2714612" y="1285860"/>
            <a:ext cx="3071834" cy="4003114"/>
          </a:xfrm>
          <a:prstGeom prst="rect">
            <a:avLst/>
          </a:prstGeom>
          <a:noFill/>
          <a:ln w="9525">
            <a:noFill/>
            <a:miter lim="800000"/>
            <a:headEnd/>
            <a:tailEnd/>
          </a:ln>
          <a:effectLst/>
        </p:spPr>
      </p:pic>
      <p:sp>
        <p:nvSpPr>
          <p:cNvPr id="5" name="TextBox 4"/>
          <p:cNvSpPr txBox="1"/>
          <p:nvPr/>
        </p:nvSpPr>
        <p:spPr>
          <a:xfrm>
            <a:off x="4214810" y="5072074"/>
            <a:ext cx="928694" cy="646331"/>
          </a:xfrm>
          <a:prstGeom prst="rect">
            <a:avLst/>
          </a:prstGeom>
          <a:noFill/>
        </p:spPr>
        <p:txBody>
          <a:bodyPr wrap="square" rtlCol="0">
            <a:spAutoFit/>
          </a:bodyPr>
          <a:lstStyle/>
          <a:p>
            <a:r>
              <a:rPr lang="en-IN" dirty="0"/>
              <a:t>Pin 7</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4: Power the Breadboard</a:t>
            </a:r>
            <a:br>
              <a:rPr lang="en-IN" dirty="0"/>
            </a:br>
            <a:endParaRPr lang="en-IN" dirty="0"/>
          </a:p>
        </p:txBody>
      </p:sp>
      <p:sp>
        <p:nvSpPr>
          <p:cNvPr id="3" name="Content Placeholder 2"/>
          <p:cNvSpPr>
            <a:spLocks noGrp="1"/>
          </p:cNvSpPr>
          <p:nvPr>
            <p:ph sz="quarter" idx="1"/>
          </p:nvPr>
        </p:nvSpPr>
        <p:spPr>
          <a:xfrm>
            <a:off x="457200" y="1600200"/>
            <a:ext cx="8186766" cy="4873752"/>
          </a:xfrm>
        </p:spPr>
        <p:txBody>
          <a:bodyPr/>
          <a:lstStyle/>
          <a:p>
            <a:r>
              <a:rPr lang="en-IN" dirty="0"/>
              <a:t>This should be the last step in building the circuit</a:t>
            </a:r>
          </a:p>
          <a:p>
            <a:endParaRPr lang="en-IN" dirty="0"/>
          </a:p>
          <a:p>
            <a:endParaRPr lang="en-IN" dirty="0"/>
          </a:p>
        </p:txBody>
      </p:sp>
      <p:pic>
        <p:nvPicPr>
          <p:cNvPr id="8" name="Content Placeholder 3"/>
          <p:cNvPicPr>
            <a:picLocks noChangeAspect="1" noChangeArrowheads="1"/>
          </p:cNvPicPr>
          <p:nvPr/>
        </p:nvPicPr>
        <p:blipFill>
          <a:blip r:embed="rId2"/>
          <a:srcRect/>
          <a:stretch>
            <a:fillRect/>
          </a:stretch>
        </p:blipFill>
        <p:spPr bwMode="auto">
          <a:xfrm>
            <a:off x="1000100" y="2357430"/>
            <a:ext cx="6717277" cy="3663969"/>
          </a:xfrm>
          <a:prstGeom prst="rect">
            <a:avLst/>
          </a:prstGeom>
          <a:noFill/>
          <a:ln w="9525">
            <a:noFill/>
            <a:miter lim="800000"/>
            <a:headEnd/>
            <a:tailEnd/>
          </a:ln>
          <a:effectLst/>
        </p:spPr>
      </p:pic>
      <p:sp>
        <p:nvSpPr>
          <p:cNvPr id="9" name="TextBox 8"/>
          <p:cNvSpPr txBox="1"/>
          <p:nvPr/>
        </p:nvSpPr>
        <p:spPr>
          <a:xfrm>
            <a:off x="785786" y="4429132"/>
            <a:ext cx="1643074" cy="1477328"/>
          </a:xfrm>
          <a:prstGeom prst="rect">
            <a:avLst/>
          </a:prstGeom>
          <a:solidFill>
            <a:schemeClr val="bg2"/>
          </a:solidFill>
          <a:ln>
            <a:solidFill>
              <a:schemeClr val="tx1"/>
            </a:solidFill>
          </a:ln>
        </p:spPr>
        <p:txBody>
          <a:bodyPr wrap="square" rtlCol="0">
            <a:spAutoFit/>
          </a:bodyPr>
          <a:lstStyle/>
          <a:p>
            <a:r>
              <a:rPr lang="en-IN" dirty="0"/>
              <a:t>Power (red wire) to 5V and Ground (black wire)</a:t>
            </a: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FINAL CHECKPOINT</a:t>
            </a:r>
            <a:br>
              <a:rPr lang="en-IN" dirty="0"/>
            </a:br>
            <a:endParaRPr lang="en-IN" dirty="0"/>
          </a:p>
        </p:txBody>
      </p:sp>
      <p:pic>
        <p:nvPicPr>
          <p:cNvPr id="11266" name="Picture 2"/>
          <p:cNvPicPr>
            <a:picLocks noGrp="1" noChangeAspect="1" noChangeArrowheads="1"/>
          </p:cNvPicPr>
          <p:nvPr>
            <p:ph sz="quarter" idx="1"/>
          </p:nvPr>
        </p:nvPicPr>
        <p:blipFill>
          <a:blip r:embed="rId2"/>
          <a:srcRect/>
          <a:stretch>
            <a:fillRect/>
          </a:stretch>
        </p:blipFill>
        <p:spPr bwMode="auto">
          <a:xfrm>
            <a:off x="714348" y="1071546"/>
            <a:ext cx="7429552" cy="538736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5: Programming in </a:t>
            </a:r>
            <a:r>
              <a:rPr lang="en-IN" dirty="0" err="1"/>
              <a:t>Arduino</a:t>
            </a:r>
            <a:br>
              <a:rPr lang="en-IN" dirty="0"/>
            </a:br>
            <a:endParaRPr lang="en-IN" dirty="0"/>
          </a:p>
        </p:txBody>
      </p:sp>
      <p:sp>
        <p:nvSpPr>
          <p:cNvPr id="3" name="Content Placeholder 2"/>
          <p:cNvSpPr>
            <a:spLocks noGrp="1"/>
          </p:cNvSpPr>
          <p:nvPr>
            <p:ph sz="quarter" idx="1"/>
          </p:nvPr>
        </p:nvSpPr>
        <p:spPr>
          <a:xfrm>
            <a:off x="571472" y="1071546"/>
            <a:ext cx="4143404" cy="4873752"/>
          </a:xfrm>
        </p:spPr>
        <p:txBody>
          <a:bodyPr>
            <a:normAutofit lnSpcReduction="10000"/>
          </a:bodyPr>
          <a:lstStyle/>
          <a:p>
            <a:r>
              <a:rPr lang="en-IN" dirty="0"/>
              <a:t>To connect the </a:t>
            </a:r>
            <a:r>
              <a:rPr lang="en-IN" dirty="0" err="1"/>
              <a:t>Arduino</a:t>
            </a:r>
            <a:r>
              <a:rPr lang="en-IN" dirty="0"/>
              <a:t> to your PC, use the USB cable.</a:t>
            </a:r>
          </a:p>
          <a:p>
            <a:r>
              <a:rPr lang="en-IN" dirty="0"/>
              <a:t>After it is connected, open the </a:t>
            </a:r>
            <a:r>
              <a:rPr lang="en-IN" dirty="0" err="1"/>
              <a:t>Arduino</a:t>
            </a:r>
            <a:r>
              <a:rPr lang="en-IN" dirty="0"/>
              <a:t> program and under File in the upper left corner, open a new sketch by pressing CTRL+N</a:t>
            </a:r>
          </a:p>
          <a:p>
            <a:r>
              <a:rPr lang="en-IN" dirty="0"/>
              <a:t>Save this new file under a directory you can access and name it whatever you prefer. I have named it Module1.1</a:t>
            </a:r>
          </a:p>
          <a:p>
            <a:endParaRPr lang="en-IN" dirty="0"/>
          </a:p>
        </p:txBody>
      </p:sp>
      <p:pic>
        <p:nvPicPr>
          <p:cNvPr id="5" name="Picture 2"/>
          <p:cNvPicPr>
            <a:picLocks noChangeAspect="1" noChangeArrowheads="1"/>
          </p:cNvPicPr>
          <p:nvPr/>
        </p:nvPicPr>
        <p:blipFill>
          <a:blip r:embed="rId2"/>
          <a:srcRect/>
          <a:stretch>
            <a:fillRect/>
          </a:stretch>
        </p:blipFill>
        <p:spPr bwMode="auto">
          <a:xfrm>
            <a:off x="4786314" y="1214422"/>
            <a:ext cx="3767415" cy="4500594"/>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6: Choosing the COM Port</a:t>
            </a:r>
            <a:br>
              <a:rPr lang="en-IN" dirty="0"/>
            </a:br>
            <a:endParaRPr lang="en-IN" dirty="0"/>
          </a:p>
        </p:txBody>
      </p:sp>
      <p:sp>
        <p:nvSpPr>
          <p:cNvPr id="3" name="Content Placeholder 2"/>
          <p:cNvSpPr>
            <a:spLocks noGrp="1"/>
          </p:cNvSpPr>
          <p:nvPr>
            <p:ph sz="quarter" idx="1"/>
          </p:nvPr>
        </p:nvSpPr>
        <p:spPr>
          <a:xfrm>
            <a:off x="214282" y="1214422"/>
            <a:ext cx="2714644" cy="4857784"/>
          </a:xfrm>
        </p:spPr>
        <p:txBody>
          <a:bodyPr>
            <a:normAutofit fontScale="92500" lnSpcReduction="10000"/>
          </a:bodyPr>
          <a:lstStyle/>
          <a:p>
            <a:r>
              <a:rPr lang="en-IN" dirty="0"/>
              <a:t>Make sure your </a:t>
            </a:r>
            <a:r>
              <a:rPr lang="en-IN" dirty="0" err="1"/>
              <a:t>Arduino</a:t>
            </a:r>
            <a:r>
              <a:rPr lang="en-IN" dirty="0"/>
              <a:t> is connected to your PC.</a:t>
            </a:r>
          </a:p>
          <a:p>
            <a:r>
              <a:rPr lang="en-IN" dirty="0"/>
              <a:t>To select the right COM port, go under Tools on the top bar next to Sketch. </a:t>
            </a:r>
          </a:p>
          <a:p>
            <a:r>
              <a:rPr lang="en-IN" dirty="0"/>
              <a:t>Select the highest number of COM port available</a:t>
            </a:r>
          </a:p>
          <a:p>
            <a:r>
              <a:rPr lang="en-IN" dirty="0"/>
              <a:t>(You may have a different value)</a:t>
            </a:r>
          </a:p>
          <a:p>
            <a:endParaRPr lang="en-IN" dirty="0"/>
          </a:p>
        </p:txBody>
      </p:sp>
      <p:pic>
        <p:nvPicPr>
          <p:cNvPr id="5" name="Picture 2"/>
          <p:cNvPicPr>
            <a:picLocks noChangeAspect="1" noChangeArrowheads="1"/>
          </p:cNvPicPr>
          <p:nvPr/>
        </p:nvPicPr>
        <p:blipFill>
          <a:blip r:embed="rId2"/>
          <a:srcRect/>
          <a:stretch>
            <a:fillRect/>
          </a:stretch>
        </p:blipFill>
        <p:spPr bwMode="auto">
          <a:xfrm>
            <a:off x="2928926" y="1285860"/>
            <a:ext cx="6000792" cy="4567255"/>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7: Let’s Begin our Coding!</a:t>
            </a:r>
            <a:br>
              <a:rPr lang="en-IN" dirty="0"/>
            </a:br>
            <a:endParaRPr lang="en-IN" dirty="0"/>
          </a:p>
        </p:txBody>
      </p:sp>
      <p:sp>
        <p:nvSpPr>
          <p:cNvPr id="3" name="Content Placeholder 2"/>
          <p:cNvSpPr>
            <a:spLocks noGrp="1"/>
          </p:cNvSpPr>
          <p:nvPr>
            <p:ph sz="quarter" idx="1"/>
          </p:nvPr>
        </p:nvSpPr>
        <p:spPr/>
        <p:txBody>
          <a:bodyPr/>
          <a:lstStyle/>
          <a:p>
            <a:r>
              <a:rPr lang="en-IN" dirty="0"/>
              <a:t>We must first set up our variables:</a:t>
            </a:r>
          </a:p>
          <a:p>
            <a:endParaRPr lang="en-IN" dirty="0"/>
          </a:p>
          <a:p>
            <a:endParaRPr lang="en-IN" dirty="0"/>
          </a:p>
        </p:txBody>
      </p:sp>
      <p:pic>
        <p:nvPicPr>
          <p:cNvPr id="6" name="Picture 2"/>
          <p:cNvPicPr>
            <a:picLocks noChangeAspect="1" noChangeArrowheads="1"/>
          </p:cNvPicPr>
          <p:nvPr/>
        </p:nvPicPr>
        <p:blipFill>
          <a:blip r:embed="rId2"/>
          <a:srcRect/>
          <a:stretch>
            <a:fillRect/>
          </a:stretch>
        </p:blipFill>
        <p:spPr bwMode="auto">
          <a:xfrm>
            <a:off x="785786" y="2214554"/>
            <a:ext cx="6771922" cy="1500198"/>
          </a:xfrm>
          <a:prstGeom prst="rect">
            <a:avLst/>
          </a:prstGeom>
          <a:noFill/>
          <a:ln w="9525">
            <a:noFill/>
            <a:miter lim="800000"/>
            <a:headEnd/>
            <a:tailEnd/>
          </a:ln>
          <a:effectLst/>
        </p:spPr>
      </p:pic>
      <p:sp>
        <p:nvSpPr>
          <p:cNvPr id="8" name="TextBox 7"/>
          <p:cNvSpPr txBox="1"/>
          <p:nvPr/>
        </p:nvSpPr>
        <p:spPr>
          <a:xfrm>
            <a:off x="714348" y="3857628"/>
            <a:ext cx="7500990" cy="2215991"/>
          </a:xfrm>
          <a:prstGeom prst="rect">
            <a:avLst/>
          </a:prstGeom>
          <a:noFill/>
        </p:spPr>
        <p:txBody>
          <a:bodyPr wrap="square" rtlCol="0">
            <a:spAutoFit/>
          </a:bodyPr>
          <a:lstStyle/>
          <a:p>
            <a:r>
              <a:rPr lang="en-IN" sz="2400" dirty="0"/>
              <a:t>To include </a:t>
            </a:r>
            <a:r>
              <a:rPr lang="en-IN" sz="2400" dirty="0" err="1"/>
              <a:t>LiquidCrystal.h</a:t>
            </a:r>
            <a:r>
              <a:rPr lang="en-IN" sz="2400" dirty="0"/>
              <a:t> (which is a library) go to Sketch and Include Library. Click on Manage Libraries and in the pop-up window, search for </a:t>
            </a:r>
            <a:r>
              <a:rPr lang="en-IN" sz="2400" dirty="0" err="1"/>
              <a:t>LiquidCrystal</a:t>
            </a:r>
            <a:r>
              <a:rPr lang="en-IN" sz="2400" dirty="0"/>
              <a:t> and make sure it is installed.</a:t>
            </a:r>
          </a:p>
          <a:p>
            <a:r>
              <a:rPr lang="en-IN" sz="2400" dirty="0"/>
              <a:t>The following slides depict the process.</a:t>
            </a:r>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8: Add Library – Step 1</a:t>
            </a:r>
            <a:br>
              <a:rPr lang="en-IN" dirty="0"/>
            </a:br>
            <a:endParaRPr lang="en-IN" dirty="0"/>
          </a:p>
        </p:txBody>
      </p:sp>
      <p:pic>
        <p:nvPicPr>
          <p:cNvPr id="6" name="Picture 3"/>
          <p:cNvPicPr>
            <a:picLocks noGrp="1" noChangeAspect="1" noChangeArrowheads="1"/>
          </p:cNvPicPr>
          <p:nvPr>
            <p:ph sz="quarter" idx="1"/>
          </p:nvPr>
        </p:nvPicPr>
        <p:blipFill>
          <a:blip r:embed="rId2"/>
          <a:srcRect/>
          <a:stretch>
            <a:fillRect/>
          </a:stretch>
        </p:blipFill>
        <p:spPr bwMode="auto">
          <a:xfrm>
            <a:off x="1071538" y="1428736"/>
            <a:ext cx="6778917" cy="428628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8: Add Library – Step 2</a:t>
            </a:r>
            <a:br>
              <a:rPr lang="en-IN" dirty="0"/>
            </a:br>
            <a:endParaRPr lang="en-IN" dirty="0"/>
          </a:p>
        </p:txBody>
      </p:sp>
      <p:pic>
        <p:nvPicPr>
          <p:cNvPr id="5" name="Picture 3"/>
          <p:cNvPicPr>
            <a:picLocks noGrp="1" noChangeAspect="1" noChangeArrowheads="1"/>
          </p:cNvPicPr>
          <p:nvPr>
            <p:ph sz="quarter" idx="1"/>
          </p:nvPr>
        </p:nvPicPr>
        <p:blipFill>
          <a:blip r:embed="rId2"/>
          <a:srcRect/>
          <a:stretch>
            <a:fillRect/>
          </a:stretch>
        </p:blipFill>
        <p:spPr bwMode="auto">
          <a:xfrm>
            <a:off x="642910" y="1785926"/>
            <a:ext cx="7934516" cy="250033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9: Let’s Continue</a:t>
            </a:r>
            <a:br>
              <a:rPr lang="en-IN" dirty="0"/>
            </a:br>
            <a:endParaRPr lang="en-IN" dirty="0"/>
          </a:p>
        </p:txBody>
      </p:sp>
      <p:sp>
        <p:nvSpPr>
          <p:cNvPr id="7" name="Content Placeholder 6"/>
          <p:cNvSpPr>
            <a:spLocks noGrp="1"/>
          </p:cNvSpPr>
          <p:nvPr>
            <p:ph sz="quarter" idx="1"/>
          </p:nvPr>
        </p:nvSpPr>
        <p:spPr>
          <a:xfrm>
            <a:off x="428596" y="1142984"/>
            <a:ext cx="7467600" cy="4873752"/>
          </a:xfrm>
        </p:spPr>
        <p:txBody>
          <a:bodyPr/>
          <a:lstStyle/>
          <a:p>
            <a:r>
              <a:rPr lang="en-IN" dirty="0"/>
              <a:t>The </a:t>
            </a:r>
            <a:r>
              <a:rPr lang="en-IN" i="1" dirty="0"/>
              <a:t>setup( ) </a:t>
            </a:r>
            <a:r>
              <a:rPr lang="en-IN" dirty="0"/>
              <a:t>function includes code that is executed only once during the program. The buzzer and LCD act as output while the input is the signal received from the </a:t>
            </a:r>
            <a:r>
              <a:rPr lang="en-IN" dirty="0" err="1"/>
              <a:t>EchoPin</a:t>
            </a:r>
            <a:r>
              <a:rPr lang="en-IN" dirty="0"/>
              <a:t>.</a:t>
            </a:r>
          </a:p>
          <a:p>
            <a:endParaRPr lang="en-IN" dirty="0"/>
          </a:p>
        </p:txBody>
      </p:sp>
      <p:pic>
        <p:nvPicPr>
          <p:cNvPr id="12" name="Picture 3"/>
          <p:cNvPicPr>
            <a:picLocks noChangeAspect="1" noChangeArrowheads="1"/>
          </p:cNvPicPr>
          <p:nvPr/>
        </p:nvPicPr>
        <p:blipFill>
          <a:blip r:embed="rId2"/>
          <a:srcRect/>
          <a:stretch>
            <a:fillRect/>
          </a:stretch>
        </p:blipFill>
        <p:spPr bwMode="auto">
          <a:xfrm>
            <a:off x="714348" y="2928934"/>
            <a:ext cx="6502567" cy="2928958"/>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STEP 10: Setting up the Loop( ) Function</a:t>
            </a:r>
            <a:br>
              <a:rPr lang="en-IN" dirty="0"/>
            </a:br>
            <a:r>
              <a:rPr lang="en-IN" dirty="0"/>
              <a:t>  </a:t>
            </a:r>
          </a:p>
        </p:txBody>
      </p:sp>
      <p:sp>
        <p:nvSpPr>
          <p:cNvPr id="8" name="Content Placeholder 7"/>
          <p:cNvSpPr>
            <a:spLocks noGrp="1"/>
          </p:cNvSpPr>
          <p:nvPr>
            <p:ph sz="quarter" idx="1"/>
          </p:nvPr>
        </p:nvSpPr>
        <p:spPr/>
        <p:txBody>
          <a:bodyPr/>
          <a:lstStyle/>
          <a:p>
            <a:r>
              <a:rPr lang="en-IN" dirty="0"/>
              <a:t>The </a:t>
            </a:r>
            <a:r>
              <a:rPr lang="en-IN" i="1" dirty="0"/>
              <a:t>loop( ) </a:t>
            </a:r>
            <a:r>
              <a:rPr lang="en-IN" dirty="0"/>
              <a:t>function includes code that is executed several times during the program which is crucial for calculating the changing distance of an object.</a:t>
            </a:r>
          </a:p>
          <a:p>
            <a:endParaRPr lang="en-IN" dirty="0"/>
          </a:p>
        </p:txBody>
      </p:sp>
      <p:pic>
        <p:nvPicPr>
          <p:cNvPr id="9" name="Picture 2"/>
          <p:cNvPicPr>
            <a:picLocks noChangeAspect="1" noChangeArrowheads="1"/>
          </p:cNvPicPr>
          <p:nvPr/>
        </p:nvPicPr>
        <p:blipFill>
          <a:blip r:embed="rId2"/>
          <a:srcRect/>
          <a:stretch>
            <a:fillRect/>
          </a:stretch>
        </p:blipFill>
        <p:spPr bwMode="auto">
          <a:xfrm>
            <a:off x="928662" y="3286124"/>
            <a:ext cx="6672706" cy="252573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STEP 10: Setting up the Loop( ) Function</a:t>
            </a:r>
            <a:br>
              <a:rPr lang="en-IN" dirty="0"/>
            </a:br>
            <a:endParaRPr lang="en-IN" dirty="0"/>
          </a:p>
        </p:txBody>
      </p:sp>
      <p:sp>
        <p:nvSpPr>
          <p:cNvPr id="5" name="Content Placeholder 4"/>
          <p:cNvSpPr>
            <a:spLocks noGrp="1"/>
          </p:cNvSpPr>
          <p:nvPr>
            <p:ph sz="quarter" idx="1"/>
          </p:nvPr>
        </p:nvSpPr>
        <p:spPr>
          <a:xfrm>
            <a:off x="428596" y="1285860"/>
            <a:ext cx="7467600" cy="4873752"/>
          </a:xfrm>
        </p:spPr>
        <p:txBody>
          <a:bodyPr/>
          <a:lstStyle/>
          <a:p>
            <a:r>
              <a:rPr lang="en-IN" dirty="0"/>
              <a:t>Calculations for distance are coded as below. The first line reads the pulses at the Echo pin, and records the time between the pulse becoming high and then turning into low, which is the length of a pulse. Then the length is converted into centimetres.</a:t>
            </a:r>
          </a:p>
          <a:p>
            <a:r>
              <a:rPr lang="en-IN" dirty="0"/>
              <a:t>The second line depicts distance converted from time into a number with two decimal places.</a:t>
            </a:r>
          </a:p>
          <a:p>
            <a:endParaRPr lang="en-IN" dirty="0"/>
          </a:p>
        </p:txBody>
      </p:sp>
      <p:pic>
        <p:nvPicPr>
          <p:cNvPr id="8" name="Picture 3"/>
          <p:cNvPicPr>
            <a:picLocks noChangeAspect="1" noChangeArrowheads="1"/>
          </p:cNvPicPr>
          <p:nvPr/>
        </p:nvPicPr>
        <p:blipFill>
          <a:blip r:embed="rId2"/>
          <a:srcRect/>
          <a:stretch>
            <a:fillRect/>
          </a:stretch>
        </p:blipFill>
        <p:spPr bwMode="auto">
          <a:xfrm>
            <a:off x="2000232" y="4572008"/>
            <a:ext cx="4870012" cy="1643074"/>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STEP 10: Setting up the Loop( ) Function</a:t>
            </a:r>
            <a:br>
              <a:rPr lang="en-IN" dirty="0"/>
            </a:br>
            <a:endParaRPr lang="en-IN" dirty="0"/>
          </a:p>
        </p:txBody>
      </p:sp>
      <p:sp>
        <p:nvSpPr>
          <p:cNvPr id="3" name="Content Placeholder 2"/>
          <p:cNvSpPr>
            <a:spLocks noGrp="1"/>
          </p:cNvSpPr>
          <p:nvPr>
            <p:ph sz="quarter" idx="1"/>
          </p:nvPr>
        </p:nvSpPr>
        <p:spPr>
          <a:xfrm>
            <a:off x="571472" y="1428736"/>
            <a:ext cx="7400948" cy="4873752"/>
          </a:xfrm>
        </p:spPr>
        <p:txBody>
          <a:bodyPr/>
          <a:lstStyle/>
          <a:p>
            <a:r>
              <a:rPr lang="en-IN" dirty="0"/>
              <a:t>The next block describes the coding for the LCD screen</a:t>
            </a:r>
          </a:p>
          <a:p>
            <a:endParaRPr lang="en-IN" dirty="0"/>
          </a:p>
        </p:txBody>
      </p:sp>
      <p:pic>
        <p:nvPicPr>
          <p:cNvPr id="4" name="Picture 4"/>
          <p:cNvPicPr>
            <a:picLocks noChangeAspect="1" noChangeArrowheads="1"/>
          </p:cNvPicPr>
          <p:nvPr/>
        </p:nvPicPr>
        <p:blipFill>
          <a:blip r:embed="rId2"/>
          <a:srcRect/>
          <a:stretch>
            <a:fillRect/>
          </a:stretch>
        </p:blipFill>
        <p:spPr bwMode="auto">
          <a:xfrm>
            <a:off x="214282" y="2714620"/>
            <a:ext cx="8715404" cy="2786082"/>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STEP 10: Setting up the Loop( ) Function</a:t>
            </a:r>
            <a:br>
              <a:rPr lang="en-IN" dirty="0"/>
            </a:br>
            <a:endParaRPr lang="en-IN" dirty="0"/>
          </a:p>
        </p:txBody>
      </p:sp>
      <p:sp>
        <p:nvSpPr>
          <p:cNvPr id="8" name="Content Placeholder 7"/>
          <p:cNvSpPr>
            <a:spLocks noGrp="1"/>
          </p:cNvSpPr>
          <p:nvPr>
            <p:ph sz="quarter" idx="1"/>
          </p:nvPr>
        </p:nvSpPr>
        <p:spPr>
          <a:xfrm>
            <a:off x="571472" y="1285860"/>
            <a:ext cx="7467600" cy="4873752"/>
          </a:xfrm>
        </p:spPr>
        <p:txBody>
          <a:bodyPr/>
          <a:lstStyle/>
          <a:p>
            <a:r>
              <a:rPr lang="en-IN" dirty="0"/>
              <a:t>The next “if else” block describes when the buzzer will go off:</a:t>
            </a:r>
          </a:p>
          <a:p>
            <a:pPr>
              <a:buNone/>
            </a:pPr>
            <a:r>
              <a:rPr lang="en-IN" dirty="0"/>
              <a:t> </a:t>
            </a:r>
          </a:p>
        </p:txBody>
      </p:sp>
      <p:pic>
        <p:nvPicPr>
          <p:cNvPr id="9" name="Picture 5"/>
          <p:cNvPicPr>
            <a:picLocks noChangeAspect="1" noChangeArrowheads="1"/>
          </p:cNvPicPr>
          <p:nvPr/>
        </p:nvPicPr>
        <p:blipFill>
          <a:blip r:embed="rId2"/>
          <a:srcRect/>
          <a:stretch>
            <a:fillRect/>
          </a:stretch>
        </p:blipFill>
        <p:spPr bwMode="auto">
          <a:xfrm>
            <a:off x="214282" y="2428868"/>
            <a:ext cx="8636717" cy="3857652"/>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11: Upload the Code</a:t>
            </a:r>
            <a:br>
              <a:rPr lang="en-IN" dirty="0"/>
            </a:br>
            <a:endParaRPr lang="en-IN" dirty="0"/>
          </a:p>
        </p:txBody>
      </p:sp>
      <p:sp>
        <p:nvSpPr>
          <p:cNvPr id="8" name="Content Placeholder 7"/>
          <p:cNvSpPr>
            <a:spLocks noGrp="1"/>
          </p:cNvSpPr>
          <p:nvPr>
            <p:ph sz="quarter" idx="1"/>
          </p:nvPr>
        </p:nvSpPr>
        <p:spPr>
          <a:xfrm>
            <a:off x="428596" y="1357298"/>
            <a:ext cx="7467600" cy="4873752"/>
          </a:xfrm>
        </p:spPr>
        <p:txBody>
          <a:bodyPr/>
          <a:lstStyle/>
          <a:p>
            <a:r>
              <a:rPr lang="en-IN" dirty="0"/>
              <a:t>When you have finished typing up the code, you are ready to now upload it. </a:t>
            </a:r>
          </a:p>
          <a:p>
            <a:r>
              <a:rPr lang="en-IN" dirty="0"/>
              <a:t>To do so, click on            in the top bar under File </a:t>
            </a:r>
          </a:p>
          <a:p>
            <a:r>
              <a:rPr lang="en-IN" dirty="0"/>
              <a:t>If the code runs successfully you will see the following snapshot:</a:t>
            </a:r>
          </a:p>
          <a:p>
            <a:pPr>
              <a:buNone/>
            </a:pPr>
            <a:endParaRPr lang="en-IN" dirty="0"/>
          </a:p>
        </p:txBody>
      </p:sp>
      <p:pic>
        <p:nvPicPr>
          <p:cNvPr id="10" name="Picture 2"/>
          <p:cNvPicPr>
            <a:picLocks noChangeAspect="1" noChangeArrowheads="1"/>
          </p:cNvPicPr>
          <p:nvPr/>
        </p:nvPicPr>
        <p:blipFill>
          <a:blip r:embed="rId2"/>
          <a:srcRect/>
          <a:stretch>
            <a:fillRect/>
          </a:stretch>
        </p:blipFill>
        <p:spPr bwMode="auto">
          <a:xfrm>
            <a:off x="3357554" y="2214554"/>
            <a:ext cx="600079" cy="500066"/>
          </a:xfrm>
          <a:prstGeom prst="rect">
            <a:avLst/>
          </a:prstGeom>
          <a:noFill/>
          <a:ln w="9525">
            <a:noFill/>
            <a:miter lim="800000"/>
            <a:headEnd/>
            <a:tailEnd/>
          </a:ln>
          <a:effectLst/>
        </p:spPr>
      </p:pic>
      <p:pic>
        <p:nvPicPr>
          <p:cNvPr id="12" name="Picture 3"/>
          <p:cNvPicPr>
            <a:picLocks noChangeAspect="1" noChangeArrowheads="1"/>
          </p:cNvPicPr>
          <p:nvPr/>
        </p:nvPicPr>
        <p:blipFill>
          <a:blip r:embed="rId3"/>
          <a:srcRect/>
          <a:stretch>
            <a:fillRect/>
          </a:stretch>
        </p:blipFill>
        <p:spPr bwMode="auto">
          <a:xfrm>
            <a:off x="214282" y="3714752"/>
            <a:ext cx="8572560" cy="1582995"/>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Module in Action</a:t>
            </a:r>
            <a:br>
              <a:rPr lang="en-IN" dirty="0"/>
            </a:br>
            <a:endParaRPr lang="en-IN" dirty="0"/>
          </a:p>
        </p:txBody>
      </p:sp>
      <p:pic>
        <p:nvPicPr>
          <p:cNvPr id="21506" name="Picture 2"/>
          <p:cNvPicPr>
            <a:picLocks noChangeAspect="1" noChangeArrowheads="1"/>
          </p:cNvPicPr>
          <p:nvPr/>
        </p:nvPicPr>
        <p:blipFill>
          <a:blip r:embed="rId2"/>
          <a:srcRect/>
          <a:stretch>
            <a:fillRect/>
          </a:stretch>
        </p:blipFill>
        <p:spPr bwMode="auto">
          <a:xfrm>
            <a:off x="4400550" y="3286125"/>
            <a:ext cx="342900" cy="285750"/>
          </a:xfrm>
          <a:prstGeom prst="rect">
            <a:avLst/>
          </a:prstGeom>
          <a:noFill/>
          <a:ln w="9525">
            <a:noFill/>
            <a:miter lim="800000"/>
            <a:headEnd/>
            <a:tailEnd/>
          </a:ln>
          <a:effectLst/>
        </p:spPr>
      </p:pic>
      <p:pic>
        <p:nvPicPr>
          <p:cNvPr id="21508" name="Picture 4"/>
          <p:cNvPicPr>
            <a:picLocks noGrp="1" noChangeAspect="1" noChangeArrowheads="1"/>
          </p:cNvPicPr>
          <p:nvPr>
            <p:ph sz="quarter" idx="1"/>
          </p:nvPr>
        </p:nvPicPr>
        <p:blipFill>
          <a:blip r:embed="rId3"/>
          <a:srcRect/>
          <a:stretch>
            <a:fillRect/>
          </a:stretch>
        </p:blipFill>
        <p:spPr bwMode="auto">
          <a:xfrm>
            <a:off x="1571604" y="1357298"/>
            <a:ext cx="5643602" cy="4422976"/>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Hints:</a:t>
            </a:r>
            <a:br>
              <a:rPr lang="en-IN" dirty="0"/>
            </a:br>
            <a:endParaRPr lang="en-IN" dirty="0"/>
          </a:p>
        </p:txBody>
      </p:sp>
      <p:sp>
        <p:nvSpPr>
          <p:cNvPr id="3" name="Content Placeholder 2"/>
          <p:cNvSpPr>
            <a:spLocks noGrp="1"/>
          </p:cNvSpPr>
          <p:nvPr>
            <p:ph sz="quarter" idx="1"/>
          </p:nvPr>
        </p:nvSpPr>
        <p:spPr/>
        <p:txBody>
          <a:bodyPr/>
          <a:lstStyle/>
          <a:p>
            <a:r>
              <a:rPr lang="en-IN" dirty="0"/>
              <a:t>You can change the distance for which the buzzer beeps in the third segment of the loop ( ) </a:t>
            </a:r>
            <a:r>
              <a:rPr lang="en-IN" dirty="0" err="1"/>
              <a:t>fuction</a:t>
            </a:r>
            <a:r>
              <a:rPr lang="en-IN" dirty="0"/>
              <a:t>.</a:t>
            </a:r>
          </a:p>
          <a:p>
            <a:r>
              <a:rPr lang="en-IN" dirty="0"/>
              <a:t>You can also change the frequency of the buzzer such that it beeps after a certain delay.</a:t>
            </a:r>
          </a:p>
          <a:p>
            <a:r>
              <a:rPr lang="en-IN" dirty="0"/>
              <a:t>You can add various forms of output such as LED’s which will turn on at a certain distance.</a:t>
            </a:r>
          </a:p>
          <a:p>
            <a:r>
              <a:rPr lang="en-IN" dirty="0"/>
              <a:t>With this, you can program varying levels of output with different distances.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Common Errors:</a:t>
            </a:r>
            <a:br>
              <a:rPr lang="en-IN" dirty="0"/>
            </a:br>
            <a:endParaRPr lang="en-IN" dirty="0"/>
          </a:p>
        </p:txBody>
      </p:sp>
      <p:sp>
        <p:nvSpPr>
          <p:cNvPr id="3" name="Content Placeholder 2"/>
          <p:cNvSpPr>
            <a:spLocks noGrp="1"/>
          </p:cNvSpPr>
          <p:nvPr>
            <p:ph sz="quarter" idx="1"/>
          </p:nvPr>
        </p:nvSpPr>
        <p:spPr>
          <a:xfrm>
            <a:off x="428596" y="1214422"/>
            <a:ext cx="7467600" cy="4873752"/>
          </a:xfrm>
        </p:spPr>
        <p:txBody>
          <a:bodyPr>
            <a:normAutofit fontScale="85000" lnSpcReduction="20000"/>
          </a:bodyPr>
          <a:lstStyle/>
          <a:p>
            <a:r>
              <a:rPr lang="en-IN" dirty="0"/>
              <a:t>A common error while typing out the code is the syntax errors. If you are missing a semi-colon you will probably see an error like this:</a:t>
            </a:r>
          </a:p>
          <a:p>
            <a:endParaRPr lang="en-IN" dirty="0"/>
          </a:p>
          <a:p>
            <a:endParaRPr lang="en-IN" dirty="0"/>
          </a:p>
          <a:p>
            <a:endParaRPr lang="en-IN" dirty="0"/>
          </a:p>
          <a:p>
            <a:r>
              <a:rPr lang="en-IN" dirty="0"/>
              <a:t>Another error is a COM Port issue which will look like this:</a:t>
            </a:r>
          </a:p>
          <a:p>
            <a:endParaRPr lang="en-IN" dirty="0"/>
          </a:p>
          <a:p>
            <a:endParaRPr lang="en-IN" dirty="0"/>
          </a:p>
          <a:p>
            <a:endParaRPr lang="en-IN" dirty="0"/>
          </a:p>
          <a:p>
            <a:endParaRPr lang="en-IN" dirty="0"/>
          </a:p>
          <a:p>
            <a:r>
              <a:rPr lang="en-IN" dirty="0"/>
              <a:t>To fix that, disconnect and reconnect the USB cable and select the right COM port.</a:t>
            </a:r>
          </a:p>
          <a:p>
            <a:r>
              <a:rPr lang="en-IN" dirty="0"/>
              <a:t>You can also Google any errors but I also encourage you to please contact us if you run into any issues!</a:t>
            </a:r>
          </a:p>
          <a:p>
            <a:endParaRPr lang="en-IN" dirty="0"/>
          </a:p>
          <a:p>
            <a:endParaRPr lang="en-IN" dirty="0"/>
          </a:p>
          <a:p>
            <a:pPr>
              <a:buNone/>
            </a:pPr>
            <a:endParaRPr lang="en-IN" dirty="0"/>
          </a:p>
          <a:p>
            <a:endParaRPr lang="en-IN" dirty="0"/>
          </a:p>
        </p:txBody>
      </p:sp>
      <p:pic>
        <p:nvPicPr>
          <p:cNvPr id="5" name="Picture 2"/>
          <p:cNvPicPr>
            <a:picLocks noChangeAspect="1" noChangeArrowheads="1"/>
          </p:cNvPicPr>
          <p:nvPr/>
        </p:nvPicPr>
        <p:blipFill>
          <a:blip r:embed="rId2"/>
          <a:srcRect/>
          <a:stretch>
            <a:fillRect/>
          </a:stretch>
        </p:blipFill>
        <p:spPr bwMode="auto">
          <a:xfrm>
            <a:off x="928662" y="2000240"/>
            <a:ext cx="6858048" cy="785818"/>
          </a:xfrm>
          <a:prstGeom prst="rect">
            <a:avLst/>
          </a:prstGeom>
          <a:noFill/>
          <a:ln w="9525">
            <a:noFill/>
            <a:miter lim="800000"/>
            <a:headEnd/>
            <a:tailEnd/>
          </a:ln>
          <a:effectLst/>
        </p:spPr>
      </p:pic>
      <p:pic>
        <p:nvPicPr>
          <p:cNvPr id="7" name="Picture 3"/>
          <p:cNvPicPr>
            <a:picLocks noChangeAspect="1" noChangeArrowheads="1"/>
          </p:cNvPicPr>
          <p:nvPr/>
        </p:nvPicPr>
        <p:blipFill>
          <a:blip r:embed="rId3"/>
          <a:srcRect/>
          <a:stretch>
            <a:fillRect/>
          </a:stretch>
        </p:blipFill>
        <p:spPr bwMode="auto">
          <a:xfrm>
            <a:off x="214282" y="3286124"/>
            <a:ext cx="8429684" cy="1172927"/>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
          </p:nvPr>
        </p:nvSpPr>
        <p:spPr>
          <a:xfrm>
            <a:off x="714348" y="1357298"/>
            <a:ext cx="7467600" cy="4873752"/>
          </a:xfrm>
        </p:spPr>
        <p:txBody>
          <a:bodyPr/>
          <a:lstStyle/>
          <a:p>
            <a:pPr algn="ctr">
              <a:buNone/>
            </a:pPr>
            <a:r>
              <a:rPr lang="en-IN" sz="5400" dirty="0"/>
              <a:t>GOOD LUCK!!</a:t>
            </a:r>
          </a:p>
          <a:p>
            <a:pPr>
              <a:buNone/>
            </a:pPr>
            <a:endParaRPr lang="en-IN" sz="6600" dirty="0"/>
          </a:p>
          <a:p>
            <a:endParaRPr lang="en-IN" dirty="0"/>
          </a:p>
        </p:txBody>
      </p:sp>
      <p:pic>
        <p:nvPicPr>
          <p:cNvPr id="8" name="Picture 2"/>
          <p:cNvPicPr>
            <a:picLocks noChangeAspect="1" noChangeArrowheads="1"/>
          </p:cNvPicPr>
          <p:nvPr/>
        </p:nvPicPr>
        <p:blipFill>
          <a:blip r:embed="rId2"/>
          <a:srcRect/>
          <a:stretch>
            <a:fillRect/>
          </a:stretch>
        </p:blipFill>
        <p:spPr bwMode="auto">
          <a:xfrm>
            <a:off x="2714612" y="2928934"/>
            <a:ext cx="3143250" cy="3133725"/>
          </a:xfrm>
          <a:prstGeom prst="rect">
            <a:avLst/>
          </a:prstGeom>
          <a:noFill/>
          <a:ln w="9525">
            <a:noFill/>
            <a:miter lim="800000"/>
            <a:headEnd/>
            <a:tailEnd/>
          </a:ln>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1327</TotalTime>
  <Words>1005</Words>
  <Application>Microsoft Office PowerPoint</Application>
  <PresentationFormat>On-screen Show (4:3)</PresentationFormat>
  <Paragraphs>120</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Century Schoolbook</vt:lpstr>
      <vt:lpstr>Courier New</vt:lpstr>
      <vt:lpstr>Wingdings</vt:lpstr>
      <vt:lpstr>Wingdings 2</vt:lpstr>
      <vt:lpstr>Oriel</vt:lpstr>
      <vt:lpstr>Burglar Alarm   (Arduino Module))</vt:lpstr>
      <vt:lpstr>Standards</vt:lpstr>
      <vt:lpstr>Learning Objectives </vt:lpstr>
      <vt:lpstr>Module Overview </vt:lpstr>
      <vt:lpstr>Required Components </vt:lpstr>
      <vt:lpstr>STEP 1: Setting up Circuit </vt:lpstr>
      <vt:lpstr>STEP 1: Pin Connections </vt:lpstr>
      <vt:lpstr>STEP 2: Connecting LCD Screen </vt:lpstr>
      <vt:lpstr>STEP 2: Pin Connections </vt:lpstr>
      <vt:lpstr>CHECKPOINT 1 </vt:lpstr>
      <vt:lpstr>STEP 3: Connecting the Buzzer </vt:lpstr>
      <vt:lpstr>STEP 3: Pin Connections </vt:lpstr>
      <vt:lpstr>STEP 4: Power the Breadboard </vt:lpstr>
      <vt:lpstr>FINAL CHECKPOINT </vt:lpstr>
      <vt:lpstr>STEP 5: Programming in Arduino </vt:lpstr>
      <vt:lpstr>STEP 6: Choosing the COM Port </vt:lpstr>
      <vt:lpstr>STEP 7: Let’s Begin our Coding! </vt:lpstr>
      <vt:lpstr>STEP 8: Add Library – Step 1 </vt:lpstr>
      <vt:lpstr>STEP 8: Add Library – Step 2 </vt:lpstr>
      <vt:lpstr>STEP 9: Let’s Continue </vt:lpstr>
      <vt:lpstr>STEP 10: Setting up the Loop( ) Function   </vt:lpstr>
      <vt:lpstr>STEP 10: Setting up the Loop( ) Function </vt:lpstr>
      <vt:lpstr>STEP 10: Setting up the Loop( ) Function </vt:lpstr>
      <vt:lpstr>STEP 10: Setting up the Loop( ) Function </vt:lpstr>
      <vt:lpstr>STEP 11: Upload the Code </vt:lpstr>
      <vt:lpstr>Module in Action </vt:lpstr>
      <vt:lpstr>Hints: </vt:lpstr>
      <vt:lpstr>Common Errors: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Burglar Alarm   (Arduino Module))</dc:title>
  <dc:creator>Reenu Paul</dc:creator>
  <cp:lastModifiedBy>Robert F. Kubichek</cp:lastModifiedBy>
  <cp:revision>45</cp:revision>
  <dcterms:created xsi:type="dcterms:W3CDTF">2016-10-10T06:19:31Z</dcterms:created>
  <dcterms:modified xsi:type="dcterms:W3CDTF">2018-07-04T17:05:48Z</dcterms:modified>
</cp:coreProperties>
</file>