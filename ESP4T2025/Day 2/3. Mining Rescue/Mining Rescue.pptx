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sldIdLst>
    <p:sldId id="280" r:id="rId3"/>
    <p:sldId id="281" r:id="rId4"/>
    <p:sldId id="282" r:id="rId5"/>
    <p:sldId id="283" r:id="rId6"/>
    <p:sldId id="284" r:id="rId7"/>
    <p:sldId id="285" r:id="rId8"/>
    <p:sldId id="286" r:id="rId9"/>
    <p:sldId id="287" r:id="rId10"/>
    <p:sldId id="288" r:id="rId11"/>
    <p:sldId id="28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38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BEB0F7-BA7C-47EC-8E1A-7ED7315DB4EA}" type="datetimeFigureOut">
              <a:rPr lang="en-US" smtClean="0"/>
              <a:t>6/23/2025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C9E866-E575-429A-955A-0A8D1C87264D}" type="slidenum">
              <a:rPr lang="en-US" smtClean="0"/>
              <a:t>‹#›</a:t>
            </a:fld>
            <a:endParaRPr lang="en-US"/>
          </a:p>
        </p:txBody>
      </p:sp>
    </p:spTree>
    <p:extLst>
      <p:ext uri="{BB962C8B-B14F-4D97-AF65-F5344CB8AC3E}">
        <p14:creationId xmlns:p14="http://schemas.microsoft.com/office/powerpoint/2010/main" val="4259088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Updated 19 Jun 2024 by Noah Mulvaney</a:t>
            </a:r>
          </a:p>
          <a:p>
            <a:endParaRPr lang="en-US" dirty="0"/>
          </a:p>
        </p:txBody>
      </p:sp>
      <p:sp>
        <p:nvSpPr>
          <p:cNvPr id="4" name="Slide Number Placeholder 3"/>
          <p:cNvSpPr>
            <a:spLocks noGrp="1"/>
          </p:cNvSpPr>
          <p:nvPr>
            <p:ph type="sldNum" sz="quarter" idx="5"/>
          </p:nvPr>
        </p:nvSpPr>
        <p:spPr/>
        <p:txBody>
          <a:bodyPr/>
          <a:lstStyle/>
          <a:p>
            <a:fld id="{82C9E866-E575-429A-955A-0A8D1C87264D}" type="slidenum">
              <a:rPr lang="en-US" smtClean="0"/>
              <a:t>1</a:t>
            </a:fld>
            <a:endParaRPr lang="en-US"/>
          </a:p>
        </p:txBody>
      </p:sp>
    </p:spTree>
    <p:extLst>
      <p:ext uri="{BB962C8B-B14F-4D97-AF65-F5344CB8AC3E}">
        <p14:creationId xmlns:p14="http://schemas.microsoft.com/office/powerpoint/2010/main" val="311239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C9E866-E575-429A-955A-0A8D1C87264D}" type="slidenum">
              <a:rPr lang="en-US" smtClean="0"/>
              <a:t>2</a:t>
            </a:fld>
            <a:endParaRPr lang="en-US"/>
          </a:p>
        </p:txBody>
      </p:sp>
    </p:spTree>
    <p:extLst>
      <p:ext uri="{BB962C8B-B14F-4D97-AF65-F5344CB8AC3E}">
        <p14:creationId xmlns:p14="http://schemas.microsoft.com/office/powerpoint/2010/main" val="1155858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https://commons.wikimedia.org/wiki/File:Sonar_Principle_EN.svg</a:t>
            </a:r>
          </a:p>
          <a:p>
            <a:endParaRPr lang="en-US" dirty="0"/>
          </a:p>
        </p:txBody>
      </p:sp>
      <p:sp>
        <p:nvSpPr>
          <p:cNvPr id="4" name="Slide Number Placeholder 3"/>
          <p:cNvSpPr>
            <a:spLocks noGrp="1"/>
          </p:cNvSpPr>
          <p:nvPr>
            <p:ph type="sldNum" sz="quarter" idx="5"/>
          </p:nvPr>
        </p:nvSpPr>
        <p:spPr/>
        <p:txBody>
          <a:bodyPr/>
          <a:lstStyle/>
          <a:p>
            <a:fld id="{82C9E866-E575-429A-955A-0A8D1C87264D}" type="slidenum">
              <a:rPr lang="en-US" smtClean="0"/>
              <a:t>3</a:t>
            </a:fld>
            <a:endParaRPr lang="en-US"/>
          </a:p>
        </p:txBody>
      </p:sp>
    </p:spTree>
    <p:extLst>
      <p:ext uri="{BB962C8B-B14F-4D97-AF65-F5344CB8AC3E}">
        <p14:creationId xmlns:p14="http://schemas.microsoft.com/office/powerpoint/2010/main" val="1010881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B67B5-CD9D-E0F1-A8CB-801DAC8877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B17D25-156D-76EF-DD04-B2311FF0B0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9686BE-E87C-50EC-6274-93DB2FAF099A}"/>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5" name="Footer Placeholder 4">
            <a:extLst>
              <a:ext uri="{FF2B5EF4-FFF2-40B4-BE49-F238E27FC236}">
                <a16:creationId xmlns:a16="http://schemas.microsoft.com/office/drawing/2014/main" id="{7151C61C-9561-E151-FEE3-36B153E533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223FE0-2949-7831-FEEE-D30EB96DE8DF}"/>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3299762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2611A-3CA6-A6FC-0FCB-8CF45AEDBA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038A2D-7B98-E6ED-3DE1-9DD4F8771F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ACD5F-3CFB-3097-D6BA-C11B135B128F}"/>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5" name="Footer Placeholder 4">
            <a:extLst>
              <a:ext uri="{FF2B5EF4-FFF2-40B4-BE49-F238E27FC236}">
                <a16:creationId xmlns:a16="http://schemas.microsoft.com/office/drawing/2014/main" id="{3E8F7AC6-D161-D241-5A4A-9ED9A8EA92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25E225-B55E-0794-AFDA-77561F6FD87A}"/>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1127756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BD32B-5558-B674-AEFD-312F2947D2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E807CD-C8E3-4744-FE43-BDA82488FF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FAC9F7-012A-EF33-37F8-0F0CB8E81882}"/>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5" name="Footer Placeholder 4">
            <a:extLst>
              <a:ext uri="{FF2B5EF4-FFF2-40B4-BE49-F238E27FC236}">
                <a16:creationId xmlns:a16="http://schemas.microsoft.com/office/drawing/2014/main" id="{C2DDB729-059C-9C89-A19B-23369728E8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ECE7-CD61-9A0D-A4AD-0F9A0F14674E}"/>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2267571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9254D-BA15-7FB6-B38A-4842B8E221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6CD769-DC1E-874E-9FB3-90E14CEA56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D2C022-C81E-6725-40AE-596623C518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6B0E95-9D51-D69D-2BA7-CFC7715EFB68}"/>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6" name="Footer Placeholder 5">
            <a:extLst>
              <a:ext uri="{FF2B5EF4-FFF2-40B4-BE49-F238E27FC236}">
                <a16:creationId xmlns:a16="http://schemas.microsoft.com/office/drawing/2014/main" id="{D8F5A15B-7C18-5239-34A4-707B21412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C4BFD5-2363-F526-C402-95452503BA13}"/>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269080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4143E-94D1-2C6C-71D1-7892BF9CE8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6DB3FC-63E8-961B-AF52-22518A3C1C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C2836-182F-2B5C-86F9-C73D48E4B9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9EB2BA-F0EB-A7E6-3E9D-DBFD987F04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754897-AA13-FC34-7D37-0F24BDE014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B7317D-7DD7-455D-C402-7C287B3EF19A}"/>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8" name="Footer Placeholder 7">
            <a:extLst>
              <a:ext uri="{FF2B5EF4-FFF2-40B4-BE49-F238E27FC236}">
                <a16:creationId xmlns:a16="http://schemas.microsoft.com/office/drawing/2014/main" id="{664FE858-B2E6-E828-13B2-248B9B54EB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7EB187-C830-5A44-A71E-89228294DB5B}"/>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841745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6FDA-161F-BDBA-1A71-545121DAA5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4BA090-3E7E-92D7-6F25-401550958D11}"/>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4" name="Footer Placeholder 3">
            <a:extLst>
              <a:ext uri="{FF2B5EF4-FFF2-40B4-BE49-F238E27FC236}">
                <a16:creationId xmlns:a16="http://schemas.microsoft.com/office/drawing/2014/main" id="{5736890B-406B-2756-CA24-6C834E5138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CCE76A-0FEB-3B2A-2C9F-35CA06776D4F}"/>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3357546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F9E0D4-26B5-D352-D88D-C757D2EE33E8}"/>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3" name="Footer Placeholder 2">
            <a:extLst>
              <a:ext uri="{FF2B5EF4-FFF2-40B4-BE49-F238E27FC236}">
                <a16:creationId xmlns:a16="http://schemas.microsoft.com/office/drawing/2014/main" id="{0B26E3B2-0783-6FE9-6E31-A7FD2FB8B2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0C0B52-74F8-2F30-7AAF-CBC97C188CA7}"/>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2585627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B9CB2-2B9E-DD78-D5C5-0A0856B3A0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389AC6-CE17-C02F-0851-9C78535D3A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802D4E-BD3D-1B28-7B2D-2B35601A6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51F58B-4AA9-A37E-35F8-DF5D180B6772}"/>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6" name="Footer Placeholder 5">
            <a:extLst>
              <a:ext uri="{FF2B5EF4-FFF2-40B4-BE49-F238E27FC236}">
                <a16:creationId xmlns:a16="http://schemas.microsoft.com/office/drawing/2014/main" id="{30E7FBC8-F850-FD17-A442-4D54E6C54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158383-CFD8-C5D2-A98C-57651D8B5307}"/>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655975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AD275-E1FB-D927-773B-1FE7B92DB9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3FA6B1-B80E-B694-48FE-51ACDA579E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A329B7-1667-61F9-3345-E7B103590C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CD2CD7-1144-8880-B689-B962B79A7C91}"/>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6" name="Footer Placeholder 5">
            <a:extLst>
              <a:ext uri="{FF2B5EF4-FFF2-40B4-BE49-F238E27FC236}">
                <a16:creationId xmlns:a16="http://schemas.microsoft.com/office/drawing/2014/main" id="{32B27FED-1091-B01A-4033-99BD14904F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E78C9F-0BB8-337F-F02A-7CF1DB2C3C70}"/>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3133370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48ED1-C4E1-9A0E-7269-5C22EDE5DA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44E951-8C8B-E015-B92A-4B4EA49CFB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B01ABA-FE5A-7958-5E64-4DEAAB3C1AD8}"/>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5" name="Footer Placeholder 4">
            <a:extLst>
              <a:ext uri="{FF2B5EF4-FFF2-40B4-BE49-F238E27FC236}">
                <a16:creationId xmlns:a16="http://schemas.microsoft.com/office/drawing/2014/main" id="{E1608A9C-F630-8C1A-F326-A8FA734337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E0A937-A714-AF06-E19D-0EF09E8EA1F2}"/>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3937984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CCDF5A-6FEE-C8C6-C03D-AAF03B515A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FA314F-560F-8A09-5DC7-950546D746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14F42C-62E0-0EC8-67EC-62F80A7A895A}"/>
              </a:ext>
            </a:extLst>
          </p:cNvPr>
          <p:cNvSpPr>
            <a:spLocks noGrp="1"/>
          </p:cNvSpPr>
          <p:nvPr>
            <p:ph type="dt" sz="half" idx="10"/>
          </p:nvPr>
        </p:nvSpPr>
        <p:spPr/>
        <p:txBody>
          <a:bodyPr/>
          <a:lstStyle/>
          <a:p>
            <a:fld id="{9DA9F67E-76FB-44FF-8145-A9F6CB8E70E7}" type="datetimeFigureOut">
              <a:rPr lang="en-US" smtClean="0"/>
              <a:t>6/23/2025</a:t>
            </a:fld>
            <a:endParaRPr lang="en-US"/>
          </a:p>
        </p:txBody>
      </p:sp>
      <p:sp>
        <p:nvSpPr>
          <p:cNvPr id="5" name="Footer Placeholder 4">
            <a:extLst>
              <a:ext uri="{FF2B5EF4-FFF2-40B4-BE49-F238E27FC236}">
                <a16:creationId xmlns:a16="http://schemas.microsoft.com/office/drawing/2014/main" id="{0DFD528B-9D7E-C103-EC0C-6CC0002313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58443F-7DFA-8FF4-640A-5F657981B8AD}"/>
              </a:ext>
            </a:extLst>
          </p:cNvPr>
          <p:cNvSpPr>
            <a:spLocks noGrp="1"/>
          </p:cNvSpPr>
          <p:nvPr>
            <p:ph type="sldNum" sz="quarter" idx="12"/>
          </p:nvPr>
        </p:nvSpPr>
        <p:spPr/>
        <p:txBody>
          <a:bodyPr/>
          <a:lstStyle/>
          <a:p>
            <a:fld id="{046C48D5-575B-4831-8185-32A106A032AC}" type="slidenum">
              <a:rPr lang="en-US" smtClean="0"/>
              <a:t>‹#›</a:t>
            </a:fld>
            <a:endParaRPr lang="en-US"/>
          </a:p>
        </p:txBody>
      </p:sp>
    </p:spTree>
    <p:extLst>
      <p:ext uri="{BB962C8B-B14F-4D97-AF65-F5344CB8AC3E}">
        <p14:creationId xmlns:p14="http://schemas.microsoft.com/office/powerpoint/2010/main" val="67038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871911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78586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3605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444418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830350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365640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430319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676676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24896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849901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85500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9BB6C3-17D8-E1ED-4360-5B9CAA7A12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560B21-8ECD-F78F-0E6B-D1DAA6DE91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55B57F-DEB3-D61D-0858-3DE77DA247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A9F67E-76FB-44FF-8145-A9F6CB8E70E7}" type="datetimeFigureOut">
              <a:rPr lang="en-US" smtClean="0"/>
              <a:t>6/23/2025</a:t>
            </a:fld>
            <a:endParaRPr lang="en-US"/>
          </a:p>
        </p:txBody>
      </p:sp>
      <p:sp>
        <p:nvSpPr>
          <p:cNvPr id="5" name="Footer Placeholder 4">
            <a:extLst>
              <a:ext uri="{FF2B5EF4-FFF2-40B4-BE49-F238E27FC236}">
                <a16:creationId xmlns:a16="http://schemas.microsoft.com/office/drawing/2014/main" id="{C0F727C8-100E-5326-0052-D354E0DC06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C2C5BF-603F-77F4-BB08-54D5596791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6C48D5-575B-4831-8185-32A106A032AC}" type="slidenum">
              <a:rPr lang="en-US" smtClean="0"/>
              <a:t>‹#›</a:t>
            </a:fld>
            <a:endParaRPr lang="en-US"/>
          </a:p>
        </p:txBody>
      </p:sp>
    </p:spTree>
    <p:extLst>
      <p:ext uri="{BB962C8B-B14F-4D97-AF65-F5344CB8AC3E}">
        <p14:creationId xmlns:p14="http://schemas.microsoft.com/office/powerpoint/2010/main" val="3251780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6/23/2025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9" name="Picture 8" descr="BrandBar_New_flag_only.pn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51020" y="5666008"/>
            <a:ext cx="13280983" cy="1553875"/>
          </a:xfrm>
          <a:prstGeom prst="rect">
            <a:avLst/>
          </a:prstGeom>
        </p:spPr>
      </p:pic>
    </p:spTree>
    <p:extLst>
      <p:ext uri="{BB962C8B-B14F-4D97-AF65-F5344CB8AC3E}">
        <p14:creationId xmlns:p14="http://schemas.microsoft.com/office/powerpoint/2010/main" val="3985940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5.tiff"/></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tiff"/><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2507" y="3721029"/>
            <a:ext cx="10363200" cy="1135288"/>
          </a:xfrm>
        </p:spPr>
        <p:txBody>
          <a:bodyPr>
            <a:normAutofit fontScale="90000"/>
          </a:bodyPr>
          <a:lstStyle/>
          <a:p>
            <a:r>
              <a:rPr lang="en-US" sz="5400" b="1" dirty="0">
                <a:solidFill>
                  <a:srgbClr val="69381E"/>
                </a:solidFill>
              </a:rPr>
              <a:t> </a:t>
            </a:r>
            <a:r>
              <a:rPr lang="en-US" sz="8000" b="1" dirty="0">
                <a:solidFill>
                  <a:srgbClr val="69381E"/>
                </a:solidFill>
              </a:rPr>
              <a:t>Mining Rescue</a:t>
            </a:r>
            <a:br>
              <a:rPr lang="en-US" sz="5400" b="1" dirty="0">
                <a:solidFill>
                  <a:srgbClr val="69381E"/>
                </a:solidFill>
              </a:rPr>
            </a:br>
            <a:r>
              <a:rPr lang="en-US" sz="2000" dirty="0">
                <a:solidFill>
                  <a:srgbClr val="69381E"/>
                </a:solidFill>
              </a:rPr>
              <a:t>Arduino with C Code</a:t>
            </a:r>
            <a:endParaRPr lang="en-US" sz="5400" b="1" dirty="0">
              <a:solidFill>
                <a:srgbClr val="69381E"/>
              </a:solidFill>
            </a:endParaRPr>
          </a:p>
        </p:txBody>
      </p:sp>
      <p:sp>
        <p:nvSpPr>
          <p:cNvPr id="8" name="TextBox 7"/>
          <p:cNvSpPr txBox="1"/>
          <p:nvPr/>
        </p:nvSpPr>
        <p:spPr>
          <a:xfrm>
            <a:off x="3529181" y="6479816"/>
            <a:ext cx="849656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a:ea typeface="+mn-ea"/>
                <a:cs typeface="+mn-cs"/>
              </a:rPr>
              <a:t>ELECTRICAL ENGINEERING AND COMPUTER SCIENCE, COLLEGE OF ENGINEERING AND PHYSICAL SCIENCES</a:t>
            </a:r>
          </a:p>
        </p:txBody>
      </p:sp>
      <p:pic>
        <p:nvPicPr>
          <p:cNvPr id="10" name="Picture 9" descr="A brown rectangular sign with a horse and text&#10;&#10;Description automatically generated">
            <a:extLst>
              <a:ext uri="{FF2B5EF4-FFF2-40B4-BE49-F238E27FC236}">
                <a16:creationId xmlns:a16="http://schemas.microsoft.com/office/drawing/2014/main" id="{CB96BABA-B0E6-123B-BAEB-42A84349C686}"/>
              </a:ext>
            </a:extLst>
          </p:cNvPr>
          <p:cNvPicPr>
            <a:picLocks noChangeAspect="1"/>
          </p:cNvPicPr>
          <p:nvPr/>
        </p:nvPicPr>
        <p:blipFill rotWithShape="1">
          <a:blip r:embed="rId3">
            <a:extLst>
              <a:ext uri="{28A0092B-C50C-407E-A947-70E740481C1C}">
                <a14:useLocalDpi xmlns:a14="http://schemas.microsoft.com/office/drawing/2010/main" val="0"/>
              </a:ext>
            </a:extLst>
          </a:blip>
          <a:srcRect l="1884" t="32742" r="1737" b="31610"/>
          <a:stretch/>
        </p:blipFill>
        <p:spPr>
          <a:xfrm>
            <a:off x="3233252" y="844848"/>
            <a:ext cx="5725496" cy="2035791"/>
          </a:xfrm>
          <a:prstGeom prst="rect">
            <a:avLst/>
          </a:prstGeom>
        </p:spPr>
      </p:pic>
      <p:pic>
        <p:nvPicPr>
          <p:cNvPr id="4" name="Picture 3" descr="A blue and white symbol&#10;&#10;Description automatically generated">
            <a:extLst>
              <a:ext uri="{FF2B5EF4-FFF2-40B4-BE49-F238E27FC236}">
                <a16:creationId xmlns:a16="http://schemas.microsoft.com/office/drawing/2014/main" id="{9156424D-26C6-3715-D7B9-97E83CF1FB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22964" y="1"/>
            <a:ext cx="1469035" cy="1469035"/>
          </a:xfrm>
          <a:prstGeom prst="rect">
            <a:avLst/>
          </a:prstGeom>
        </p:spPr>
      </p:pic>
    </p:spTree>
    <p:extLst>
      <p:ext uri="{BB962C8B-B14F-4D97-AF65-F5344CB8AC3E}">
        <p14:creationId xmlns:p14="http://schemas.microsoft.com/office/powerpoint/2010/main" val="4282917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74A5-2D56-B5F3-2C94-96B6D122737C}"/>
              </a:ext>
            </a:extLst>
          </p:cNvPr>
          <p:cNvSpPr>
            <a:spLocks noGrp="1"/>
          </p:cNvSpPr>
          <p:nvPr>
            <p:ph type="title"/>
          </p:nvPr>
        </p:nvSpPr>
        <p:spPr/>
        <p:txBody>
          <a:bodyPr/>
          <a:lstStyle/>
          <a:p>
            <a:r>
              <a:rPr lang="en-US" dirty="0"/>
              <a:t>Scenario</a:t>
            </a:r>
          </a:p>
        </p:txBody>
      </p:sp>
      <p:sp>
        <p:nvSpPr>
          <p:cNvPr id="3" name="Content Placeholder 2">
            <a:extLst>
              <a:ext uri="{FF2B5EF4-FFF2-40B4-BE49-F238E27FC236}">
                <a16:creationId xmlns:a16="http://schemas.microsoft.com/office/drawing/2014/main" id="{69E8C5B0-CE8A-5365-533A-52856D3F3CD9}"/>
              </a:ext>
            </a:extLst>
          </p:cNvPr>
          <p:cNvSpPr>
            <a:spLocks noGrp="1"/>
          </p:cNvSpPr>
          <p:nvPr>
            <p:ph idx="1"/>
          </p:nvPr>
        </p:nvSpPr>
        <p:spPr/>
        <p:txBody>
          <a:bodyPr/>
          <a:lstStyle/>
          <a:p>
            <a:r>
              <a:rPr lang="en-US" dirty="0"/>
              <a:t>What would happen if a mine were to collapse and coal miners were trapped in darkness?</a:t>
            </a:r>
          </a:p>
          <a:p>
            <a:r>
              <a:rPr lang="en-US" dirty="0"/>
              <a:t>How would you find and rescue the miners in the dark?</a:t>
            </a:r>
          </a:p>
          <a:p>
            <a:r>
              <a:rPr lang="en-US" dirty="0"/>
              <a:t>You could use thermal/infrared cameras, but they are expensive and use a lot of power.</a:t>
            </a:r>
          </a:p>
          <a:p>
            <a:r>
              <a:rPr lang="en-US" dirty="0"/>
              <a:t>We will build and code an ultrasonic sensor attached to a servo motor to scan the darkness for stranded miners.</a:t>
            </a:r>
          </a:p>
        </p:txBody>
      </p:sp>
      <p:pic>
        <p:nvPicPr>
          <p:cNvPr id="4" name="Picture 3" descr="A blue and white symbol&#10;&#10;Description automatically generated">
            <a:extLst>
              <a:ext uri="{FF2B5EF4-FFF2-40B4-BE49-F238E27FC236}">
                <a16:creationId xmlns:a16="http://schemas.microsoft.com/office/drawing/2014/main" id="{859C156F-4FBC-51F7-E542-F551E68947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2964" y="1"/>
            <a:ext cx="1469035" cy="1469035"/>
          </a:xfrm>
          <a:prstGeom prst="rect">
            <a:avLst/>
          </a:prstGeom>
        </p:spPr>
      </p:pic>
    </p:spTree>
    <p:extLst>
      <p:ext uri="{BB962C8B-B14F-4D97-AF65-F5344CB8AC3E}">
        <p14:creationId xmlns:p14="http://schemas.microsoft.com/office/powerpoint/2010/main" val="68689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device&#10;&#10;Description automatically generated">
            <a:extLst>
              <a:ext uri="{FF2B5EF4-FFF2-40B4-BE49-F238E27FC236}">
                <a16:creationId xmlns:a16="http://schemas.microsoft.com/office/drawing/2014/main" id="{845E7F20-21EF-5920-E174-E49DB9F99309}"/>
              </a:ext>
            </a:extLst>
          </p:cNvPr>
          <p:cNvPicPr>
            <a:picLocks noChangeAspect="1"/>
          </p:cNvPicPr>
          <p:nvPr/>
        </p:nvPicPr>
        <p:blipFill rotWithShape="1">
          <a:blip r:embed="rId3">
            <a:extLst>
              <a:ext uri="{28A0092B-C50C-407E-A947-70E740481C1C}">
                <a14:useLocalDpi xmlns:a14="http://schemas.microsoft.com/office/drawing/2010/main" val="0"/>
              </a:ext>
            </a:extLst>
          </a:blip>
          <a:srcRect b="20821"/>
          <a:stretch/>
        </p:blipFill>
        <p:spPr>
          <a:xfrm>
            <a:off x="1214202" y="3863183"/>
            <a:ext cx="3112033" cy="1848070"/>
          </a:xfrm>
          <a:prstGeom prst="rect">
            <a:avLst/>
          </a:prstGeom>
        </p:spPr>
      </p:pic>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p:txBody>
          <a:bodyPr/>
          <a:lstStyle/>
          <a:p>
            <a:r>
              <a:rPr lang="en-US" dirty="0"/>
              <a:t>What is an ultrasonic sensor?</a:t>
            </a:r>
          </a:p>
        </p:txBody>
      </p:sp>
      <p:sp>
        <p:nvSpPr>
          <p:cNvPr id="3" name="Content Placeholder 2">
            <a:extLst>
              <a:ext uri="{FF2B5EF4-FFF2-40B4-BE49-F238E27FC236}">
                <a16:creationId xmlns:a16="http://schemas.microsoft.com/office/drawing/2014/main" id="{98091C7C-EC10-638D-48D2-C4AF3F739219}"/>
              </a:ext>
            </a:extLst>
          </p:cNvPr>
          <p:cNvSpPr>
            <a:spLocks noGrp="1"/>
          </p:cNvSpPr>
          <p:nvPr>
            <p:ph idx="1"/>
          </p:nvPr>
        </p:nvSpPr>
        <p:spPr/>
        <p:txBody>
          <a:bodyPr/>
          <a:lstStyle/>
          <a:p>
            <a:r>
              <a:rPr lang="en-US" dirty="0"/>
              <a:t>The sensor sends out ultrasonic sound waves (above the range of human hearing) and times how long it takes for them to be reflected.</a:t>
            </a:r>
          </a:p>
          <a:p>
            <a:r>
              <a:rPr lang="en-US" dirty="0"/>
              <a:t>We can calculate the distance between the sensor and an object based upon this timing.</a:t>
            </a:r>
          </a:p>
        </p:txBody>
      </p:sp>
      <p:pic>
        <p:nvPicPr>
          <p:cNvPr id="4" name="Picture 3">
            <a:extLst>
              <a:ext uri="{FF2B5EF4-FFF2-40B4-BE49-F238E27FC236}">
                <a16:creationId xmlns:a16="http://schemas.microsoft.com/office/drawing/2014/main" id="{6FDF0892-8314-0476-7A39-C3E375D2684E}"/>
              </a:ext>
            </a:extLst>
          </p:cNvPr>
          <p:cNvPicPr>
            <a:picLocks noChangeAspect="1"/>
          </p:cNvPicPr>
          <p:nvPr/>
        </p:nvPicPr>
        <p:blipFill>
          <a:blip r:embed="rId4"/>
          <a:stretch>
            <a:fillRect/>
          </a:stretch>
        </p:blipFill>
        <p:spPr>
          <a:xfrm>
            <a:off x="7525062" y="3585643"/>
            <a:ext cx="4441044" cy="2381689"/>
          </a:xfrm>
          <a:prstGeom prst="rect">
            <a:avLst/>
          </a:prstGeom>
        </p:spPr>
      </p:pic>
      <p:pic>
        <p:nvPicPr>
          <p:cNvPr id="5" name="Picture 4" descr="A blue and white symbol&#10;&#10;Description automatically generated">
            <a:extLst>
              <a:ext uri="{FF2B5EF4-FFF2-40B4-BE49-F238E27FC236}">
                <a16:creationId xmlns:a16="http://schemas.microsoft.com/office/drawing/2014/main" id="{7C91B938-AF2D-3EBB-9E62-7686A60FCF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22964" y="1"/>
            <a:ext cx="1469035" cy="1469035"/>
          </a:xfrm>
          <a:prstGeom prst="rect">
            <a:avLst/>
          </a:prstGeom>
        </p:spPr>
      </p:pic>
    </p:spTree>
    <p:extLst>
      <p:ext uri="{BB962C8B-B14F-4D97-AF65-F5344CB8AC3E}">
        <p14:creationId xmlns:p14="http://schemas.microsoft.com/office/powerpoint/2010/main" val="2919877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880D7-524E-F033-B0A1-C8072758346D}"/>
              </a:ext>
            </a:extLst>
          </p:cNvPr>
          <p:cNvSpPr>
            <a:spLocks noGrp="1"/>
          </p:cNvSpPr>
          <p:nvPr>
            <p:ph type="title"/>
          </p:nvPr>
        </p:nvSpPr>
        <p:spPr/>
        <p:txBody>
          <a:bodyPr/>
          <a:lstStyle/>
          <a:p>
            <a:r>
              <a:rPr lang="en-US" dirty="0"/>
              <a:t>Project Concept</a:t>
            </a:r>
          </a:p>
        </p:txBody>
      </p:sp>
      <p:sp>
        <p:nvSpPr>
          <p:cNvPr id="3" name="Content Placeholder 2">
            <a:extLst>
              <a:ext uri="{FF2B5EF4-FFF2-40B4-BE49-F238E27FC236}">
                <a16:creationId xmlns:a16="http://schemas.microsoft.com/office/drawing/2014/main" id="{15916F31-E74E-1C0B-27F2-A2399029C5F1}"/>
              </a:ext>
            </a:extLst>
          </p:cNvPr>
          <p:cNvSpPr>
            <a:spLocks noGrp="1"/>
          </p:cNvSpPr>
          <p:nvPr>
            <p:ph idx="1"/>
          </p:nvPr>
        </p:nvSpPr>
        <p:spPr/>
        <p:txBody>
          <a:bodyPr>
            <a:normAutofit lnSpcReduction="10000"/>
          </a:bodyPr>
          <a:lstStyle/>
          <a:p>
            <a:r>
              <a:rPr lang="en-US" dirty="0"/>
              <a:t>We will connect an ultrasonic sensor to</a:t>
            </a:r>
            <a:br>
              <a:rPr lang="en-US" dirty="0"/>
            </a:br>
            <a:r>
              <a:rPr lang="en-US" dirty="0"/>
              <a:t>a servo motor so we can rotate it to </a:t>
            </a:r>
            <a:br>
              <a:rPr lang="en-US" dirty="0"/>
            </a:br>
            <a:r>
              <a:rPr lang="en-US" dirty="0"/>
              <a:t>scan an area. We will scan from 0° to</a:t>
            </a:r>
            <a:br>
              <a:rPr lang="en-US" dirty="0"/>
            </a:br>
            <a:r>
              <a:rPr lang="en-US" dirty="0"/>
              <a:t>180° in increments of 15° when we press</a:t>
            </a:r>
            <a:br>
              <a:rPr lang="en-US" dirty="0"/>
            </a:br>
            <a:r>
              <a:rPr lang="en-US" dirty="0"/>
              <a:t>the button.</a:t>
            </a:r>
          </a:p>
          <a:p>
            <a:r>
              <a:rPr lang="en-US" dirty="0"/>
              <a:t>If we detect an object, we will print the position of the servo (an angle) and the distance from the sensor and light up the LED. We could plot these values on polar graph paper to visualize the location of the miners.</a:t>
            </a:r>
          </a:p>
        </p:txBody>
      </p:sp>
      <p:grpSp>
        <p:nvGrpSpPr>
          <p:cNvPr id="4" name="Group 3">
            <a:extLst>
              <a:ext uri="{FF2B5EF4-FFF2-40B4-BE49-F238E27FC236}">
                <a16:creationId xmlns:a16="http://schemas.microsoft.com/office/drawing/2014/main" id="{0A89F4A9-82C7-4E9B-2C69-982599D8FD62}"/>
              </a:ext>
            </a:extLst>
          </p:cNvPr>
          <p:cNvGrpSpPr/>
          <p:nvPr/>
        </p:nvGrpSpPr>
        <p:grpSpPr>
          <a:xfrm>
            <a:off x="7915188" y="1600201"/>
            <a:ext cx="3667212" cy="2174240"/>
            <a:chOff x="0" y="0"/>
            <a:chExt cx="3667488" cy="2174240"/>
          </a:xfrm>
        </p:grpSpPr>
        <p:grpSp>
          <p:nvGrpSpPr>
            <p:cNvPr id="5" name="Group 4">
              <a:extLst>
                <a:ext uri="{FF2B5EF4-FFF2-40B4-BE49-F238E27FC236}">
                  <a16:creationId xmlns:a16="http://schemas.microsoft.com/office/drawing/2014/main" id="{DF4A38B0-F0DE-0C71-0F72-1E22FCCF6BDB}"/>
                </a:ext>
              </a:extLst>
            </p:cNvPr>
            <p:cNvGrpSpPr/>
            <p:nvPr/>
          </p:nvGrpSpPr>
          <p:grpSpPr>
            <a:xfrm>
              <a:off x="0" y="0"/>
              <a:ext cx="3667488" cy="2174240"/>
              <a:chOff x="0" y="0"/>
              <a:chExt cx="3667643" cy="2174372"/>
            </a:xfrm>
          </p:grpSpPr>
          <p:sp>
            <p:nvSpPr>
              <p:cNvPr id="7" name="Rectangle 6">
                <a:extLst>
                  <a:ext uri="{FF2B5EF4-FFF2-40B4-BE49-F238E27FC236}">
                    <a16:creationId xmlns:a16="http://schemas.microsoft.com/office/drawing/2014/main" id="{E933CC9F-9ED3-72BF-8ADA-098A003D3175}"/>
                  </a:ext>
                </a:extLst>
              </p:cNvPr>
              <p:cNvSpPr/>
              <p:nvPr/>
            </p:nvSpPr>
            <p:spPr>
              <a:xfrm>
                <a:off x="0" y="0"/>
                <a:ext cx="3667643" cy="21717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7">
                <a:extLst>
                  <a:ext uri="{FF2B5EF4-FFF2-40B4-BE49-F238E27FC236}">
                    <a16:creationId xmlns:a16="http://schemas.microsoft.com/office/drawing/2014/main" id="{4CD8D3D7-32C4-4FE7-B931-FC8F363A14C6}"/>
                  </a:ext>
                </a:extLst>
              </p:cNvPr>
              <p:cNvSpPr/>
              <p:nvPr/>
            </p:nvSpPr>
            <p:spPr>
              <a:xfrm rot="20315395">
                <a:off x="297711" y="297711"/>
                <a:ext cx="457200" cy="4572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9" name="Picture 8">
                <a:extLst>
                  <a:ext uri="{FF2B5EF4-FFF2-40B4-BE49-F238E27FC236}">
                    <a16:creationId xmlns:a16="http://schemas.microsoft.com/office/drawing/2014/main" id="{AFCB1181-4FB4-294E-D99C-44EA1EB0E05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619308" y="889090"/>
                <a:ext cx="798195" cy="599440"/>
              </a:xfrm>
              <a:prstGeom prst="rect">
                <a:avLst/>
              </a:prstGeom>
            </p:spPr>
          </p:pic>
          <p:cxnSp>
            <p:nvCxnSpPr>
              <p:cNvPr id="10" name="Straight Arrow Connector 9">
                <a:extLst>
                  <a:ext uri="{FF2B5EF4-FFF2-40B4-BE49-F238E27FC236}">
                    <a16:creationId xmlns:a16="http://schemas.microsoft.com/office/drawing/2014/main" id="{6D3006D1-B940-8115-2B91-1866E1F8548B}"/>
                  </a:ext>
                </a:extLst>
              </p:cNvPr>
              <p:cNvCxnSpPr/>
              <p:nvPr/>
            </p:nvCxnSpPr>
            <p:spPr>
              <a:xfrm flipH="1">
                <a:off x="51437" y="1377048"/>
                <a:ext cx="1596612" cy="7973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8B98E1E-7425-BB64-A31B-1344F0FED7AE}"/>
                  </a:ext>
                </a:extLst>
              </p:cNvPr>
              <p:cNvCxnSpPr/>
              <p:nvPr/>
            </p:nvCxnSpPr>
            <p:spPr>
              <a:xfrm flipH="1">
                <a:off x="106325" y="1148316"/>
                <a:ext cx="16002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7D2E9AC-E58C-32D9-2644-40AD23AA0D72}"/>
                  </a:ext>
                </a:extLst>
              </p:cNvPr>
              <p:cNvCxnSpPr/>
              <p:nvPr/>
            </p:nvCxnSpPr>
            <p:spPr>
              <a:xfrm flipH="1" flipV="1">
                <a:off x="808074" y="691116"/>
                <a:ext cx="914400" cy="3429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F9072BE-F1BC-8617-9141-754DA09E47FC}"/>
                  </a:ext>
                </a:extLst>
              </p:cNvPr>
              <p:cNvCxnSpPr/>
              <p:nvPr/>
            </p:nvCxnSpPr>
            <p:spPr>
              <a:xfrm flipH="1" flipV="1">
                <a:off x="914400" y="10632"/>
                <a:ext cx="914400" cy="8001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AF8AB1D-8ABF-D5BE-7F98-8ABE2C583B45}"/>
                  </a:ext>
                </a:extLst>
              </p:cNvPr>
              <p:cNvCxnSpPr/>
              <p:nvPr/>
            </p:nvCxnSpPr>
            <p:spPr>
              <a:xfrm flipH="1">
                <a:off x="1146636" y="1392832"/>
                <a:ext cx="685800" cy="6858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1C078296-F92A-1618-F0E0-98892724C3E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rot="16200000">
                <a:off x="2045150" y="778766"/>
                <a:ext cx="688975" cy="688975"/>
              </a:xfrm>
              <a:prstGeom prst="rect">
                <a:avLst/>
              </a:prstGeom>
            </p:spPr>
          </p:pic>
          <p:cxnSp>
            <p:nvCxnSpPr>
              <p:cNvPr id="16" name="Straight Arrow Connector 15">
                <a:extLst>
                  <a:ext uri="{FF2B5EF4-FFF2-40B4-BE49-F238E27FC236}">
                    <a16:creationId xmlns:a16="http://schemas.microsoft.com/office/drawing/2014/main" id="{2F5577CC-0210-7A8E-539C-2E5B0AAEE4C6}"/>
                  </a:ext>
                </a:extLst>
              </p:cNvPr>
              <p:cNvCxnSpPr/>
              <p:nvPr/>
            </p:nvCxnSpPr>
            <p:spPr>
              <a:xfrm flipH="1">
                <a:off x="0" y="1265274"/>
                <a:ext cx="1601130" cy="3430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 name="Curved Right Arrow 5">
              <a:extLst>
                <a:ext uri="{FF2B5EF4-FFF2-40B4-BE49-F238E27FC236}">
                  <a16:creationId xmlns:a16="http://schemas.microsoft.com/office/drawing/2014/main" id="{C78A4DA7-4DAF-6B79-E041-527938244211}"/>
                </a:ext>
              </a:extLst>
            </p:cNvPr>
            <p:cNvSpPr/>
            <p:nvPr/>
          </p:nvSpPr>
          <p:spPr>
            <a:xfrm>
              <a:off x="1828800" y="595423"/>
              <a:ext cx="342900" cy="10287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17" name="Picture 16" descr="A blue and white symbol&#10;&#10;Description automatically generated">
            <a:extLst>
              <a:ext uri="{FF2B5EF4-FFF2-40B4-BE49-F238E27FC236}">
                <a16:creationId xmlns:a16="http://schemas.microsoft.com/office/drawing/2014/main" id="{DADBCB20-A3B1-BFA0-CD61-A28990F6C8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22964" y="1"/>
            <a:ext cx="1469035" cy="1469035"/>
          </a:xfrm>
          <a:prstGeom prst="rect">
            <a:avLst/>
          </a:prstGeom>
        </p:spPr>
      </p:pic>
    </p:spTree>
    <p:extLst>
      <p:ext uri="{BB962C8B-B14F-4D97-AF65-F5344CB8AC3E}">
        <p14:creationId xmlns:p14="http://schemas.microsoft.com/office/powerpoint/2010/main" val="3729850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85465-2477-2CE9-C979-3DD1BB5695BE}"/>
              </a:ext>
            </a:extLst>
          </p:cNvPr>
          <p:cNvSpPr>
            <a:spLocks noGrp="1"/>
          </p:cNvSpPr>
          <p:nvPr>
            <p:ph type="title"/>
          </p:nvPr>
        </p:nvSpPr>
        <p:spPr/>
        <p:txBody>
          <a:bodyPr/>
          <a:lstStyle/>
          <a:p>
            <a:r>
              <a:rPr lang="en-US" dirty="0"/>
              <a:t>Circuit Diagram</a:t>
            </a:r>
          </a:p>
        </p:txBody>
      </p:sp>
      <p:sp>
        <p:nvSpPr>
          <p:cNvPr id="3" name="Content Placeholder 2">
            <a:extLst>
              <a:ext uri="{FF2B5EF4-FFF2-40B4-BE49-F238E27FC236}">
                <a16:creationId xmlns:a16="http://schemas.microsoft.com/office/drawing/2014/main" id="{332F57BA-35FA-A8F9-9DCE-C80555F8AF6C}"/>
              </a:ext>
            </a:extLst>
          </p:cNvPr>
          <p:cNvSpPr>
            <a:spLocks noGrp="1"/>
          </p:cNvSpPr>
          <p:nvPr>
            <p:ph idx="1"/>
          </p:nvPr>
        </p:nvSpPr>
        <p:spPr/>
        <p:txBody>
          <a:bodyPr/>
          <a:lstStyle/>
          <a:p>
            <a:r>
              <a:rPr lang="en-US" dirty="0"/>
              <a:t>Build this circuit with your</a:t>
            </a:r>
          </a:p>
          <a:p>
            <a:pPr lvl="1"/>
            <a:r>
              <a:rPr lang="en-US" dirty="0"/>
              <a:t>SG90 Servo Motor</a:t>
            </a:r>
          </a:p>
          <a:p>
            <a:pPr lvl="1"/>
            <a:r>
              <a:rPr lang="en-US" dirty="0"/>
              <a:t>Ultrasonic Sensor</a:t>
            </a:r>
          </a:p>
          <a:p>
            <a:pPr lvl="1"/>
            <a:r>
              <a:rPr lang="en-US" dirty="0"/>
              <a:t>Red LED with 220Ω Resistor</a:t>
            </a:r>
          </a:p>
          <a:p>
            <a:pPr lvl="1"/>
            <a:r>
              <a:rPr lang="en-US" dirty="0"/>
              <a:t>Pushbutton</a:t>
            </a:r>
          </a:p>
          <a:p>
            <a:r>
              <a:rPr lang="en-US" dirty="0"/>
              <a:t>Now tape the small breadboard</a:t>
            </a:r>
            <a:br>
              <a:rPr lang="en-US" dirty="0"/>
            </a:br>
            <a:r>
              <a:rPr lang="en-US" dirty="0"/>
              <a:t>to the servo horn (the white arm)</a:t>
            </a:r>
          </a:p>
          <a:p>
            <a:pPr lvl="1"/>
            <a:endParaRPr lang="en-US" dirty="0"/>
          </a:p>
        </p:txBody>
      </p:sp>
      <p:pic>
        <p:nvPicPr>
          <p:cNvPr id="4" name="Picture 3">
            <a:extLst>
              <a:ext uri="{FF2B5EF4-FFF2-40B4-BE49-F238E27FC236}">
                <a16:creationId xmlns:a16="http://schemas.microsoft.com/office/drawing/2014/main" id="{84F92791-9229-8921-7378-5F52B249F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0682" y="1339159"/>
            <a:ext cx="5281774" cy="4500101"/>
          </a:xfrm>
          <a:prstGeom prst="rect">
            <a:avLst/>
          </a:prstGeom>
        </p:spPr>
      </p:pic>
      <p:sp>
        <p:nvSpPr>
          <p:cNvPr id="5" name="TextBox 4">
            <a:extLst>
              <a:ext uri="{FF2B5EF4-FFF2-40B4-BE49-F238E27FC236}">
                <a16:creationId xmlns:a16="http://schemas.microsoft.com/office/drawing/2014/main" id="{F7A8D57C-5996-51F7-15CF-DE53B0D4DD81}"/>
              </a:ext>
            </a:extLst>
          </p:cNvPr>
          <p:cNvSpPr txBox="1"/>
          <p:nvPr/>
        </p:nvSpPr>
        <p:spPr>
          <a:xfrm>
            <a:off x="11205267" y="3429000"/>
            <a:ext cx="344774" cy="369332"/>
          </a:xfrm>
          <a:prstGeom prst="rect">
            <a:avLst/>
          </a:prstGeom>
          <a:noFill/>
        </p:spPr>
        <p:txBody>
          <a:bodyPr wrap="square" rtlCol="0">
            <a:spAutoFit/>
          </a:bodyPr>
          <a:lstStyle/>
          <a:p>
            <a:r>
              <a:rPr lang="en-US" b="1" dirty="0">
                <a:highlight>
                  <a:srgbClr val="C0C0C0"/>
                </a:highlight>
              </a:rPr>
              <a:t>6</a:t>
            </a:r>
          </a:p>
        </p:txBody>
      </p:sp>
      <p:sp>
        <p:nvSpPr>
          <p:cNvPr id="6" name="TextBox 5">
            <a:extLst>
              <a:ext uri="{FF2B5EF4-FFF2-40B4-BE49-F238E27FC236}">
                <a16:creationId xmlns:a16="http://schemas.microsoft.com/office/drawing/2014/main" id="{6BD0E7AE-5DA3-A583-6F6F-4378B5AC1CF8}"/>
              </a:ext>
            </a:extLst>
          </p:cNvPr>
          <p:cNvSpPr txBox="1"/>
          <p:nvPr/>
        </p:nvSpPr>
        <p:spPr>
          <a:xfrm>
            <a:off x="10109558" y="3188597"/>
            <a:ext cx="469572" cy="369332"/>
          </a:xfrm>
          <a:prstGeom prst="rect">
            <a:avLst/>
          </a:prstGeom>
          <a:noFill/>
        </p:spPr>
        <p:txBody>
          <a:bodyPr wrap="square" rtlCol="0">
            <a:spAutoFit/>
          </a:bodyPr>
          <a:lstStyle/>
          <a:p>
            <a:r>
              <a:rPr lang="en-US" b="1" dirty="0">
                <a:highlight>
                  <a:srgbClr val="C0C0C0"/>
                </a:highlight>
              </a:rPr>
              <a:t>12</a:t>
            </a:r>
          </a:p>
        </p:txBody>
      </p:sp>
      <p:sp>
        <p:nvSpPr>
          <p:cNvPr id="7" name="TextBox 6">
            <a:extLst>
              <a:ext uri="{FF2B5EF4-FFF2-40B4-BE49-F238E27FC236}">
                <a16:creationId xmlns:a16="http://schemas.microsoft.com/office/drawing/2014/main" id="{A5F5F3D9-4FAD-679A-FE6D-10C6C12466D4}"/>
              </a:ext>
            </a:extLst>
          </p:cNvPr>
          <p:cNvSpPr txBox="1"/>
          <p:nvPr/>
        </p:nvSpPr>
        <p:spPr>
          <a:xfrm>
            <a:off x="7322813" y="2751264"/>
            <a:ext cx="469571" cy="369332"/>
          </a:xfrm>
          <a:prstGeom prst="rect">
            <a:avLst/>
          </a:prstGeom>
          <a:noFill/>
        </p:spPr>
        <p:txBody>
          <a:bodyPr wrap="square" rtlCol="0">
            <a:spAutoFit/>
          </a:bodyPr>
          <a:lstStyle/>
          <a:p>
            <a:r>
              <a:rPr lang="en-US" b="1" dirty="0">
                <a:highlight>
                  <a:srgbClr val="C0C0C0"/>
                </a:highlight>
              </a:rPr>
              <a:t>11</a:t>
            </a:r>
          </a:p>
        </p:txBody>
      </p:sp>
      <p:sp>
        <p:nvSpPr>
          <p:cNvPr id="9" name="TextBox 8">
            <a:extLst>
              <a:ext uri="{FF2B5EF4-FFF2-40B4-BE49-F238E27FC236}">
                <a16:creationId xmlns:a16="http://schemas.microsoft.com/office/drawing/2014/main" id="{75289BB3-7656-CED0-8254-5BF6CCC6E062}"/>
              </a:ext>
            </a:extLst>
          </p:cNvPr>
          <p:cNvSpPr txBox="1"/>
          <p:nvPr/>
        </p:nvSpPr>
        <p:spPr>
          <a:xfrm>
            <a:off x="8521670" y="2393583"/>
            <a:ext cx="469571" cy="369332"/>
          </a:xfrm>
          <a:prstGeom prst="rect">
            <a:avLst/>
          </a:prstGeom>
          <a:noFill/>
        </p:spPr>
        <p:txBody>
          <a:bodyPr wrap="square" rtlCol="0">
            <a:spAutoFit/>
          </a:bodyPr>
          <a:lstStyle/>
          <a:p>
            <a:r>
              <a:rPr lang="en-US" b="1" dirty="0">
                <a:highlight>
                  <a:srgbClr val="C0C0C0"/>
                </a:highlight>
              </a:rPr>
              <a:t>10</a:t>
            </a:r>
          </a:p>
        </p:txBody>
      </p:sp>
      <p:sp>
        <p:nvSpPr>
          <p:cNvPr id="10" name="TextBox 9">
            <a:extLst>
              <a:ext uri="{FF2B5EF4-FFF2-40B4-BE49-F238E27FC236}">
                <a16:creationId xmlns:a16="http://schemas.microsoft.com/office/drawing/2014/main" id="{A370FD30-4A32-8EE3-2D21-8E61FC48AA95}"/>
              </a:ext>
            </a:extLst>
          </p:cNvPr>
          <p:cNvSpPr txBox="1"/>
          <p:nvPr/>
        </p:nvSpPr>
        <p:spPr>
          <a:xfrm>
            <a:off x="9031098" y="2372857"/>
            <a:ext cx="469571" cy="369332"/>
          </a:xfrm>
          <a:prstGeom prst="rect">
            <a:avLst/>
          </a:prstGeom>
          <a:noFill/>
        </p:spPr>
        <p:txBody>
          <a:bodyPr wrap="square" rtlCol="0">
            <a:spAutoFit/>
          </a:bodyPr>
          <a:lstStyle/>
          <a:p>
            <a:r>
              <a:rPr lang="en-US" b="1" dirty="0">
                <a:highlight>
                  <a:srgbClr val="C0C0C0"/>
                </a:highlight>
              </a:rPr>
              <a:t>9</a:t>
            </a:r>
          </a:p>
        </p:txBody>
      </p:sp>
      <p:pic>
        <p:nvPicPr>
          <p:cNvPr id="8" name="Picture 7" descr="A blue and white symbol&#10;&#10;Description automatically generated">
            <a:extLst>
              <a:ext uri="{FF2B5EF4-FFF2-40B4-BE49-F238E27FC236}">
                <a16:creationId xmlns:a16="http://schemas.microsoft.com/office/drawing/2014/main" id="{6C14E477-AE7F-99A8-B4B7-59124A2EBA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2964" y="1"/>
            <a:ext cx="1469035" cy="1469035"/>
          </a:xfrm>
          <a:prstGeom prst="rect">
            <a:avLst/>
          </a:prstGeom>
        </p:spPr>
      </p:pic>
    </p:spTree>
    <p:extLst>
      <p:ext uri="{BB962C8B-B14F-4D97-AF65-F5344CB8AC3E}">
        <p14:creationId xmlns:p14="http://schemas.microsoft.com/office/powerpoint/2010/main" val="2017063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3AB7F-7B9A-85B9-2B18-AB834DAF5383}"/>
              </a:ext>
            </a:extLst>
          </p:cNvPr>
          <p:cNvSpPr>
            <a:spLocks noGrp="1"/>
          </p:cNvSpPr>
          <p:nvPr>
            <p:ph type="title"/>
          </p:nvPr>
        </p:nvSpPr>
        <p:spPr/>
        <p:txBody>
          <a:bodyPr/>
          <a:lstStyle/>
          <a:p>
            <a:r>
              <a:rPr lang="en-US" dirty="0"/>
              <a:t>Arduino Code</a:t>
            </a:r>
          </a:p>
        </p:txBody>
      </p:sp>
      <p:grpSp>
        <p:nvGrpSpPr>
          <p:cNvPr id="8" name="Group 7">
            <a:extLst>
              <a:ext uri="{FF2B5EF4-FFF2-40B4-BE49-F238E27FC236}">
                <a16:creationId xmlns:a16="http://schemas.microsoft.com/office/drawing/2014/main" id="{6380E8A4-517F-CE47-EB6C-5DA49CF5458A}"/>
              </a:ext>
            </a:extLst>
          </p:cNvPr>
          <p:cNvGrpSpPr/>
          <p:nvPr/>
        </p:nvGrpSpPr>
        <p:grpSpPr>
          <a:xfrm>
            <a:off x="609600" y="1600201"/>
            <a:ext cx="7425128" cy="4033403"/>
            <a:chOff x="609600" y="1600201"/>
            <a:chExt cx="7425128" cy="4033403"/>
          </a:xfrm>
        </p:grpSpPr>
        <p:pic>
          <p:nvPicPr>
            <p:cNvPr id="5" name="Picture 4">
              <a:extLst>
                <a:ext uri="{FF2B5EF4-FFF2-40B4-BE49-F238E27FC236}">
                  <a16:creationId xmlns:a16="http://schemas.microsoft.com/office/drawing/2014/main" id="{71A191B1-9E8A-41A2-9E08-4865B32CBEC7}"/>
                </a:ext>
              </a:extLst>
            </p:cNvPr>
            <p:cNvPicPr>
              <a:picLocks noChangeAspect="1"/>
            </p:cNvPicPr>
            <p:nvPr/>
          </p:nvPicPr>
          <p:blipFill>
            <a:blip r:embed="rId2"/>
            <a:stretch>
              <a:fillRect/>
            </a:stretch>
          </p:blipFill>
          <p:spPr>
            <a:xfrm>
              <a:off x="609600" y="1600201"/>
              <a:ext cx="7425128" cy="4033403"/>
            </a:xfrm>
            <a:prstGeom prst="rect">
              <a:avLst/>
            </a:prstGeom>
          </p:spPr>
        </p:pic>
        <p:cxnSp>
          <p:nvCxnSpPr>
            <p:cNvPr id="6" name="Straight Arrow Connector 5">
              <a:extLst>
                <a:ext uri="{FF2B5EF4-FFF2-40B4-BE49-F238E27FC236}">
                  <a16:creationId xmlns:a16="http://schemas.microsoft.com/office/drawing/2014/main" id="{B6D1E59B-AC40-6B84-539E-10BD3B3200A5}"/>
                </a:ext>
              </a:extLst>
            </p:cNvPr>
            <p:cNvCxnSpPr/>
            <p:nvPr/>
          </p:nvCxnSpPr>
          <p:spPr>
            <a:xfrm flipH="1">
              <a:off x="4796852" y="4062334"/>
              <a:ext cx="79447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9C85021C-0CB9-6F8D-A46F-D55DADD97F52}"/>
                </a:ext>
              </a:extLst>
            </p:cNvPr>
            <p:cNvCxnSpPr/>
            <p:nvPr/>
          </p:nvCxnSpPr>
          <p:spPr>
            <a:xfrm flipH="1">
              <a:off x="3810000" y="4874301"/>
              <a:ext cx="79447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descr="A blue and white symbol&#10;&#10;Description automatically generated">
            <a:extLst>
              <a:ext uri="{FF2B5EF4-FFF2-40B4-BE49-F238E27FC236}">
                <a16:creationId xmlns:a16="http://schemas.microsoft.com/office/drawing/2014/main" id="{CDFBEB78-3C38-6FA7-7F35-4E88C2232C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2964" y="1"/>
            <a:ext cx="1469035" cy="1469035"/>
          </a:xfrm>
          <a:prstGeom prst="rect">
            <a:avLst/>
          </a:prstGeom>
        </p:spPr>
      </p:pic>
    </p:spTree>
    <p:extLst>
      <p:ext uri="{BB962C8B-B14F-4D97-AF65-F5344CB8AC3E}">
        <p14:creationId xmlns:p14="http://schemas.microsoft.com/office/powerpoint/2010/main" val="2263420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3AB7F-7B9A-85B9-2B18-AB834DAF5383}"/>
              </a:ext>
            </a:extLst>
          </p:cNvPr>
          <p:cNvSpPr>
            <a:spLocks noGrp="1"/>
          </p:cNvSpPr>
          <p:nvPr>
            <p:ph type="title"/>
          </p:nvPr>
        </p:nvSpPr>
        <p:spPr/>
        <p:txBody>
          <a:bodyPr/>
          <a:lstStyle/>
          <a:p>
            <a:r>
              <a:rPr lang="en-US" dirty="0"/>
              <a:t>Arduino Code</a:t>
            </a:r>
          </a:p>
        </p:txBody>
      </p:sp>
      <p:grpSp>
        <p:nvGrpSpPr>
          <p:cNvPr id="7" name="Group 6">
            <a:extLst>
              <a:ext uri="{FF2B5EF4-FFF2-40B4-BE49-F238E27FC236}">
                <a16:creationId xmlns:a16="http://schemas.microsoft.com/office/drawing/2014/main" id="{2B1EFCE9-1CC8-9BE9-A784-F8A7C4CC2723}"/>
              </a:ext>
            </a:extLst>
          </p:cNvPr>
          <p:cNvGrpSpPr/>
          <p:nvPr/>
        </p:nvGrpSpPr>
        <p:grpSpPr>
          <a:xfrm>
            <a:off x="609599" y="1600201"/>
            <a:ext cx="6135975" cy="4146251"/>
            <a:chOff x="609599" y="1600201"/>
            <a:chExt cx="6135975" cy="4146251"/>
          </a:xfrm>
        </p:grpSpPr>
        <p:pic>
          <p:nvPicPr>
            <p:cNvPr id="6" name="Picture 5">
              <a:extLst>
                <a:ext uri="{FF2B5EF4-FFF2-40B4-BE49-F238E27FC236}">
                  <a16:creationId xmlns:a16="http://schemas.microsoft.com/office/drawing/2014/main" id="{1BFA41C0-E21E-31F7-D6E5-1AE4D3B1CD3A}"/>
                </a:ext>
              </a:extLst>
            </p:cNvPr>
            <p:cNvPicPr>
              <a:picLocks noChangeAspect="1"/>
            </p:cNvPicPr>
            <p:nvPr/>
          </p:nvPicPr>
          <p:blipFill>
            <a:blip r:embed="rId2"/>
            <a:stretch>
              <a:fillRect/>
            </a:stretch>
          </p:blipFill>
          <p:spPr>
            <a:xfrm>
              <a:off x="609599" y="1600201"/>
              <a:ext cx="6135975" cy="4146251"/>
            </a:xfrm>
            <a:prstGeom prst="rect">
              <a:avLst/>
            </a:prstGeom>
          </p:spPr>
        </p:pic>
        <p:cxnSp>
          <p:nvCxnSpPr>
            <p:cNvPr id="4" name="Straight Arrow Connector 3">
              <a:extLst>
                <a:ext uri="{FF2B5EF4-FFF2-40B4-BE49-F238E27FC236}">
                  <a16:creationId xmlns:a16="http://schemas.microsoft.com/office/drawing/2014/main" id="{EB1C9E11-A515-7EFB-9D40-071B956D3677}"/>
                </a:ext>
              </a:extLst>
            </p:cNvPr>
            <p:cNvCxnSpPr/>
            <p:nvPr/>
          </p:nvCxnSpPr>
          <p:spPr>
            <a:xfrm flipH="1">
              <a:off x="5006714" y="4317167"/>
              <a:ext cx="79447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304E9E63-A84A-8DA9-9574-C23F45B1C609}"/>
                </a:ext>
              </a:extLst>
            </p:cNvPr>
            <p:cNvCxnSpPr/>
            <p:nvPr/>
          </p:nvCxnSpPr>
          <p:spPr>
            <a:xfrm flipH="1">
              <a:off x="3795010" y="3401518"/>
              <a:ext cx="79447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grpSp>
      <p:pic>
        <p:nvPicPr>
          <p:cNvPr id="3" name="Picture 2" descr="A blue and white symbol&#10;&#10;Description automatically generated">
            <a:extLst>
              <a:ext uri="{FF2B5EF4-FFF2-40B4-BE49-F238E27FC236}">
                <a16:creationId xmlns:a16="http://schemas.microsoft.com/office/drawing/2014/main" id="{042042AB-285A-3F0A-24AF-1456A85F56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2964" y="1"/>
            <a:ext cx="1469035" cy="1469035"/>
          </a:xfrm>
          <a:prstGeom prst="rect">
            <a:avLst/>
          </a:prstGeom>
        </p:spPr>
      </p:pic>
    </p:spTree>
    <p:extLst>
      <p:ext uri="{BB962C8B-B14F-4D97-AF65-F5344CB8AC3E}">
        <p14:creationId xmlns:p14="http://schemas.microsoft.com/office/powerpoint/2010/main" val="4054025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3AB7F-7B9A-85B9-2B18-AB834DAF5383}"/>
              </a:ext>
            </a:extLst>
          </p:cNvPr>
          <p:cNvSpPr>
            <a:spLocks noGrp="1"/>
          </p:cNvSpPr>
          <p:nvPr>
            <p:ph type="title"/>
          </p:nvPr>
        </p:nvSpPr>
        <p:spPr/>
        <p:txBody>
          <a:bodyPr/>
          <a:lstStyle/>
          <a:p>
            <a:r>
              <a:rPr lang="en-US" dirty="0"/>
              <a:t>Arduino Code</a:t>
            </a:r>
          </a:p>
        </p:txBody>
      </p:sp>
      <p:grpSp>
        <p:nvGrpSpPr>
          <p:cNvPr id="7" name="Group 6">
            <a:extLst>
              <a:ext uri="{FF2B5EF4-FFF2-40B4-BE49-F238E27FC236}">
                <a16:creationId xmlns:a16="http://schemas.microsoft.com/office/drawing/2014/main" id="{D113D539-923A-5D53-9CE4-533B1C77E177}"/>
              </a:ext>
            </a:extLst>
          </p:cNvPr>
          <p:cNvGrpSpPr/>
          <p:nvPr/>
        </p:nvGrpSpPr>
        <p:grpSpPr>
          <a:xfrm>
            <a:off x="609600" y="1628523"/>
            <a:ext cx="6076013" cy="4086714"/>
            <a:chOff x="609600" y="1628523"/>
            <a:chExt cx="6076013" cy="4086714"/>
          </a:xfrm>
        </p:grpSpPr>
        <p:pic>
          <p:nvPicPr>
            <p:cNvPr id="5" name="Picture 4">
              <a:extLst>
                <a:ext uri="{FF2B5EF4-FFF2-40B4-BE49-F238E27FC236}">
                  <a16:creationId xmlns:a16="http://schemas.microsoft.com/office/drawing/2014/main" id="{4A6215FD-9415-29B0-6B71-1F82BEC5C14A}"/>
                </a:ext>
              </a:extLst>
            </p:cNvPr>
            <p:cNvPicPr>
              <a:picLocks noChangeAspect="1"/>
            </p:cNvPicPr>
            <p:nvPr/>
          </p:nvPicPr>
          <p:blipFill>
            <a:blip r:embed="rId2"/>
            <a:stretch>
              <a:fillRect/>
            </a:stretch>
          </p:blipFill>
          <p:spPr>
            <a:xfrm>
              <a:off x="609600" y="1628523"/>
              <a:ext cx="6076013" cy="4086714"/>
            </a:xfrm>
            <a:prstGeom prst="rect">
              <a:avLst/>
            </a:prstGeom>
          </p:spPr>
        </p:pic>
        <p:cxnSp>
          <p:nvCxnSpPr>
            <p:cNvPr id="4" name="Straight Arrow Connector 3">
              <a:extLst>
                <a:ext uri="{FF2B5EF4-FFF2-40B4-BE49-F238E27FC236}">
                  <a16:creationId xmlns:a16="http://schemas.microsoft.com/office/drawing/2014/main" id="{3F769F5B-EED1-B043-7900-0DC12DF6E5F4}"/>
                </a:ext>
              </a:extLst>
            </p:cNvPr>
            <p:cNvCxnSpPr/>
            <p:nvPr/>
          </p:nvCxnSpPr>
          <p:spPr>
            <a:xfrm flipH="1">
              <a:off x="3912432" y="4107304"/>
              <a:ext cx="79447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25CAA2B5-3DEE-231D-1970-E50163F1C032}"/>
                </a:ext>
              </a:extLst>
            </p:cNvPr>
            <p:cNvCxnSpPr/>
            <p:nvPr/>
          </p:nvCxnSpPr>
          <p:spPr>
            <a:xfrm flipH="1">
              <a:off x="3435244" y="2041159"/>
              <a:ext cx="79447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grpSp>
      <p:pic>
        <p:nvPicPr>
          <p:cNvPr id="3" name="Picture 2" descr="A blue and white symbol&#10;&#10;Description automatically generated">
            <a:extLst>
              <a:ext uri="{FF2B5EF4-FFF2-40B4-BE49-F238E27FC236}">
                <a16:creationId xmlns:a16="http://schemas.microsoft.com/office/drawing/2014/main" id="{B4A66FF5-36A1-AAA4-E020-8BD0FF117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2964" y="1"/>
            <a:ext cx="1469035" cy="1469035"/>
          </a:xfrm>
          <a:prstGeom prst="rect">
            <a:avLst/>
          </a:prstGeom>
        </p:spPr>
      </p:pic>
    </p:spTree>
    <p:extLst>
      <p:ext uri="{BB962C8B-B14F-4D97-AF65-F5344CB8AC3E}">
        <p14:creationId xmlns:p14="http://schemas.microsoft.com/office/powerpoint/2010/main" val="1767222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3AB7F-7B9A-85B9-2B18-AB834DAF5383}"/>
              </a:ext>
            </a:extLst>
          </p:cNvPr>
          <p:cNvSpPr>
            <a:spLocks noGrp="1"/>
          </p:cNvSpPr>
          <p:nvPr>
            <p:ph type="title"/>
          </p:nvPr>
        </p:nvSpPr>
        <p:spPr/>
        <p:txBody>
          <a:bodyPr/>
          <a:lstStyle/>
          <a:p>
            <a:r>
              <a:rPr lang="en-US" dirty="0"/>
              <a:t>Arduino Code</a:t>
            </a:r>
          </a:p>
        </p:txBody>
      </p:sp>
      <p:grpSp>
        <p:nvGrpSpPr>
          <p:cNvPr id="7" name="Group 6">
            <a:extLst>
              <a:ext uri="{FF2B5EF4-FFF2-40B4-BE49-F238E27FC236}">
                <a16:creationId xmlns:a16="http://schemas.microsoft.com/office/drawing/2014/main" id="{63A1DDCF-5F16-5A95-1913-F28B82271090}"/>
              </a:ext>
            </a:extLst>
          </p:cNvPr>
          <p:cNvGrpSpPr/>
          <p:nvPr/>
        </p:nvGrpSpPr>
        <p:grpSpPr>
          <a:xfrm>
            <a:off x="609600" y="1641424"/>
            <a:ext cx="7192824" cy="3964897"/>
            <a:chOff x="609600" y="1641424"/>
            <a:chExt cx="7192824" cy="3964897"/>
          </a:xfrm>
        </p:grpSpPr>
        <p:pic>
          <p:nvPicPr>
            <p:cNvPr id="6" name="Picture 5">
              <a:extLst>
                <a:ext uri="{FF2B5EF4-FFF2-40B4-BE49-F238E27FC236}">
                  <a16:creationId xmlns:a16="http://schemas.microsoft.com/office/drawing/2014/main" id="{569FCFB2-FF23-A57B-6B66-C84AFFB3A6C6}"/>
                </a:ext>
              </a:extLst>
            </p:cNvPr>
            <p:cNvPicPr>
              <a:picLocks noChangeAspect="1"/>
            </p:cNvPicPr>
            <p:nvPr/>
          </p:nvPicPr>
          <p:blipFill>
            <a:blip r:embed="rId2"/>
            <a:stretch>
              <a:fillRect/>
            </a:stretch>
          </p:blipFill>
          <p:spPr>
            <a:xfrm>
              <a:off x="609600" y="1641424"/>
              <a:ext cx="7192824" cy="3964897"/>
            </a:xfrm>
            <a:prstGeom prst="rect">
              <a:avLst/>
            </a:prstGeom>
          </p:spPr>
        </p:pic>
        <p:cxnSp>
          <p:nvCxnSpPr>
            <p:cNvPr id="4" name="Straight Arrow Connector 3">
              <a:extLst>
                <a:ext uri="{FF2B5EF4-FFF2-40B4-BE49-F238E27FC236}">
                  <a16:creationId xmlns:a16="http://schemas.microsoft.com/office/drawing/2014/main" id="{6821CF6C-C6D4-D1D9-BDD9-D49D71D3D356}"/>
                </a:ext>
              </a:extLst>
            </p:cNvPr>
            <p:cNvCxnSpPr/>
            <p:nvPr/>
          </p:nvCxnSpPr>
          <p:spPr>
            <a:xfrm flipH="1">
              <a:off x="4122294" y="3822491"/>
              <a:ext cx="79447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837ED5F9-0224-8002-F8F7-F8C802C9D219}"/>
                </a:ext>
              </a:extLst>
            </p:cNvPr>
            <p:cNvCxnSpPr/>
            <p:nvPr/>
          </p:nvCxnSpPr>
          <p:spPr>
            <a:xfrm flipH="1">
              <a:off x="4519533" y="5234064"/>
              <a:ext cx="794479"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grpSp>
      <p:pic>
        <p:nvPicPr>
          <p:cNvPr id="8" name="Picture 7" descr="A blue and white symbol&#10;&#10;Description automatically generated">
            <a:extLst>
              <a:ext uri="{FF2B5EF4-FFF2-40B4-BE49-F238E27FC236}">
                <a16:creationId xmlns:a16="http://schemas.microsoft.com/office/drawing/2014/main" id="{850809D7-E083-FBE7-9599-36E99040E5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2964" y="1"/>
            <a:ext cx="1469035" cy="1469035"/>
          </a:xfrm>
          <a:prstGeom prst="rect">
            <a:avLst/>
          </a:prstGeom>
        </p:spPr>
      </p:pic>
    </p:spTree>
    <p:extLst>
      <p:ext uri="{BB962C8B-B14F-4D97-AF65-F5344CB8AC3E}">
        <p14:creationId xmlns:p14="http://schemas.microsoft.com/office/powerpoint/2010/main" val="1525996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34B277-ECD6-C2FE-4D7F-A81633649E79}"/>
              </a:ext>
            </a:extLst>
          </p:cNvPr>
          <p:cNvSpPr>
            <a:spLocks noGrp="1"/>
          </p:cNvSpPr>
          <p:nvPr>
            <p:ph idx="1"/>
          </p:nvPr>
        </p:nvSpPr>
        <p:spPr/>
        <p:txBody>
          <a:bodyPr/>
          <a:lstStyle/>
          <a:p>
            <a:r>
              <a:rPr lang="en-US" dirty="0"/>
              <a:t>Press the pushbutton to begin scanning.</a:t>
            </a:r>
          </a:p>
          <a:p>
            <a:r>
              <a:rPr lang="en-US" dirty="0"/>
              <a:t>Now experiment scanning the area around you. Adjust the </a:t>
            </a:r>
            <a:r>
              <a:rPr lang="en-US" dirty="0" err="1">
                <a:latin typeface="Calibri Light" panose="020F0302020204030204" pitchFamily="34" charset="0"/>
                <a:ea typeface="Calibri Light" panose="020F0302020204030204" pitchFamily="34" charset="0"/>
                <a:cs typeface="Calibri Light" panose="020F0302020204030204" pitchFamily="34" charset="0"/>
              </a:rPr>
              <a:t>search_dist</a:t>
            </a:r>
            <a:r>
              <a:rPr lang="en-US" dirty="0">
                <a:latin typeface="Calibri Light" panose="020F0302020204030204" pitchFamily="34" charset="0"/>
                <a:ea typeface="Calibri Light" panose="020F0302020204030204" pitchFamily="34" charset="0"/>
                <a:cs typeface="Calibri Light" panose="020F0302020204030204" pitchFamily="34" charset="0"/>
              </a:rPr>
              <a:t> </a:t>
            </a:r>
            <a:r>
              <a:rPr lang="en-US" dirty="0">
                <a:ea typeface="Calibri Light" panose="020F0302020204030204" pitchFamily="34" charset="0"/>
                <a:cs typeface="Calibri Light" panose="020F0302020204030204" pitchFamily="34" charset="0"/>
              </a:rPr>
              <a:t>and observe its effects.</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2" name="Picture 1" descr="A blue and white symbol&#10;&#10;Description automatically generated">
            <a:extLst>
              <a:ext uri="{FF2B5EF4-FFF2-40B4-BE49-F238E27FC236}">
                <a16:creationId xmlns:a16="http://schemas.microsoft.com/office/drawing/2014/main" id="{70CEB0C1-4516-4D70-89D4-014F7CE405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2964" y="1"/>
            <a:ext cx="1469035" cy="1469035"/>
          </a:xfrm>
          <a:prstGeom prst="rect">
            <a:avLst/>
          </a:prstGeom>
        </p:spPr>
      </p:pic>
      <p:sp>
        <p:nvSpPr>
          <p:cNvPr id="4" name="Title 1">
            <a:extLst>
              <a:ext uri="{FF2B5EF4-FFF2-40B4-BE49-F238E27FC236}">
                <a16:creationId xmlns:a16="http://schemas.microsoft.com/office/drawing/2014/main" id="{795B73FE-B6DF-313C-59DA-C5C37D56FD2F}"/>
              </a:ext>
            </a:extLst>
          </p:cNvPr>
          <p:cNvSpPr>
            <a:spLocks noGrp="1"/>
          </p:cNvSpPr>
          <p:nvPr>
            <p:ph type="title"/>
          </p:nvPr>
        </p:nvSpPr>
        <p:spPr>
          <a:xfrm>
            <a:off x="609600" y="274638"/>
            <a:ext cx="10972800" cy="1143000"/>
          </a:xfrm>
        </p:spPr>
        <p:txBody>
          <a:bodyPr>
            <a:normAutofit/>
          </a:bodyPr>
          <a:lstStyle/>
          <a:p>
            <a:r>
              <a:rPr lang="en-US" dirty="0"/>
              <a:t>Test the Program</a:t>
            </a:r>
          </a:p>
        </p:txBody>
      </p:sp>
    </p:spTree>
    <p:extLst>
      <p:ext uri="{BB962C8B-B14F-4D97-AF65-F5344CB8AC3E}">
        <p14:creationId xmlns:p14="http://schemas.microsoft.com/office/powerpoint/2010/main" val="3883853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wyo_powerpoint_template1 [Read-Only]" id="{4B645B48-1D4D-4A7E-A227-940AAC3A88AC}" vid="{38082606-69BA-4892-877D-46BB1B9206B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335</Words>
  <Application>Microsoft Office PowerPoint</Application>
  <PresentationFormat>Widescreen</PresentationFormat>
  <Paragraphs>37</Paragraphs>
  <Slides>10</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Aptos</vt:lpstr>
      <vt:lpstr>Aptos Display</vt:lpstr>
      <vt:lpstr>Arial</vt:lpstr>
      <vt:lpstr>Calibri</vt:lpstr>
      <vt:lpstr>Calibri Light</vt:lpstr>
      <vt:lpstr>Office Theme</vt:lpstr>
      <vt:lpstr>Custom Design</vt:lpstr>
      <vt:lpstr> Mining Rescue Arduino with C Code</vt:lpstr>
      <vt:lpstr>Scenario</vt:lpstr>
      <vt:lpstr>What is an ultrasonic sensor?</vt:lpstr>
      <vt:lpstr>Project Concept</vt:lpstr>
      <vt:lpstr>Circuit Diagram</vt:lpstr>
      <vt:lpstr>Arduino Code</vt:lpstr>
      <vt:lpstr>Arduino Code</vt:lpstr>
      <vt:lpstr>Arduino Code</vt:lpstr>
      <vt:lpstr>Arduino Code</vt:lpstr>
      <vt:lpstr>Test the Program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Noah Patrick Mulvaney</dc:creator>
  <cp:lastModifiedBy>Matthew Pikal</cp:lastModifiedBy>
  <cp:revision>20</cp:revision>
  <dcterms:created xsi:type="dcterms:W3CDTF">2024-06-06T21:24:29Z</dcterms:created>
  <dcterms:modified xsi:type="dcterms:W3CDTF">2025-06-23T19:31:18Z</dcterms:modified>
</cp:coreProperties>
</file>