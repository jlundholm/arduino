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9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EF566C-1E64-43EA-9A22-EE79B1CCD81F}" v="89" dt="2024-06-27T21:01:02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C3F1-7467-4D29-BBF9-AE97E0B6934A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E3B93-5510-486C-96AB-E6BFA317F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78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13 Jun 2024 by Noah Mulvaney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C9E866-E575-429A-955A-0A8D1C8726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82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E3B93-5510-486C-96AB-E6BFA317F6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86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353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78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55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570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519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4730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281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605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60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13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61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6/24/2025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BrandBar_New_flag_only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020" y="5666008"/>
            <a:ext cx="13280983" cy="15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5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507" y="3721029"/>
            <a:ext cx="10363200" cy="1135288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69381E"/>
                </a:solidFill>
              </a:rPr>
              <a:t> Logic Gates</a:t>
            </a:r>
            <a:br>
              <a:rPr lang="en-US" sz="5400" b="1" dirty="0">
                <a:solidFill>
                  <a:srgbClr val="69381E"/>
                </a:solidFill>
              </a:rPr>
            </a:br>
            <a:r>
              <a:rPr lang="en-US" sz="2000" b="1" dirty="0">
                <a:solidFill>
                  <a:srgbClr val="69381E"/>
                </a:solidFill>
              </a:rPr>
              <a:t>Arduino with C Programming</a:t>
            </a:r>
            <a:endParaRPr lang="en-US" sz="5400" b="1" dirty="0">
              <a:solidFill>
                <a:srgbClr val="69381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29181" y="6479816"/>
            <a:ext cx="849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ELECTRICAL ENGINEERING AND COMPUTER SCIENCE, COLLEGE OF ENGINEERING AND PHYSICAL SCIENCES</a:t>
            </a:r>
          </a:p>
        </p:txBody>
      </p:sp>
      <p:pic>
        <p:nvPicPr>
          <p:cNvPr id="10" name="Picture 9" descr="A brown rectangular sign with a horse and text&#10;&#10;Description automatically generated">
            <a:extLst>
              <a:ext uri="{FF2B5EF4-FFF2-40B4-BE49-F238E27FC236}">
                <a16:creationId xmlns:a16="http://schemas.microsoft.com/office/drawing/2014/main" id="{CB96BABA-B0E6-123B-BAEB-42A84349C68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32742" r="1737" b="31610"/>
          <a:stretch/>
        </p:blipFill>
        <p:spPr>
          <a:xfrm>
            <a:off x="3529181" y="1433632"/>
            <a:ext cx="4810978" cy="171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9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D626-A470-4AD1-0471-E5CE353B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6C932-584D-ACC0-3FEA-551CB4043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different types of logic gates and their operations </a:t>
            </a:r>
          </a:p>
          <a:p>
            <a:r>
              <a:rPr lang="en-US" dirty="0"/>
              <a:t>Use these logic gates to turn on an LED when inputs are appropriate</a:t>
            </a:r>
          </a:p>
        </p:txBody>
      </p:sp>
    </p:spTree>
    <p:extLst>
      <p:ext uri="{BB962C8B-B14F-4D97-AF65-F5344CB8AC3E}">
        <p14:creationId xmlns:p14="http://schemas.microsoft.com/office/powerpoint/2010/main" val="2777900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7823-8C6D-7BFB-DE1A-167647B1A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are logic gates?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71C4B-3C30-E359-00E7-4E9F8D31A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28923"/>
            <a:ext cx="53848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Logic gates are like the building blocks of computers. They help computers make decisions by controlling the flow of electricity. </a:t>
            </a:r>
          </a:p>
          <a:p>
            <a:r>
              <a:rPr lang="en-US" dirty="0"/>
              <a:t>You can think of them like little switches that turn on or off based on certain rules. </a:t>
            </a:r>
          </a:p>
          <a:p>
            <a:r>
              <a:rPr lang="en-US" dirty="0"/>
              <a:t>In this presentation we will be focusing on three basic gates, the AND, the NOR, and the NOT gate.</a:t>
            </a:r>
          </a:p>
          <a:p>
            <a:endParaRPr lang="en-US" dirty="0"/>
          </a:p>
        </p:txBody>
      </p:sp>
      <p:pic>
        <p:nvPicPr>
          <p:cNvPr id="1026" name="Picture 2" descr="basic logic gates | EE4engineer">
            <a:extLst>
              <a:ext uri="{FF2B5EF4-FFF2-40B4-BE49-F238E27FC236}">
                <a16:creationId xmlns:a16="http://schemas.microsoft.com/office/drawing/2014/main" id="{F827C3EF-5067-3E9A-05A1-DC039342F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55425" y="1291828"/>
            <a:ext cx="3861556" cy="427434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84462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8BF4-D9EE-93B2-49E6-77BB484B7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is an AND gate?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17C89C9-60A6-9CCA-889F-E5C8EBE85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17638"/>
            <a:ext cx="53848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logic gate can either output HIGH or LOW, in our case HIGH is the voltage applied and LOW is ground.</a:t>
            </a:r>
          </a:p>
          <a:p>
            <a:r>
              <a:rPr lang="en-US" dirty="0"/>
              <a:t>For an AND gate to output HIGH, all inputs must be HIGH.</a:t>
            </a:r>
          </a:p>
          <a:p>
            <a:r>
              <a:rPr lang="en-US" dirty="0"/>
              <a:t>Each gate also has a symbol, the AND symbol is in the top right corner</a:t>
            </a:r>
          </a:p>
          <a:p>
            <a:r>
              <a:rPr lang="en-US" dirty="0"/>
              <a:t>1 is HIGH, and 0 is LOW</a:t>
            </a:r>
          </a:p>
          <a:p>
            <a:r>
              <a:rPr lang="en-US" dirty="0"/>
              <a:t>To represent the operation of the AND gate we use the multiplication sign (*)</a:t>
            </a:r>
          </a:p>
          <a:p>
            <a:endParaRPr lang="en-US" dirty="0"/>
          </a:p>
        </p:txBody>
      </p:sp>
      <p:pic>
        <p:nvPicPr>
          <p:cNvPr id="2050" name="Picture 2" descr="Logic Tables of logic gates ~ Digital logic notes">
            <a:extLst>
              <a:ext uri="{FF2B5EF4-FFF2-40B4-BE49-F238E27FC236}">
                <a16:creationId xmlns:a16="http://schemas.microsoft.com/office/drawing/2014/main" id="{2D329D79-F190-015D-D189-164A9271A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600" y="2072736"/>
            <a:ext cx="5384800" cy="3580892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052" name="Picture 4" descr="Logic Gate Circuit Diagram Xor Gate And Gate Electronic Symbol Png Images">
            <a:extLst>
              <a:ext uri="{FF2B5EF4-FFF2-40B4-BE49-F238E27FC236}">
                <a16:creationId xmlns:a16="http://schemas.microsoft.com/office/drawing/2014/main" id="{B55EFD5D-07A2-41ED-3B62-47A909251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1150" y="0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7362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85E67-2606-ACC0-50DC-1D9D76C7B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is an OR gate?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03EDE5-4302-4BDC-6BEF-C46471736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68" y="1600201"/>
            <a:ext cx="5384800" cy="3853342"/>
          </a:xfrm>
          <a:prstGeom prst="rect">
            <a:avLst/>
          </a:prstGeom>
          <a:noFill/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138352-D367-BDE6-0E15-4EDB054E4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US" dirty="0"/>
              <a:t>An OR gate only requires one of the inputs to be HIGH , for a HIGH output</a:t>
            </a:r>
          </a:p>
          <a:p>
            <a:r>
              <a:rPr lang="en-US" dirty="0"/>
              <a:t>To represent the operation of the OR gate we use the addition sign </a:t>
            </a:r>
          </a:p>
          <a:p>
            <a:r>
              <a:rPr lang="en-US" dirty="0"/>
              <a:t>For example, A+B is A or B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Or Gate Symbol">
            <a:extLst>
              <a:ext uri="{FF2B5EF4-FFF2-40B4-BE49-F238E27FC236}">
                <a16:creationId xmlns:a16="http://schemas.microsoft.com/office/drawing/2014/main" id="{FECFB873-D7C3-8BA0-D1CD-323C1A903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49466"/>
            <a:ext cx="2428407" cy="79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284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9D94-F0B3-AD52-5C16-A4D0DB62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is a NOT gate?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0D4A11-2306-680C-6508-F8C36FEE4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NOT gate simply inverts the input given</a:t>
            </a:r>
          </a:p>
          <a:p>
            <a:r>
              <a:rPr lang="en-US" dirty="0"/>
              <a:t>For example, if the input is HIGH, then the output is LOW</a:t>
            </a:r>
          </a:p>
          <a:p>
            <a:r>
              <a:rPr lang="en-US" dirty="0"/>
              <a:t>To symbolize that we are inverting an input we can use a bar over the top of the letter or an exclamation mark before it</a:t>
            </a:r>
          </a:p>
          <a:p>
            <a:r>
              <a:rPr lang="en-US" dirty="0"/>
              <a:t>For example, !A,      , and A’ are all equal to the opposite of A</a:t>
            </a:r>
          </a:p>
        </p:txBody>
      </p:sp>
      <p:pic>
        <p:nvPicPr>
          <p:cNvPr id="2050" name="Picture 2" descr="Virtual Labs">
            <a:extLst>
              <a:ext uri="{FF2B5EF4-FFF2-40B4-BE49-F238E27FC236}">
                <a16:creationId xmlns:a16="http://schemas.microsoft.com/office/drawing/2014/main" id="{37A3FC9E-7E47-AEBA-B4F3-3A9E3042D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600" y="2066005"/>
            <a:ext cx="5384800" cy="3594354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5" name="Picture 4" descr="Not Gate Clip Art at Clker.com - vector clip art online, royalty free &amp; public domain">
            <a:extLst>
              <a:ext uri="{FF2B5EF4-FFF2-40B4-BE49-F238E27FC236}">
                <a16:creationId xmlns:a16="http://schemas.microsoft.com/office/drawing/2014/main" id="{52FCB229-BDDA-FD90-D2EF-C71556F6F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9693" y="325751"/>
            <a:ext cx="2352831" cy="127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BE98C-B2C3-20B4-8BD9-F9607EBA0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3573" y="4858737"/>
            <a:ext cx="406443" cy="48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8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95709-2840-1D97-7D9A-CAC17C7C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What is a NOR gate?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E13111-38DC-8CD6-D24B-BC85B8FB5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01369"/>
            <a:ext cx="5384800" cy="4525963"/>
          </a:xfrm>
        </p:spPr>
        <p:txBody>
          <a:bodyPr>
            <a:normAutofit/>
          </a:bodyPr>
          <a:lstStyle/>
          <a:p>
            <a:r>
              <a:rPr lang="en-US" dirty="0"/>
              <a:t>This gate does exactly the opposite of the OR gate, if any input is HIGH then the output is LOW</a:t>
            </a:r>
          </a:p>
          <a:p>
            <a:r>
              <a:rPr lang="en-US" dirty="0"/>
              <a:t>You can think of NOR as NOT OR, which gives us the expression !(A+B)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058D9C-0F85-D1C4-D2CF-FC6B8BCB4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852" y="1166018"/>
            <a:ext cx="3767864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922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DFCA-B4C8-2851-D9CF-C4B74F3CB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Using the IC logic gates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FBCF9A-C645-8DBF-557A-266875D7C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92809"/>
            <a:ext cx="10972800" cy="4525963"/>
          </a:xfrm>
        </p:spPr>
        <p:txBody>
          <a:bodyPr/>
          <a:lstStyle/>
          <a:p>
            <a:r>
              <a:rPr lang="en-US" dirty="0"/>
              <a:t>An IC is an integrated circuit, so an IC logic gate is a circuit that performs the operation of a certain logic gate </a:t>
            </a:r>
          </a:p>
          <a:p>
            <a:r>
              <a:rPr lang="en-US" dirty="0"/>
              <a:t>For each chip there are pins for inputs, outputs, and power</a:t>
            </a:r>
          </a:p>
          <a:p>
            <a:r>
              <a:rPr lang="en-US" dirty="0"/>
              <a:t>We can make a digital logic circuit to turn on an LED with logic gates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651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14C4-A39D-F308-E312-CDAC2EE8B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Pinouts</a:t>
            </a:r>
          </a:p>
        </p:txBody>
      </p:sp>
      <p:pic>
        <p:nvPicPr>
          <p:cNvPr id="6" name="Picture 2" descr="שבב CD4081B שער לוגי AND - Hackstore">
            <a:extLst>
              <a:ext uri="{FF2B5EF4-FFF2-40B4-BE49-F238E27FC236}">
                <a16:creationId xmlns:a16="http://schemas.microsoft.com/office/drawing/2014/main" id="{79DE0D3B-64D7-4D20-7618-FBA86F7C6C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3" t="17628" r="27703" b="18869"/>
          <a:stretch/>
        </p:blipFill>
        <p:spPr bwMode="auto">
          <a:xfrm>
            <a:off x="577264" y="1138619"/>
            <a:ext cx="3196136" cy="420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N74LS04 - Hex Inverter, 7404, TTL, 14 Pin ( Pinout )">
            <a:extLst>
              <a:ext uri="{FF2B5EF4-FFF2-40B4-BE49-F238E27FC236}">
                <a16:creationId xmlns:a16="http://schemas.microsoft.com/office/drawing/2014/main" id="{6E539066-D380-AA07-AF1B-E1C7CC944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548764" y="1572523"/>
            <a:ext cx="4850126" cy="344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ompuerta lógica NOR SN74HC02N 4CH">
            <a:extLst>
              <a:ext uri="{FF2B5EF4-FFF2-40B4-BE49-F238E27FC236}">
                <a16:creationId xmlns:a16="http://schemas.microsoft.com/office/drawing/2014/main" id="{4FB140AB-A697-8061-6932-335AA3345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773400" y="1373451"/>
            <a:ext cx="4345930" cy="4345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0F47E-A659-F6CD-4E4E-44AF0D0E7831}"/>
              </a:ext>
            </a:extLst>
          </p:cNvPr>
          <p:cNvSpPr txBox="1"/>
          <p:nvPr/>
        </p:nvSpPr>
        <p:spPr>
          <a:xfrm>
            <a:off x="975676" y="786178"/>
            <a:ext cx="2454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CD4081BE (AND gate)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FE69DB-65EB-7632-669F-FFE8208F47BA}"/>
              </a:ext>
            </a:extLst>
          </p:cNvPr>
          <p:cNvSpPr txBox="1"/>
          <p:nvPr/>
        </p:nvSpPr>
        <p:spPr>
          <a:xfrm>
            <a:off x="4930940" y="1123613"/>
            <a:ext cx="26450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SN74HC02N (NOR gate)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4C15EC-9194-5C3F-0C12-99D0DBC6516C}"/>
              </a:ext>
            </a:extLst>
          </p:cNvPr>
          <p:cNvSpPr txBox="1"/>
          <p:nvPr/>
        </p:nvSpPr>
        <p:spPr>
          <a:xfrm>
            <a:off x="8701855" y="751412"/>
            <a:ext cx="25531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SN74LS04N (NOT gate)</a:t>
            </a:r>
          </a:p>
        </p:txBody>
      </p:sp>
    </p:spTree>
    <p:extLst>
      <p:ext uri="{BB962C8B-B14F-4D97-AF65-F5344CB8AC3E}">
        <p14:creationId xmlns:p14="http://schemas.microsoft.com/office/powerpoint/2010/main" val="2532958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C651F-1831-280E-2814-FC754B56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Boolean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32195-4561-7AAB-3E89-C1E334931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91828"/>
            <a:ext cx="53848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We will be building our digital logic circuit based off the equation: Y = !((AB) + !C)</a:t>
            </a:r>
          </a:p>
          <a:p>
            <a:pPr>
              <a:lnSpc>
                <a:spcPct val="90000"/>
              </a:lnSpc>
            </a:pPr>
            <a:r>
              <a:rPr lang="en-US" dirty="0"/>
              <a:t>Our output Y will turn on an LED if the equation above </a:t>
            </a:r>
            <a:r>
              <a:rPr lang="en-US"/>
              <a:t>is true so, </a:t>
            </a:r>
            <a:r>
              <a:rPr lang="en-US" dirty="0"/>
              <a:t>combinations 2, 4, and 6 should </a:t>
            </a:r>
            <a:r>
              <a:rPr lang="en-US"/>
              <a:t>light up the </a:t>
            </a:r>
            <a:r>
              <a:rPr lang="en-US" dirty="0"/>
              <a:t>LED.</a:t>
            </a:r>
          </a:p>
          <a:p>
            <a:pPr>
              <a:lnSpc>
                <a:spcPct val="90000"/>
              </a:lnSpc>
            </a:pPr>
            <a:r>
              <a:rPr lang="en-US" dirty="0"/>
              <a:t>A truth table of this equation can be used to check our circuit</a:t>
            </a:r>
          </a:p>
          <a:p>
            <a:pPr>
              <a:lnSpc>
                <a:spcPct val="90000"/>
              </a:lnSpc>
            </a:pPr>
            <a:r>
              <a:rPr lang="en-US" dirty="0"/>
              <a:t>We could even build a truth table from a circuit just by looking at the LED with different inputs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30E00-0477-7333-5A92-4C10757C9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245" y="1166018"/>
            <a:ext cx="1952572" cy="4525963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6F3E64-A404-6B46-1D9C-637A7CCE5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817" y="1747609"/>
            <a:ext cx="1371791" cy="3944372"/>
          </a:xfrm>
          <a:prstGeom prst="rect">
            <a:avLst/>
          </a:prstGeo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19D0C9E5-08BE-90E1-4240-CB8179643B05}"/>
              </a:ext>
            </a:extLst>
          </p:cNvPr>
          <p:cNvSpPr/>
          <p:nvPr/>
        </p:nvSpPr>
        <p:spPr>
          <a:xfrm rot="16200000">
            <a:off x="9604320" y="1058408"/>
            <a:ext cx="318822" cy="10595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45D66-7756-34E2-7399-24D935B4B23A}"/>
              </a:ext>
            </a:extLst>
          </p:cNvPr>
          <p:cNvSpPr txBox="1"/>
          <p:nvPr/>
        </p:nvSpPr>
        <p:spPr>
          <a:xfrm>
            <a:off x="9559188" y="862588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289125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125D1-29C0-0224-BDC2-8CB9B6D7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18" y="-130096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Circuit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F1F26F-6CAC-7763-5716-05242E9A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660" y="735904"/>
            <a:ext cx="6830915" cy="4627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A3AE759-285C-1490-B225-70FB4869B642}"/>
              </a:ext>
            </a:extLst>
          </p:cNvPr>
          <p:cNvSpPr txBox="1"/>
          <p:nvPr/>
        </p:nvSpPr>
        <p:spPr>
          <a:xfrm>
            <a:off x="6470693" y="289389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8A59B-E399-B25B-A664-8F47746A3C0E}"/>
              </a:ext>
            </a:extLst>
          </p:cNvPr>
          <p:cNvSpPr txBox="1"/>
          <p:nvPr/>
        </p:nvSpPr>
        <p:spPr>
          <a:xfrm>
            <a:off x="5381150" y="2849724"/>
            <a:ext cx="340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8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9FD8D7-E63B-B9C2-5947-4DC1432991EE}"/>
              </a:ext>
            </a:extLst>
          </p:cNvPr>
          <p:cNvSpPr txBox="1"/>
          <p:nvPr/>
        </p:nvSpPr>
        <p:spPr>
          <a:xfrm>
            <a:off x="5095064" y="319816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988345-A377-209E-AA1D-F59F6EBDEEE9}"/>
              </a:ext>
            </a:extLst>
          </p:cNvPr>
          <p:cNvSpPr txBox="1"/>
          <p:nvPr/>
        </p:nvSpPr>
        <p:spPr>
          <a:xfrm rot="20715164">
            <a:off x="5034741" y="1559618"/>
            <a:ext cx="692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highlight>
                  <a:srgbClr val="C0C0C0"/>
                </a:highlight>
              </a:rPr>
              <a:t>220</a:t>
            </a:r>
            <a:r>
              <a:rPr lang="el-GR" sz="1400" b="1" dirty="0">
                <a:highlight>
                  <a:srgbClr val="C0C0C0"/>
                </a:highlight>
                <a:latin typeface="Candara" panose="020E0502030303020204" pitchFamily="34" charset="0"/>
              </a:rPr>
              <a:t>Ω</a:t>
            </a:r>
            <a:endParaRPr lang="el-GR" sz="1400" b="1" dirty="0">
              <a:highlight>
                <a:srgbClr val="C0C0C0"/>
              </a:highlight>
              <a:latin typeface="MS Shell Dlg 2" panose="020B0604030504040204" pitchFamily="34" charset="0"/>
            </a:endParaRP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541320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2BB19-BAAB-7AE8-3E15-45BE758DE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ED320-4F7D-8A42-BC46-C11D097A9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US" dirty="0"/>
              <a:t>Create a new sketch and fill in the code below</a:t>
            </a:r>
          </a:p>
          <a:p>
            <a:r>
              <a:rPr lang="en-US" dirty="0"/>
              <a:t>Our digital pins are the inputs into our </a:t>
            </a:r>
            <a:r>
              <a:rPr lang="en-US" dirty="0" err="1"/>
              <a:t>boolean</a:t>
            </a:r>
            <a:r>
              <a:rPr lang="en-US" dirty="0"/>
              <a:t> equation </a:t>
            </a:r>
          </a:p>
          <a:p>
            <a:r>
              <a:rPr lang="en-US" dirty="0"/>
              <a:t>You can change the value of these pins and see what the corresponding output 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5D862-8949-F11C-CB75-F684E723B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2" y="1360833"/>
            <a:ext cx="5384800" cy="41363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3698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7D79-2A69-C5FD-776F-61ADA9A0F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Coding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ED64E24-2FD0-1CD1-F8BA-3CD81E0E6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 dirty="0"/>
              <a:t>Instead of manually typing the inputs for A, B, and C, we can use for loops so that our program goes through all the possible combinations for us</a:t>
            </a:r>
          </a:p>
          <a:p>
            <a:r>
              <a:rPr lang="en-US" dirty="0"/>
              <a:t>All the possible combinations are in the truth table, from a few slides ago, we need to have these available for the program to loop through</a:t>
            </a:r>
          </a:p>
          <a:p>
            <a:r>
              <a:rPr lang="en-US" dirty="0"/>
              <a:t>Open the template </a:t>
            </a:r>
            <a:r>
              <a:rPr lang="en-US" b="1" dirty="0"/>
              <a:t>‘</a:t>
            </a:r>
            <a:r>
              <a:rPr lang="en-US" b="1" dirty="0" err="1"/>
              <a:t>LogicGates_temp.ino</a:t>
            </a:r>
            <a:r>
              <a:rPr lang="en-US" b="1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647367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800A-69CA-1BF2-1CAB-0CEA7E92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75067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Coding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4A003F-B287-CEE1-6AE0-95343B109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855" y="734649"/>
            <a:ext cx="6132287" cy="4967628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7E87FF06-6AF1-3944-D18A-D7BF612D68AB}"/>
              </a:ext>
            </a:extLst>
          </p:cNvPr>
          <p:cNvSpPr/>
          <p:nvPr/>
        </p:nvSpPr>
        <p:spPr>
          <a:xfrm>
            <a:off x="4011310" y="4994086"/>
            <a:ext cx="569626" cy="296591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306474E4-1DCF-1AB8-3843-8CD6A4DDDBBD}"/>
              </a:ext>
            </a:extLst>
          </p:cNvPr>
          <p:cNvSpPr/>
          <p:nvPr/>
        </p:nvSpPr>
        <p:spPr>
          <a:xfrm>
            <a:off x="6570399" y="4544364"/>
            <a:ext cx="569626" cy="296591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87442D8F-E777-75E0-4553-9E9E353D7767}"/>
              </a:ext>
            </a:extLst>
          </p:cNvPr>
          <p:cNvSpPr/>
          <p:nvPr/>
        </p:nvSpPr>
        <p:spPr>
          <a:xfrm>
            <a:off x="6416212" y="4786342"/>
            <a:ext cx="569626" cy="296591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7540D25B-0E8E-DF8C-507E-429B27EA3677}"/>
              </a:ext>
            </a:extLst>
          </p:cNvPr>
          <p:cNvSpPr/>
          <p:nvPr/>
        </p:nvSpPr>
        <p:spPr>
          <a:xfrm>
            <a:off x="6392948" y="714884"/>
            <a:ext cx="569626" cy="296591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84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72D5-6FFF-5B82-FA54-1D373076B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7DCF4-0193-341E-49F3-4B2E9326F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457" y="1354419"/>
            <a:ext cx="8905941" cy="4149162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16D409DC-64F8-3D9B-2A54-F58E293751B7}"/>
              </a:ext>
            </a:extLst>
          </p:cNvPr>
          <p:cNvSpPr/>
          <p:nvPr/>
        </p:nvSpPr>
        <p:spPr>
          <a:xfrm>
            <a:off x="9141858" y="3641656"/>
            <a:ext cx="569626" cy="296591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1D4109C2-4840-419E-896D-15793C43856C}"/>
              </a:ext>
            </a:extLst>
          </p:cNvPr>
          <p:cNvSpPr/>
          <p:nvPr/>
        </p:nvSpPr>
        <p:spPr>
          <a:xfrm>
            <a:off x="7120328" y="3257507"/>
            <a:ext cx="569626" cy="34298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11A69674-E6CA-7983-4B82-E99531F0CE6A}"/>
              </a:ext>
            </a:extLst>
          </p:cNvPr>
          <p:cNvSpPr/>
          <p:nvPr/>
        </p:nvSpPr>
        <p:spPr>
          <a:xfrm>
            <a:off x="3372788" y="3923733"/>
            <a:ext cx="569626" cy="296591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85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72F2-FBCD-4290-5251-6E33BE54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443"/>
            <a:ext cx="10972800" cy="1143000"/>
          </a:xfrm>
        </p:spPr>
        <p:txBody>
          <a:bodyPr/>
          <a:lstStyle/>
          <a:p>
            <a:r>
              <a:rPr lang="en-US" dirty="0"/>
              <a:t>Test it Out!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D90C-E10B-079C-B8DE-1BDBDE857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688" y="1764017"/>
            <a:ext cx="4872896" cy="1143000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Open your serial monitor and observe which combinations turn on the LED. Verify with the truth table.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0F199-8DF6-CBAF-74A3-FE4774C43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689" y="3210637"/>
            <a:ext cx="4798101" cy="1919240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D4B71C84-05A8-3272-C685-D6ED61FFA288}"/>
              </a:ext>
            </a:extLst>
          </p:cNvPr>
          <p:cNvSpPr/>
          <p:nvPr/>
        </p:nvSpPr>
        <p:spPr>
          <a:xfrm rot="13138638">
            <a:off x="8988205" y="4155918"/>
            <a:ext cx="444459" cy="1384739"/>
          </a:xfrm>
          <a:prstGeom prst="downArrow">
            <a:avLst>
              <a:gd name="adj1" fmla="val 30983"/>
              <a:gd name="adj2" fmla="val 50000"/>
            </a:avLst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F796C0B6-EA27-A022-772E-062B78D12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30" y="1"/>
            <a:ext cx="1264170" cy="1264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F8C408-BB3E-FC0A-DE9B-7D256719B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83" y="1782187"/>
            <a:ext cx="1701664" cy="3944372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4EBBB6-22DA-C0BB-765C-FC1AB2219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7448" y="2324100"/>
            <a:ext cx="1183322" cy="3402459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773D3073-B23D-F1A1-3B5C-C82D09B3D34C}"/>
              </a:ext>
            </a:extLst>
          </p:cNvPr>
          <p:cNvSpPr/>
          <p:nvPr/>
        </p:nvSpPr>
        <p:spPr>
          <a:xfrm rot="16200000">
            <a:off x="3023627" y="1561004"/>
            <a:ext cx="430965" cy="98428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829B18-AB9D-6DD0-5B74-1A46C0A792B7}"/>
              </a:ext>
            </a:extLst>
          </p:cNvPr>
          <p:cNvSpPr txBox="1"/>
          <p:nvPr/>
        </p:nvSpPr>
        <p:spPr>
          <a:xfrm>
            <a:off x="3026551" y="1264171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8926258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yo_powerpoint_template1 [Read-Only]" id="{4B645B48-1D4D-4A7E-A227-940AAC3A88AC}" vid="{38082606-69BA-4892-877D-46BB1B920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</TotalTime>
  <Words>661</Words>
  <Application>Microsoft Office PowerPoint</Application>
  <PresentationFormat>Widescreen</PresentationFormat>
  <Paragraphs>62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Candara</vt:lpstr>
      <vt:lpstr>MS Shell Dlg 2</vt:lpstr>
      <vt:lpstr>Custom Design</vt:lpstr>
      <vt:lpstr> Logic Gates Arduino with C Programming</vt:lpstr>
      <vt:lpstr>Goals</vt:lpstr>
      <vt:lpstr>What are logic gates?</vt:lpstr>
      <vt:lpstr>What is an AND gate?</vt:lpstr>
      <vt:lpstr>What is an OR gate?</vt:lpstr>
      <vt:lpstr>What is a NOT gate?</vt:lpstr>
      <vt:lpstr>What is a NOR gate?</vt:lpstr>
      <vt:lpstr>Using the IC logic gates</vt:lpstr>
      <vt:lpstr>Pinouts</vt:lpstr>
      <vt:lpstr>Boolean Expressions</vt:lpstr>
      <vt:lpstr>Circuit</vt:lpstr>
      <vt:lpstr>Coding</vt:lpstr>
      <vt:lpstr>Coding </vt:lpstr>
      <vt:lpstr>Coding</vt:lpstr>
      <vt:lpstr>Coding</vt:lpstr>
      <vt:lpstr>Test it Out!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 Ratcliff</dc:creator>
  <cp:lastModifiedBy>Matthew Pikal</cp:lastModifiedBy>
  <cp:revision>7</cp:revision>
  <dcterms:created xsi:type="dcterms:W3CDTF">2024-06-26T19:59:12Z</dcterms:created>
  <dcterms:modified xsi:type="dcterms:W3CDTF">2025-06-24T15:24:10Z</dcterms:modified>
</cp:coreProperties>
</file>