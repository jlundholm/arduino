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6" r:id="rId6"/>
    <p:sldId id="267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2A54D-2815-42C2-B6B4-B62FB99564C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78DE5-1ED4-4080-83E2-1B461C824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4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13 Jun 2024 by Noah Mulvaney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824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8757F514-7D1D-1841-6EF7-403BF24FE1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5" y="0"/>
            <a:ext cx="1385455" cy="138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6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A blue and white symbol&#10;&#10;Description automatically generated">
            <a:extLst>
              <a:ext uri="{FF2B5EF4-FFF2-40B4-BE49-F238E27FC236}">
                <a16:creationId xmlns:a16="http://schemas.microsoft.com/office/drawing/2014/main" id="{42FA4341-2743-E03C-049A-9E7D34E68D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5" y="0"/>
            <a:ext cx="1385455" cy="138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2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symbol&#10;&#10;Description automatically generated">
            <a:extLst>
              <a:ext uri="{FF2B5EF4-FFF2-40B4-BE49-F238E27FC236}">
                <a16:creationId xmlns:a16="http://schemas.microsoft.com/office/drawing/2014/main" id="{8DEEE90A-25E2-36BB-AC7E-C0B8107BB4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5" y="0"/>
            <a:ext cx="1385455" cy="138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51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A blue and white symbol&#10;&#10;Description automatically generated">
            <a:extLst>
              <a:ext uri="{FF2B5EF4-FFF2-40B4-BE49-F238E27FC236}">
                <a16:creationId xmlns:a16="http://schemas.microsoft.com/office/drawing/2014/main" id="{5994FE7E-38B2-FCD0-938B-CDCBF7706D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5" y="0"/>
            <a:ext cx="1385455" cy="138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5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blue and white symbol&#10;&#10;Description automatically generated">
            <a:extLst>
              <a:ext uri="{FF2B5EF4-FFF2-40B4-BE49-F238E27FC236}">
                <a16:creationId xmlns:a16="http://schemas.microsoft.com/office/drawing/2014/main" id="{5A5C27C8-8DC4-B4F2-58B7-89215A1642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5" y="0"/>
            <a:ext cx="1385455" cy="138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8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blue and white symbol&#10;&#10;Description automatically generated">
            <a:extLst>
              <a:ext uri="{FF2B5EF4-FFF2-40B4-BE49-F238E27FC236}">
                <a16:creationId xmlns:a16="http://schemas.microsoft.com/office/drawing/2014/main" id="{9C1B0AE7-6A6B-D66D-CC43-F037B4B473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5" y="0"/>
            <a:ext cx="1385455" cy="138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8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4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746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2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86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349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7/2/2025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BrandBar_New_flag_only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020" y="5666008"/>
            <a:ext cx="13280983" cy="15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8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507" y="3721029"/>
            <a:ext cx="10363200" cy="1135288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69381E"/>
                </a:solidFill>
              </a:rPr>
              <a:t> Displaying an IR Remote’s Information on an LCD</a:t>
            </a:r>
            <a:br>
              <a:rPr lang="en-US" sz="5400" b="1" dirty="0">
                <a:solidFill>
                  <a:srgbClr val="69381E"/>
                </a:solidFill>
              </a:rPr>
            </a:br>
            <a:r>
              <a:rPr lang="en-US" sz="1600" b="1" dirty="0">
                <a:solidFill>
                  <a:srgbClr val="69381E"/>
                </a:solidFill>
              </a:rPr>
              <a:t>Arduino with C Programming</a:t>
            </a:r>
            <a:endParaRPr lang="en-US" sz="5400" b="1" dirty="0">
              <a:solidFill>
                <a:srgbClr val="69381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29181" y="6479816"/>
            <a:ext cx="849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ELECTRICAL ENGINEERING AND COMPUTER SCIENCE, COLLEGE OF ENGINEERING AND PHYSICAL SCIENCES</a:t>
            </a:r>
          </a:p>
        </p:txBody>
      </p:sp>
      <p:pic>
        <p:nvPicPr>
          <p:cNvPr id="10" name="Picture 9" descr="A brown rectangular sign with a horse and text&#10;&#10;Description automatically generated">
            <a:extLst>
              <a:ext uri="{FF2B5EF4-FFF2-40B4-BE49-F238E27FC236}">
                <a16:creationId xmlns:a16="http://schemas.microsoft.com/office/drawing/2014/main" id="{CB96BABA-B0E6-123B-BAEB-42A84349C6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32742" r="1737" b="31610"/>
          <a:stretch/>
        </p:blipFill>
        <p:spPr>
          <a:xfrm>
            <a:off x="3529181" y="1433632"/>
            <a:ext cx="4810978" cy="171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9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4ABEEE-35E8-6DA4-C40F-902EC322C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115" y="4134548"/>
            <a:ext cx="1760305" cy="17603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E1CD11-2153-2553-52CB-E4DC85B36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494" y="1200252"/>
            <a:ext cx="1416053" cy="2934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5A9277-D20B-D973-C2A2-A7CEADD1C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IR Remote?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B9E48-5219-15EF-A424-EA7FC0EC1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IR (infrared) remote is a handheld device that sends commands to another device using infrared light</a:t>
            </a:r>
          </a:p>
          <a:p>
            <a:r>
              <a:rPr lang="en-US" dirty="0"/>
              <a:t>An IR receiver receives these commands, and the Arduino translates them</a:t>
            </a:r>
          </a:p>
          <a:p>
            <a:r>
              <a:rPr lang="en-US" dirty="0"/>
              <a:t>This allows us to control something else connected to the Arduino </a:t>
            </a:r>
          </a:p>
        </p:txBody>
      </p:sp>
    </p:spTree>
    <p:extLst>
      <p:ext uri="{BB962C8B-B14F-4D97-AF65-F5344CB8AC3E}">
        <p14:creationId xmlns:p14="http://schemas.microsoft.com/office/powerpoint/2010/main" val="2743466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D7F4-0BC2-7FBD-F829-7E9FEC686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How does an IR remote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3623E-215F-B657-CF23-0344270F9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17638"/>
            <a:ext cx="5384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IR remotes send pulses of infrared light in different patterns to the IR receiver</a:t>
            </a:r>
          </a:p>
          <a:p>
            <a:r>
              <a:rPr lang="en-US" dirty="0"/>
              <a:t>The pattern is unique to the pressed button </a:t>
            </a:r>
          </a:p>
          <a:p>
            <a:r>
              <a:rPr lang="en-US" dirty="0"/>
              <a:t>These patterns are turned into electrical signals that the Arduino can comprehend</a:t>
            </a:r>
          </a:p>
          <a:p>
            <a:r>
              <a:rPr lang="en-US" dirty="0"/>
              <a:t>Once these patterns are translated, we can make this button do an action of choice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06C0B9-F21A-30B7-E2A1-334660316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600" y="2219890"/>
            <a:ext cx="5384800" cy="328658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9606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1767B5-18CF-1236-B1B8-A1ECD814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011" y="1166018"/>
            <a:ext cx="4023078" cy="452596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CDD96-7EBC-6DF2-DE1B-447065F3E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is an LCD?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695CFC-DC1C-E21B-4922-7FFD755AE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166017"/>
            <a:ext cx="5384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An LCD (liquid-crystal display) is a screen made of crystals that can control the amount of light that can pass through </a:t>
            </a:r>
          </a:p>
          <a:p>
            <a:pPr>
              <a:lnSpc>
                <a:spcPct val="90000"/>
              </a:lnSpc>
            </a:pPr>
            <a:r>
              <a:rPr lang="en-US" dirty="0"/>
              <a:t>When current is fed to these crystals they are physically manipulated to control light passage  </a:t>
            </a:r>
          </a:p>
          <a:p>
            <a:pPr>
              <a:lnSpc>
                <a:spcPct val="90000"/>
              </a:lnSpc>
            </a:pPr>
            <a:r>
              <a:rPr lang="en-US" dirty="0"/>
              <a:t>This allows the LCD to display a wide variety of characters on the screen </a:t>
            </a:r>
          </a:p>
        </p:txBody>
      </p:sp>
    </p:spTree>
    <p:extLst>
      <p:ext uri="{BB962C8B-B14F-4D97-AF65-F5344CB8AC3E}">
        <p14:creationId xmlns:p14="http://schemas.microsoft.com/office/powerpoint/2010/main" val="315161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39F46-CA11-731F-3FA8-F2A66D9B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15107"/>
            <a:ext cx="10972800" cy="1143000"/>
          </a:xfrm>
        </p:spPr>
        <p:txBody>
          <a:bodyPr/>
          <a:lstStyle/>
          <a:p>
            <a:r>
              <a:rPr lang="en-US" dirty="0"/>
              <a:t>Circuit Diagram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90DA17-2A91-F837-BF54-8605AB14BFD0}"/>
              </a:ext>
            </a:extLst>
          </p:cNvPr>
          <p:cNvGrpSpPr/>
          <p:nvPr/>
        </p:nvGrpSpPr>
        <p:grpSpPr>
          <a:xfrm>
            <a:off x="1390153" y="1027893"/>
            <a:ext cx="9411693" cy="4770458"/>
            <a:chOff x="1390153" y="1027893"/>
            <a:chExt cx="9411693" cy="47704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24E1AC-5A60-46E2-3268-CB7087AA8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0153" y="1027893"/>
              <a:ext cx="9411693" cy="4770458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5978768" y="3210012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Pin3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70156" y="3043790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SCL</a:t>
              </a:r>
            </a:p>
          </p:txBody>
        </p:sp>
        <p:sp>
          <p:nvSpPr>
            <p:cNvPr id="9" name="Left Arrow 8"/>
            <p:cNvSpPr/>
            <p:nvPr/>
          </p:nvSpPr>
          <p:spPr>
            <a:xfrm rot="13087485">
              <a:off x="4532049" y="3408478"/>
              <a:ext cx="293342" cy="156394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46701" y="3030395"/>
              <a:ext cx="5736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SDA</a:t>
              </a:r>
            </a:p>
          </p:txBody>
        </p:sp>
        <p:sp>
          <p:nvSpPr>
            <p:cNvPr id="12" name="Left Arrow 11"/>
            <p:cNvSpPr/>
            <p:nvPr/>
          </p:nvSpPr>
          <p:spPr>
            <a:xfrm rot="18415728">
              <a:off x="4915717" y="3399920"/>
              <a:ext cx="293342" cy="156394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2C95AB-22FC-06FC-B82B-24266804C8AD}"/>
                </a:ext>
              </a:extLst>
            </p:cNvPr>
            <p:cNvSpPr txBox="1"/>
            <p:nvPr/>
          </p:nvSpPr>
          <p:spPr>
            <a:xfrm>
              <a:off x="8664315" y="1334125"/>
              <a:ext cx="200868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Looking down on circuit, with IR receiver facing up.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2CD4FD8-77CA-58AB-F6AB-B0656C2F4E24}"/>
              </a:ext>
            </a:extLst>
          </p:cNvPr>
          <p:cNvSpPr txBox="1"/>
          <p:nvPr/>
        </p:nvSpPr>
        <p:spPr>
          <a:xfrm>
            <a:off x="10672997" y="4241774"/>
            <a:ext cx="15190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Has SDA and SCL pins.</a:t>
            </a:r>
            <a:r>
              <a:rPr lang="en-US" dirty="0">
                <a:solidFill>
                  <a:srgbClr val="FF0000"/>
                </a:solidFill>
              </a:rPr>
              <a:t> Not the one in your Arduino kit!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F227E10B-DED5-BF18-5461-65DA41EF211D}"/>
              </a:ext>
            </a:extLst>
          </p:cNvPr>
          <p:cNvSpPr/>
          <p:nvPr/>
        </p:nvSpPr>
        <p:spPr>
          <a:xfrm>
            <a:off x="10672997" y="3579344"/>
            <a:ext cx="1304144" cy="5831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405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CC82-80FE-E60A-10F7-E686C38DD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Installing Libraries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7E41E70-F301-A593-6ED5-B793B044E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r>
              <a:rPr lang="en-US" dirty="0"/>
              <a:t>Click on ‘Tools’ at the top left</a:t>
            </a:r>
          </a:p>
          <a:p>
            <a:r>
              <a:rPr lang="en-US" dirty="0"/>
              <a:t>Locate ‘</a:t>
            </a:r>
            <a:r>
              <a:rPr lang="en-US"/>
              <a:t>Manage Libraries</a:t>
            </a:r>
            <a:r>
              <a:rPr lang="en-US" dirty="0"/>
              <a:t>…’ and click on it</a:t>
            </a:r>
          </a:p>
          <a:p>
            <a:r>
              <a:rPr lang="en-US" dirty="0"/>
              <a:t>Search ‘</a:t>
            </a:r>
            <a:r>
              <a:rPr lang="en-US" dirty="0" err="1"/>
              <a:t>LiquidCrystal</a:t>
            </a:r>
            <a:r>
              <a:rPr lang="en-US" dirty="0"/>
              <a:t> I2C’ and click install</a:t>
            </a:r>
          </a:p>
          <a:p>
            <a:r>
              <a:rPr lang="en-US" dirty="0"/>
              <a:t>Search ‘</a:t>
            </a:r>
            <a:r>
              <a:rPr lang="en-US" dirty="0" err="1"/>
              <a:t>IRremote</a:t>
            </a:r>
            <a:r>
              <a:rPr lang="en-US" dirty="0"/>
              <a:t>’ and click install</a:t>
            </a:r>
          </a:p>
          <a:p>
            <a:r>
              <a:rPr lang="en-US" dirty="0"/>
              <a:t>These are the libraries we need for the LCD screen, and the IR remote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94C99F-6B9E-5011-A483-C6CFEC463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6401"/>
            <a:ext cx="4052341" cy="481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870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A2063-513D-0923-3B9E-DA01F8F08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Completing the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485B91-9C54-7ED5-10F9-24E3A1EE3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381" y="1488935"/>
            <a:ext cx="9327238" cy="3880130"/>
          </a:xfr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84AA16CF-27EC-5472-6331-BD4A6633B691}"/>
              </a:ext>
            </a:extLst>
          </p:cNvPr>
          <p:cNvSpPr/>
          <p:nvPr/>
        </p:nvSpPr>
        <p:spPr>
          <a:xfrm>
            <a:off x="6930452" y="2523319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534AA0B8-CF22-86C3-F5C9-33363BCBE08C}"/>
              </a:ext>
            </a:extLst>
          </p:cNvPr>
          <p:cNvSpPr/>
          <p:nvPr/>
        </p:nvSpPr>
        <p:spPr>
          <a:xfrm>
            <a:off x="8267075" y="2031142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DEF42402-36D6-53C5-69A4-48E076815575}"/>
              </a:ext>
            </a:extLst>
          </p:cNvPr>
          <p:cNvSpPr/>
          <p:nvPr/>
        </p:nvSpPr>
        <p:spPr>
          <a:xfrm>
            <a:off x="8042223" y="4407096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AF5BE89E-3A86-DFD8-A720-D5162B27BF73}"/>
              </a:ext>
            </a:extLst>
          </p:cNvPr>
          <p:cNvSpPr/>
          <p:nvPr/>
        </p:nvSpPr>
        <p:spPr>
          <a:xfrm>
            <a:off x="9166485" y="4889343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73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516A-29F4-05FA-58C7-DED1DB50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Completing the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D7B74-BEEA-C3DF-7418-E1C33FAAB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957" y="1350172"/>
            <a:ext cx="9684086" cy="4157656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3F9D9D2-D604-4F1B-3934-09943F95819A}"/>
              </a:ext>
            </a:extLst>
          </p:cNvPr>
          <p:cNvSpPr/>
          <p:nvPr/>
        </p:nvSpPr>
        <p:spPr>
          <a:xfrm>
            <a:off x="3792304" y="2902439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1B0EA347-667D-D123-0826-10F4503C4E1E}"/>
              </a:ext>
            </a:extLst>
          </p:cNvPr>
          <p:cNvSpPr/>
          <p:nvPr/>
        </p:nvSpPr>
        <p:spPr>
          <a:xfrm>
            <a:off x="4486952" y="3545149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BDAAEB6E-EDC4-18A6-12C9-B1B6095A3DBC}"/>
              </a:ext>
            </a:extLst>
          </p:cNvPr>
          <p:cNvSpPr/>
          <p:nvPr/>
        </p:nvSpPr>
        <p:spPr>
          <a:xfrm>
            <a:off x="6310859" y="4196703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ED194AA9-3E83-7B0F-83AF-0C8E50B45E3F}"/>
              </a:ext>
            </a:extLst>
          </p:cNvPr>
          <p:cNvSpPr/>
          <p:nvPr/>
        </p:nvSpPr>
        <p:spPr>
          <a:xfrm>
            <a:off x="5259055" y="4839296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963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E5DB2-4D66-8F5E-405B-1A1D36737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87" y="-67004"/>
            <a:ext cx="10972800" cy="1143000"/>
          </a:xfrm>
        </p:spPr>
        <p:txBody>
          <a:bodyPr/>
          <a:lstStyle/>
          <a:p>
            <a:r>
              <a:rPr lang="en-US" dirty="0"/>
              <a:t>Completing the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F920A-876A-E54B-2A6D-871273A2E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13" y="1075996"/>
            <a:ext cx="10168328" cy="3966070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165BD2C6-C454-D86A-5ADB-73B98620E5A4}"/>
              </a:ext>
            </a:extLst>
          </p:cNvPr>
          <p:cNvSpPr/>
          <p:nvPr/>
        </p:nvSpPr>
        <p:spPr>
          <a:xfrm>
            <a:off x="5021496" y="3127290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E723BECE-117B-E8F2-3113-687FAA4FE50D}"/>
              </a:ext>
            </a:extLst>
          </p:cNvPr>
          <p:cNvSpPr/>
          <p:nvPr/>
        </p:nvSpPr>
        <p:spPr>
          <a:xfrm>
            <a:off x="5661287" y="3939259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54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B5FA-E3E4-C00E-2EF9-384D7E0B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80203"/>
            <a:ext cx="10972800" cy="1143000"/>
          </a:xfrm>
        </p:spPr>
        <p:txBody>
          <a:bodyPr/>
          <a:lstStyle/>
          <a:p>
            <a:r>
              <a:rPr lang="en-US" dirty="0"/>
              <a:t>Completing the Code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BAA7EB-8554-A6F0-A4D6-3860CB533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75" y="1112997"/>
            <a:ext cx="10288249" cy="4632005"/>
          </a:xfrm>
          <a:prstGeom prst="rect">
            <a:avLst/>
          </a:prstGeom>
        </p:spPr>
      </p:pic>
      <p:sp>
        <p:nvSpPr>
          <p:cNvPr id="12" name="Arrow: Left 11">
            <a:extLst>
              <a:ext uri="{FF2B5EF4-FFF2-40B4-BE49-F238E27FC236}">
                <a16:creationId xmlns:a16="http://schemas.microsoft.com/office/drawing/2014/main" id="{AE012FFC-8039-9E4F-412A-F6F3AAEC859B}"/>
              </a:ext>
            </a:extLst>
          </p:cNvPr>
          <p:cNvSpPr/>
          <p:nvPr/>
        </p:nvSpPr>
        <p:spPr>
          <a:xfrm>
            <a:off x="4412002" y="2775679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8D11E2D4-7AFE-268E-EC34-70E5815F22D3}"/>
              </a:ext>
            </a:extLst>
          </p:cNvPr>
          <p:cNvSpPr/>
          <p:nvPr/>
        </p:nvSpPr>
        <p:spPr>
          <a:xfrm>
            <a:off x="3913372" y="4217950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B25CCC62-780C-5CFF-1AA3-85B577411672}"/>
              </a:ext>
            </a:extLst>
          </p:cNvPr>
          <p:cNvSpPr/>
          <p:nvPr/>
        </p:nvSpPr>
        <p:spPr>
          <a:xfrm>
            <a:off x="3422548" y="2195319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7690CE19-AB58-A6B7-8746-A8FE563CA2BD}"/>
              </a:ext>
            </a:extLst>
          </p:cNvPr>
          <p:cNvSpPr/>
          <p:nvPr/>
        </p:nvSpPr>
        <p:spPr>
          <a:xfrm>
            <a:off x="4412002" y="3625465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DCA7081C-0375-A792-6974-473AF2AF229B}"/>
              </a:ext>
            </a:extLst>
          </p:cNvPr>
          <p:cNvSpPr/>
          <p:nvPr/>
        </p:nvSpPr>
        <p:spPr>
          <a:xfrm>
            <a:off x="6958873" y="5089878"/>
            <a:ext cx="789482" cy="36978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08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B974-70B3-3A9E-254A-5397CC4AC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Completing the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64C222-3762-151E-8DB8-B44CF045A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504394"/>
            <a:ext cx="5384800" cy="3849211"/>
          </a:xfrm>
          <a:prstGeom prst="rect">
            <a:avLst/>
          </a:prstGeom>
          <a:noFill/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407C606-8234-90E2-2899-F1A15993A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r>
              <a:rPr lang="en-US" dirty="0"/>
              <a:t>This function is already completed for you</a:t>
            </a:r>
          </a:p>
          <a:p>
            <a:r>
              <a:rPr lang="en-US" dirty="0"/>
              <a:t>Run the program and see if the button name on the LCD matches the button you pressed</a:t>
            </a:r>
          </a:p>
          <a:p>
            <a:r>
              <a:rPr lang="en-US" dirty="0"/>
              <a:t>Notice that each button has a unique code linked to it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6881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yo_powerpoint_template1 [Read-Only]" id="{4B645B48-1D4D-4A7E-A227-940AAC3A88AC}" vid="{38082606-69BA-4892-877D-46BB1B920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326</Words>
  <Application>Microsoft Office PowerPoint</Application>
  <PresentationFormat>Widescreen</PresentationFormat>
  <Paragraphs>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Custom Design</vt:lpstr>
      <vt:lpstr> Displaying an IR Remote’s Information on an LCD Arduino with C Programming</vt:lpstr>
      <vt:lpstr>What is an IR Remote?</vt:lpstr>
      <vt:lpstr>How does an IR remote work?</vt:lpstr>
      <vt:lpstr>What is an LCD?</vt:lpstr>
      <vt:lpstr>Circuit Diagram</vt:lpstr>
      <vt:lpstr>Installing Libraries</vt:lpstr>
      <vt:lpstr>Completing the Code</vt:lpstr>
      <vt:lpstr>Completing the Code</vt:lpstr>
      <vt:lpstr>Completing the Code</vt:lpstr>
      <vt:lpstr>Completing the Code</vt:lpstr>
      <vt:lpstr>Completing the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Displaying an IR Remote’s information on an LCD Arduino with C Programming</dc:title>
  <dc:creator>Zach Ratcliff</dc:creator>
  <cp:lastModifiedBy>Sully Fagan</cp:lastModifiedBy>
  <cp:revision>10</cp:revision>
  <dcterms:created xsi:type="dcterms:W3CDTF">2024-06-20T17:22:38Z</dcterms:created>
  <dcterms:modified xsi:type="dcterms:W3CDTF">2025-07-02T20:06:06Z</dcterms:modified>
</cp:coreProperties>
</file>