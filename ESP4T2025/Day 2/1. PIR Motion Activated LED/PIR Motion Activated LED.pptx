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71B"/>
    <a:srgbClr val="1EC62F"/>
    <a:srgbClr val="69381E"/>
    <a:srgbClr val="BB975D"/>
    <a:srgbClr val="604B38"/>
    <a:srgbClr val="FFC425"/>
    <a:srgbClr val="FAF3A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0661" autoAdjust="0"/>
  </p:normalViewPr>
  <p:slideViewPr>
    <p:cSldViewPr snapToGrid="0">
      <p:cViewPr>
        <p:scale>
          <a:sx n="62" d="100"/>
          <a:sy n="62" d="100"/>
        </p:scale>
        <p:origin x="1062" y="-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9D54E-5013-46A8-89A5-1B53A715BA8F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3926B-6DAA-4D33-AA50-FA845D6D86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27 Jun 2024 by Noah Mulvaney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82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9E866-E575-429A-955A-0A8D1C8726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79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548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transportation – Seeing when people show up and how many show up to better optimize routes and times.</a:t>
            </a:r>
          </a:p>
          <a:p>
            <a:endParaRPr lang="en-US" dirty="0"/>
          </a:p>
          <a:p>
            <a:r>
              <a:rPr lang="en-US" dirty="0"/>
              <a:t>Industrial safety – Detecting if there is a human presence in an area that there should not be (around machines, Sewage treatment plants, or on large boats)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1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126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60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601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488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372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605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D7DC2-9282-61BE-DB8C-034DE899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27174-CB5A-2BFD-E3FC-3399DC0D9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FC07D-BBEC-F2AE-344F-B3D4037D1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80EA0-CF8F-A2C3-9057-D09DED1EE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935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514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92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36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4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91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05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5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64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999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36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67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BrandBar_New_flag_only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020" y="5666008"/>
            <a:ext cx="13280983" cy="15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4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069" y="3429000"/>
            <a:ext cx="10363200" cy="1135288"/>
          </a:xfrm>
        </p:spPr>
        <p:txBody>
          <a:bodyPr>
            <a:noAutofit/>
          </a:bodyPr>
          <a:lstStyle/>
          <a:p>
            <a:r>
              <a:rPr lang="en-US" sz="6900" b="1" dirty="0">
                <a:solidFill>
                  <a:srgbClr val="69381E"/>
                </a:solidFill>
              </a:rPr>
              <a:t> PIR Motion Activated 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9181" y="6479816"/>
            <a:ext cx="849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ELECTRICAL ENGINEERING AND COMPUTER SCIENCE, COLLEGE OF ENGINEERING AND PHYSICAL SCIENCES</a:t>
            </a:r>
          </a:p>
        </p:txBody>
      </p:sp>
      <p:pic>
        <p:nvPicPr>
          <p:cNvPr id="10" name="Picture 9" descr="A brown rectangular sign with a horse and text&#10;&#10;Description automatically generated">
            <a:extLst>
              <a:ext uri="{FF2B5EF4-FFF2-40B4-BE49-F238E27FC236}">
                <a16:creationId xmlns:a16="http://schemas.microsoft.com/office/drawing/2014/main" id="{CB96BABA-B0E6-123B-BAEB-42A84349C6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32742" r="1737" b="31610"/>
          <a:stretch/>
        </p:blipFill>
        <p:spPr>
          <a:xfrm>
            <a:off x="3529181" y="1433632"/>
            <a:ext cx="4810978" cy="17106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8748A0-2CDF-507E-4659-88D1FD5689AE}"/>
              </a:ext>
            </a:extLst>
          </p:cNvPr>
          <p:cNvSpPr txBox="1"/>
          <p:nvPr/>
        </p:nvSpPr>
        <p:spPr>
          <a:xfrm>
            <a:off x="4338934" y="4641288"/>
            <a:ext cx="35141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solidFill>
                  <a:srgbClr val="69381E"/>
                </a:solidFill>
              </a:rPr>
              <a:t>Arduino with C Programming</a:t>
            </a:r>
            <a:endParaRPr lang="en-US" sz="2100" dirty="0"/>
          </a:p>
        </p:txBody>
      </p:sp>
      <p:pic>
        <p:nvPicPr>
          <p:cNvPr id="5" name="Picture 4" descr="A blue and white symbol&#10;&#10;Description automatically generated">
            <a:extLst>
              <a:ext uri="{FF2B5EF4-FFF2-40B4-BE49-F238E27FC236}">
                <a16:creationId xmlns:a16="http://schemas.microsoft.com/office/drawing/2014/main" id="{A496486F-8D4B-1A49-96D6-EF92D92C3A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9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874A5-2D56-B5F3-2C94-96B6D122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8C5B0-CE8A-5365-533A-52856D3F3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900054"/>
          </a:xfrm>
        </p:spPr>
        <p:txBody>
          <a:bodyPr>
            <a:normAutofit/>
          </a:bodyPr>
          <a:lstStyle/>
          <a:p>
            <a:r>
              <a:rPr lang="en-US" sz="3600" dirty="0"/>
              <a:t>Use a Passive Infrared (PIR) Sensor to make a motion activated Sensor</a:t>
            </a:r>
          </a:p>
          <a:p>
            <a:r>
              <a:rPr lang="en-US" sz="3600" dirty="0"/>
              <a:t>Calibrate the PIR Sensor’s sensitivity and range to more accurately detect motion</a:t>
            </a:r>
          </a:p>
          <a:p>
            <a:r>
              <a:rPr lang="en-US" sz="3600" dirty="0"/>
              <a:t>Use the PIR Sensor to light up a Light-Emitting Diode (LED) when there is motion detected</a:t>
            </a:r>
          </a:p>
        </p:txBody>
      </p: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C934F0F8-C447-B628-3CE4-227EE625F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7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013" y="219221"/>
            <a:ext cx="9391974" cy="1143000"/>
          </a:xfrm>
        </p:spPr>
        <p:txBody>
          <a:bodyPr>
            <a:noAutofit/>
          </a:bodyPr>
          <a:lstStyle/>
          <a:p>
            <a:r>
              <a:rPr lang="en-US" dirty="0"/>
              <a:t>Introduction to Electromagnetic Waves and Infrared Sensors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3C4676-1719-7A1F-05E9-13BB189C5AA6}"/>
                  </a:ext>
                </a:extLst>
              </p:cNvPr>
              <p:cNvSpPr txBox="1"/>
              <p:nvPr/>
            </p:nvSpPr>
            <p:spPr>
              <a:xfrm>
                <a:off x="609600" y="1362221"/>
                <a:ext cx="561927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Human beings emit radiation at the infrared (IR) level ranging from 10 to 12 microns</a:t>
                </a:r>
                <a:endParaRPr lang="en-US" sz="2800" dirty="0">
                  <a:effectLst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1 micron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 sz="2800" dirty="0">
                  <a:effectLst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effectLst/>
                  </a:rPr>
                  <a:t>There are two types of infrared sensors, active and passive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Active infrared sensors can emit and detect infrared radiation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Passive infrared sensors can only detect infrared radiation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3C4676-1719-7A1F-05E9-13BB189C5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62221"/>
                <a:ext cx="5619270" cy="4401205"/>
              </a:xfrm>
              <a:prstGeom prst="rect">
                <a:avLst/>
              </a:prstGeom>
              <a:blipFill>
                <a:blip r:embed="rId3"/>
                <a:stretch>
                  <a:fillRect l="-1952" t="-1247" r="-3037" b="-3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6425843-E8DB-3F72-F055-A470FBF9A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531" y="1733302"/>
            <a:ext cx="5619270" cy="3391395"/>
          </a:xfrm>
          <a:prstGeom prst="rect">
            <a:avLst/>
          </a:prstGeom>
        </p:spPr>
      </p:pic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25BA76DE-B953-EEB5-C60E-FCF91941FB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36D368D-5261-FE2D-2BC0-680090D6C8D5}"/>
              </a:ext>
            </a:extLst>
          </p:cNvPr>
          <p:cNvSpPr/>
          <p:nvPr/>
        </p:nvSpPr>
        <p:spPr>
          <a:xfrm>
            <a:off x="11181945" y="4824919"/>
            <a:ext cx="805856" cy="41342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5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ssive Infrared Sensor - an overview ...">
            <a:extLst>
              <a:ext uri="{FF2B5EF4-FFF2-40B4-BE49-F238E27FC236}">
                <a16:creationId xmlns:a16="http://schemas.microsoft.com/office/drawing/2014/main" id="{E7D88D66-732B-18EC-84EC-07CA6EE0B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1036"/>
            <a:ext cx="3132272" cy="2485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6113"/>
            <a:ext cx="10972800" cy="1143000"/>
          </a:xfrm>
        </p:spPr>
        <p:txBody>
          <a:bodyPr/>
          <a:lstStyle/>
          <a:p>
            <a:r>
              <a:rPr lang="en-US" dirty="0"/>
              <a:t>What is a Passive Infrared Sensor?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FCBD6-753B-8094-5AE1-55FFB69CC2A6}"/>
              </a:ext>
            </a:extLst>
          </p:cNvPr>
          <p:cNvSpPr txBox="1"/>
          <p:nvPr/>
        </p:nvSpPr>
        <p:spPr>
          <a:xfrm>
            <a:off x="827314" y="1611086"/>
            <a:ext cx="619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CCDA3-4146-B03B-0DA5-7B1086928455}"/>
              </a:ext>
            </a:extLst>
          </p:cNvPr>
          <p:cNvSpPr txBox="1"/>
          <p:nvPr/>
        </p:nvSpPr>
        <p:spPr>
          <a:xfrm>
            <a:off x="490187" y="1611086"/>
            <a:ext cx="56058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 electronic sensor that can detect and measure infrared radiation in its surrounding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Where PIR sensors are used: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In-home security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Automatic lighting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Public Transportation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Industrial safety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1028" name="Picture 4" descr="Pir Motion Sensor, Min Time Delay: 10minite Max at Rs 75/piece in Kansbahal  | ID: 22525763291">
            <a:extLst>
              <a:ext uri="{FF2B5EF4-FFF2-40B4-BE49-F238E27FC236}">
                <a16:creationId xmlns:a16="http://schemas.microsoft.com/office/drawing/2014/main" id="{763E6CFB-C17E-0B28-36DE-499838B913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95" t="4638" r="11383" b="61636"/>
          <a:stretch/>
        </p:blipFill>
        <p:spPr bwMode="auto">
          <a:xfrm>
            <a:off x="9082006" y="3242428"/>
            <a:ext cx="2946331" cy="240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A64D5915-96E1-F25D-9629-FB853A4EAC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6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Components of </a:t>
            </a:r>
            <a:r>
              <a:rPr lang="en-US" dirty="0"/>
              <a:t>the PIR Sensor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FCBD6-753B-8094-5AE1-55FFB69CC2A6}"/>
              </a:ext>
            </a:extLst>
          </p:cNvPr>
          <p:cNvSpPr txBox="1"/>
          <p:nvPr/>
        </p:nvSpPr>
        <p:spPr>
          <a:xfrm>
            <a:off x="827314" y="1611086"/>
            <a:ext cx="619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CCDA3-4146-B03B-0DA5-7B1086928455}"/>
              </a:ext>
            </a:extLst>
          </p:cNvPr>
          <p:cNvSpPr txBox="1"/>
          <p:nvPr/>
        </p:nvSpPr>
        <p:spPr>
          <a:xfrm>
            <a:off x="609600" y="1613118"/>
            <a:ext cx="5791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Device requires about a minute to initialize after the sensor is energized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Power pin requires +5V DC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Output pin goes high on detected motion, otherwise </a:t>
            </a:r>
            <a:r>
              <a:rPr lang="en-US" sz="2800"/>
              <a:t>stays low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DBD023-D089-40AF-B01D-441D083DB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02" y="1611086"/>
            <a:ext cx="3370333" cy="2373516"/>
          </a:xfrm>
          <a:prstGeom prst="rect">
            <a:avLst/>
          </a:prstGeom>
          <a:ln w="38100">
            <a:solidFill>
              <a:srgbClr val="69381E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63996D-3550-7AC8-03E5-B9FA4DF21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021" y="3429000"/>
            <a:ext cx="2976262" cy="2345423"/>
          </a:xfrm>
          <a:prstGeom prst="rect">
            <a:avLst/>
          </a:prstGeom>
          <a:ln w="38100">
            <a:solidFill>
              <a:srgbClr val="69381E"/>
            </a:solidFill>
          </a:ln>
        </p:spPr>
      </p:pic>
      <p:pic>
        <p:nvPicPr>
          <p:cNvPr id="5" name="Picture 4" descr="A blue and white symbol&#10;&#10;Description automatically generated">
            <a:extLst>
              <a:ext uri="{FF2B5EF4-FFF2-40B4-BE49-F238E27FC236}">
                <a16:creationId xmlns:a16="http://schemas.microsoft.com/office/drawing/2014/main" id="{9659E019-F34D-0934-F40E-17C147295D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6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white symbol&#10;&#10;Description automatically generated">
            <a:extLst>
              <a:ext uri="{FF2B5EF4-FFF2-40B4-BE49-F238E27FC236}">
                <a16:creationId xmlns:a16="http://schemas.microsoft.com/office/drawing/2014/main" id="{0632CDFC-1896-F103-4C76-6F9F949A2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3695"/>
            <a:ext cx="10972800" cy="1143000"/>
          </a:xfrm>
        </p:spPr>
        <p:txBody>
          <a:bodyPr/>
          <a:lstStyle/>
          <a:p>
            <a:r>
              <a:rPr lang="en-US" dirty="0"/>
              <a:t>How to Adjust the PIR Sensor’s Sensitivity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FAB768-069F-ECDD-2564-84DDAC310DBE}"/>
              </a:ext>
            </a:extLst>
          </p:cNvPr>
          <p:cNvGrpSpPr>
            <a:grpSpLocks noChangeAspect="1"/>
          </p:cNvGrpSpPr>
          <p:nvPr/>
        </p:nvGrpSpPr>
        <p:grpSpPr>
          <a:xfrm>
            <a:off x="6856165" y="1216695"/>
            <a:ext cx="4891402" cy="4424610"/>
            <a:chOff x="5027632" y="371503"/>
            <a:chExt cx="3241100" cy="29317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AE117C5-C13A-C2F3-BC1B-3F97C9B51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7632" y="371503"/>
              <a:ext cx="2978944" cy="2931795"/>
            </a:xfrm>
            <a:prstGeom prst="rect">
              <a:avLst/>
            </a:prstGeom>
            <a:ln w="38100">
              <a:solidFill>
                <a:srgbClr val="69381E"/>
              </a:solidFill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178AF9-05C9-788E-7DBB-C08077999158}"/>
                </a:ext>
              </a:extLst>
            </p:cNvPr>
            <p:cNvSpPr txBox="1"/>
            <p:nvPr/>
          </p:nvSpPr>
          <p:spPr>
            <a:xfrm>
              <a:off x="6761502" y="397014"/>
              <a:ext cx="1507230" cy="47298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465562"/>
                  </a:solidFill>
                </a:rPr>
                <a:t>Sensitivity </a:t>
              </a:r>
            </a:p>
            <a:p>
              <a:pPr algn="ctr"/>
              <a:r>
                <a:rPr lang="en-US" sz="2100" dirty="0">
                  <a:solidFill>
                    <a:srgbClr val="465562"/>
                  </a:solidFill>
                </a:rPr>
                <a:t>Adjustment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BAF76A9-88C5-338A-F2BF-391E6FD3AA39}"/>
              </a:ext>
            </a:extLst>
          </p:cNvPr>
          <p:cNvGrpSpPr>
            <a:grpSpLocks noChangeAspect="1"/>
          </p:cNvGrpSpPr>
          <p:nvPr/>
        </p:nvGrpSpPr>
        <p:grpSpPr>
          <a:xfrm>
            <a:off x="1067232" y="1216695"/>
            <a:ext cx="4786939" cy="4424610"/>
            <a:chOff x="5425653" y="3333390"/>
            <a:chExt cx="3208958" cy="29660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F802F12-1E4A-2626-F0A8-71CA777AC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25653" y="3333390"/>
              <a:ext cx="2987516" cy="2966085"/>
            </a:xfrm>
            <a:prstGeom prst="rect">
              <a:avLst/>
            </a:prstGeom>
            <a:ln w="38100">
              <a:solidFill>
                <a:srgbClr val="69381E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4AEC21-93A0-F44A-B70B-892CF6A0C104}"/>
                </a:ext>
              </a:extLst>
            </p:cNvPr>
            <p:cNvSpPr txBox="1"/>
            <p:nvPr/>
          </p:nvSpPr>
          <p:spPr>
            <a:xfrm>
              <a:off x="7133808" y="3366224"/>
              <a:ext cx="1500803" cy="46446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465562"/>
                  </a:solidFill>
                </a:rPr>
                <a:t>Time Delay </a:t>
              </a:r>
            </a:p>
            <a:p>
              <a:pPr algn="ctr"/>
              <a:r>
                <a:rPr lang="en-US" sz="2100" dirty="0">
                  <a:solidFill>
                    <a:srgbClr val="465562"/>
                  </a:solidFill>
                </a:rPr>
                <a:t>Adjustment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301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ircuit board with wires attached&#10;&#10;AI-generated content may be incorrect.">
            <a:extLst>
              <a:ext uri="{FF2B5EF4-FFF2-40B4-BE49-F238E27FC236}">
                <a16:creationId xmlns:a16="http://schemas.microsoft.com/office/drawing/2014/main" id="{6CCAF06A-2EC1-1BB7-4675-0CBADE7E9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525" y="479186"/>
            <a:ext cx="8925544" cy="5131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-71731"/>
            <a:ext cx="10972800" cy="1143000"/>
          </a:xfrm>
        </p:spPr>
        <p:txBody>
          <a:bodyPr/>
          <a:lstStyle/>
          <a:p>
            <a:r>
              <a:rPr lang="en-US" dirty="0"/>
              <a:t>Circuit Diagram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9D81F128-850A-70FD-D00B-C81442438199}"/>
              </a:ext>
            </a:extLst>
          </p:cNvPr>
          <p:cNvSpPr/>
          <p:nvPr/>
        </p:nvSpPr>
        <p:spPr>
          <a:xfrm>
            <a:off x="3367004" y="5007404"/>
            <a:ext cx="1201116" cy="648992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8D341-BD9F-7AB6-BF46-21C924418079}"/>
              </a:ext>
            </a:extLst>
          </p:cNvPr>
          <p:cNvSpPr txBox="1"/>
          <p:nvPr/>
        </p:nvSpPr>
        <p:spPr>
          <a:xfrm>
            <a:off x="3643025" y="5124151"/>
            <a:ext cx="8834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bg1"/>
                </a:solidFill>
              </a:rPr>
              <a:t>220 </a:t>
            </a:r>
            <a:r>
              <a:rPr lang="el-GR" sz="2100" b="1" dirty="0">
                <a:solidFill>
                  <a:schemeClr val="bg1"/>
                </a:solidFill>
              </a:rPr>
              <a:t>Ω</a:t>
            </a:r>
            <a:endParaRPr lang="en-US" sz="2100" b="1" dirty="0">
              <a:solidFill>
                <a:schemeClr val="bg1"/>
              </a:solidFill>
            </a:endParaRP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8CDA3D25-6EDF-9026-EE92-51FEBF7DF997}"/>
              </a:ext>
            </a:extLst>
          </p:cNvPr>
          <p:cNvSpPr/>
          <p:nvPr/>
        </p:nvSpPr>
        <p:spPr>
          <a:xfrm rot="12189662">
            <a:off x="3575231" y="620333"/>
            <a:ext cx="1131376" cy="573437"/>
          </a:xfrm>
          <a:prstGeom prst="lef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8CB71-E243-4BAD-766E-A0C073A03B7E}"/>
              </a:ext>
            </a:extLst>
          </p:cNvPr>
          <p:cNvSpPr txBox="1"/>
          <p:nvPr/>
        </p:nvSpPr>
        <p:spPr>
          <a:xfrm rot="1462881">
            <a:off x="3638349" y="626123"/>
            <a:ext cx="8834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Pin 7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6DF50197-3AB5-546F-C664-883E86E7C071}"/>
              </a:ext>
            </a:extLst>
          </p:cNvPr>
          <p:cNvSpPr/>
          <p:nvPr/>
        </p:nvSpPr>
        <p:spPr>
          <a:xfrm rot="1207761">
            <a:off x="5208472" y="1227609"/>
            <a:ext cx="1131376" cy="573437"/>
          </a:xfrm>
          <a:prstGeom prst="leftArrow">
            <a:avLst/>
          </a:prstGeom>
          <a:solidFill>
            <a:srgbClr val="1EC62F"/>
          </a:solidFill>
          <a:ln>
            <a:solidFill>
              <a:srgbClr val="1EC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0701D-7454-806C-5449-4A97E376CA65}"/>
              </a:ext>
            </a:extLst>
          </p:cNvPr>
          <p:cNvSpPr txBox="1"/>
          <p:nvPr/>
        </p:nvSpPr>
        <p:spPr>
          <a:xfrm rot="1156981">
            <a:off x="5445369" y="1338030"/>
            <a:ext cx="8834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Pin 5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0A43322E-499F-C7F6-A8FD-D0B3750D6A14}"/>
              </a:ext>
            </a:extLst>
          </p:cNvPr>
          <p:cNvSpPr/>
          <p:nvPr/>
        </p:nvSpPr>
        <p:spPr>
          <a:xfrm rot="18375612">
            <a:off x="4229027" y="3021416"/>
            <a:ext cx="1131376" cy="573437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EFA542-043B-7FF0-83C9-ABD65D0A50D6}"/>
              </a:ext>
            </a:extLst>
          </p:cNvPr>
          <p:cNvSpPr txBox="1"/>
          <p:nvPr/>
        </p:nvSpPr>
        <p:spPr>
          <a:xfrm rot="18386417">
            <a:off x="4575536" y="2778847"/>
            <a:ext cx="8834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bg1"/>
                </a:solidFill>
              </a:rPr>
              <a:t>5V</a:t>
            </a:r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3C0107CF-0947-5F17-EDF1-35980DF4BFE8}"/>
              </a:ext>
            </a:extLst>
          </p:cNvPr>
          <p:cNvSpPr/>
          <p:nvPr/>
        </p:nvSpPr>
        <p:spPr>
          <a:xfrm rot="1514209">
            <a:off x="4599596" y="3829951"/>
            <a:ext cx="1131376" cy="573437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4F1097-6CC5-66B6-2FC3-7F79C5E36B77}"/>
              </a:ext>
            </a:extLst>
          </p:cNvPr>
          <p:cNvSpPr txBox="1"/>
          <p:nvPr/>
        </p:nvSpPr>
        <p:spPr>
          <a:xfrm rot="1605165">
            <a:off x="4903511" y="3977313"/>
            <a:ext cx="8834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bg1"/>
                </a:solidFill>
              </a:rPr>
              <a:t>GND</a:t>
            </a:r>
          </a:p>
        </p:txBody>
      </p:sp>
      <p:pic>
        <p:nvPicPr>
          <p:cNvPr id="4" name="Picture 3" descr="A close-up of a light bulb&#10;&#10;Description automatically generated">
            <a:extLst>
              <a:ext uri="{FF2B5EF4-FFF2-40B4-BE49-F238E27FC236}">
                <a16:creationId xmlns:a16="http://schemas.microsoft.com/office/drawing/2014/main" id="{011FDEED-D98F-1D15-582F-AD88C11C070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84" b="32107"/>
          <a:stretch/>
        </p:blipFill>
        <p:spPr>
          <a:xfrm>
            <a:off x="539269" y="410579"/>
            <a:ext cx="663255" cy="22215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FBA988-619C-5722-AA8B-B7B1AFC450F1}"/>
              </a:ext>
            </a:extLst>
          </p:cNvPr>
          <p:cNvSpPr txBox="1"/>
          <p:nvPr/>
        </p:nvSpPr>
        <p:spPr>
          <a:xfrm rot="16200000">
            <a:off x="-67921" y="1611017"/>
            <a:ext cx="1143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Short (-)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7CCC6-1FBD-5C6B-DB86-25832B60E994}"/>
              </a:ext>
            </a:extLst>
          </p:cNvPr>
          <p:cNvSpPr txBox="1"/>
          <p:nvPr/>
        </p:nvSpPr>
        <p:spPr>
          <a:xfrm rot="16200000">
            <a:off x="575519" y="1818523"/>
            <a:ext cx="1143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Long (+)</a:t>
            </a:r>
          </a:p>
        </p:txBody>
      </p:sp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998C7DB1-0C0C-6D7B-824C-0DB6D3C19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C07ED5-A262-2916-EC96-D111F4AE0ACB}"/>
              </a:ext>
            </a:extLst>
          </p:cNvPr>
          <p:cNvSpPr txBox="1"/>
          <p:nvPr/>
        </p:nvSpPr>
        <p:spPr>
          <a:xfrm>
            <a:off x="7565045" y="964443"/>
            <a:ext cx="319077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*Make sure that the wires are connected in the right spot on the PIR Sensor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0BB337-42B4-28CE-12F5-A49E85C21C84}"/>
              </a:ext>
            </a:extLst>
          </p:cNvPr>
          <p:cNvSpPr/>
          <p:nvPr/>
        </p:nvSpPr>
        <p:spPr>
          <a:xfrm>
            <a:off x="7939668" y="2551399"/>
            <a:ext cx="1445198" cy="9865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39B9C7-D160-BE34-7724-515A9B0DC9A7}"/>
              </a:ext>
            </a:extLst>
          </p:cNvPr>
          <p:cNvSpPr/>
          <p:nvPr/>
        </p:nvSpPr>
        <p:spPr>
          <a:xfrm>
            <a:off x="7939668" y="2836870"/>
            <a:ext cx="1445198" cy="9865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71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D81FCEB-364D-E510-8B26-F5458A849B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309" b="28384"/>
          <a:stretch/>
        </p:blipFill>
        <p:spPr>
          <a:xfrm>
            <a:off x="2027694" y="669821"/>
            <a:ext cx="8136611" cy="5061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0814"/>
            <a:ext cx="10972800" cy="639007"/>
          </a:xfrm>
        </p:spPr>
        <p:txBody>
          <a:bodyPr>
            <a:noAutofit/>
          </a:bodyPr>
          <a:lstStyle/>
          <a:p>
            <a:r>
              <a:rPr lang="en-US" dirty="0"/>
              <a:t>Coding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835489-667E-6346-A327-1904FC7FD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832" y="3072622"/>
            <a:ext cx="753121" cy="255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3CD114-365D-B60A-4814-F8090A774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384" y="4951769"/>
            <a:ext cx="753121" cy="2554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E137E0-06C4-E6BD-EBA4-258CDA444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214" y="5337250"/>
            <a:ext cx="753121" cy="255445"/>
          </a:xfrm>
          <a:prstGeom prst="rect">
            <a:avLst/>
          </a:prstGeom>
        </p:spPr>
      </p:pic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6DCDB883-FC7F-C393-1B7A-01077CEE30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23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8E20E47-FC70-A5D5-1F46-5F5D420D35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97" r="51940" b="6240"/>
          <a:stretch/>
        </p:blipFill>
        <p:spPr>
          <a:xfrm>
            <a:off x="2602757" y="639007"/>
            <a:ext cx="6986486" cy="51209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C9ABD1-1BF7-95A2-A10A-33F067115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541" y="1014438"/>
            <a:ext cx="753121" cy="25544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8FA56F5-0585-1421-7DEA-AA9EF1394779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3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Coding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FCB670-F058-EEA1-698C-AB98D47D0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8879" y="3546967"/>
            <a:ext cx="659549" cy="15209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6A84E0-0DB7-C83E-ACAC-7CB4D6EC3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632" y="4095825"/>
            <a:ext cx="973734" cy="330273"/>
          </a:xfrm>
          <a:prstGeom prst="rect">
            <a:avLst/>
          </a:prstGeom>
        </p:spPr>
      </p:pic>
      <p:pic>
        <p:nvPicPr>
          <p:cNvPr id="2" name="Picture 1" descr="A blue and white symbol&#10;&#10;Description automatically generated">
            <a:extLst>
              <a:ext uri="{FF2B5EF4-FFF2-40B4-BE49-F238E27FC236}">
                <a16:creationId xmlns:a16="http://schemas.microsoft.com/office/drawing/2014/main" id="{985FC5BF-8FEB-1BED-7D7D-87BC7ED45F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6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46331"/>
          </a:xfrm>
        </p:spPr>
        <p:txBody>
          <a:bodyPr>
            <a:noAutofit/>
          </a:bodyPr>
          <a:lstStyle/>
          <a:p>
            <a:r>
              <a:rPr lang="en-US" dirty="0"/>
              <a:t>Test it Out!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FCBD6-753B-8094-5AE1-55FFB69CC2A6}"/>
              </a:ext>
            </a:extLst>
          </p:cNvPr>
          <p:cNvSpPr txBox="1"/>
          <p:nvPr/>
        </p:nvSpPr>
        <p:spPr>
          <a:xfrm>
            <a:off x="237640" y="749858"/>
            <a:ext cx="11954360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Run the program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Click upload to send the code to the Arduino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Click the serial monitor to see the text being displayed when the PIR Sensor detects movement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BADC9FE-034A-090D-3461-3591C4EE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546" y="2619214"/>
            <a:ext cx="6212907" cy="315200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05F5AB0-C677-6151-57F2-0A5B61AC4498}"/>
              </a:ext>
            </a:extLst>
          </p:cNvPr>
          <p:cNvSpPr/>
          <p:nvPr/>
        </p:nvSpPr>
        <p:spPr>
          <a:xfrm rot="18704022">
            <a:off x="2208466" y="3224840"/>
            <a:ext cx="1233231" cy="53194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7DE71B-6F58-70B6-ACEF-EB566559D38E}"/>
              </a:ext>
            </a:extLst>
          </p:cNvPr>
          <p:cNvSpPr txBox="1"/>
          <p:nvPr/>
        </p:nvSpPr>
        <p:spPr>
          <a:xfrm rot="18686666">
            <a:off x="2232142" y="3390805"/>
            <a:ext cx="1007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Upload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EE9EB62-407B-F252-668D-A14E48D58493}"/>
              </a:ext>
            </a:extLst>
          </p:cNvPr>
          <p:cNvSpPr/>
          <p:nvPr/>
        </p:nvSpPr>
        <p:spPr>
          <a:xfrm rot="13747628">
            <a:off x="8811979" y="3525019"/>
            <a:ext cx="2025290" cy="53194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E2530E-2CD0-AA91-AAE3-A856AE5A18BF}"/>
              </a:ext>
            </a:extLst>
          </p:cNvPr>
          <p:cNvSpPr txBox="1"/>
          <p:nvPr/>
        </p:nvSpPr>
        <p:spPr>
          <a:xfrm rot="2958921">
            <a:off x="9054625" y="3724229"/>
            <a:ext cx="1805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Serial Monitor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69E3C66-0EBC-B7D6-76D4-DEAEF2C734D0}"/>
              </a:ext>
            </a:extLst>
          </p:cNvPr>
          <p:cNvSpPr/>
          <p:nvPr/>
        </p:nvSpPr>
        <p:spPr>
          <a:xfrm rot="10800000">
            <a:off x="3434026" y="5168932"/>
            <a:ext cx="1649418" cy="53194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9EAB94-38DE-34C5-BD6E-F5B846D02766}"/>
              </a:ext>
            </a:extLst>
          </p:cNvPr>
          <p:cNvSpPr txBox="1"/>
          <p:nvPr/>
        </p:nvSpPr>
        <p:spPr>
          <a:xfrm rot="11293">
            <a:off x="3652877" y="5234850"/>
            <a:ext cx="1805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Text Display</a:t>
            </a:r>
          </a:p>
        </p:txBody>
      </p:sp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7A6F3309-1BE7-C83B-0301-EB0CDBB13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85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18FF2-2355-CA31-DABB-B2962540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white symbol&#10;&#10;Description automatically generated">
            <a:extLst>
              <a:ext uri="{FF2B5EF4-FFF2-40B4-BE49-F238E27FC236}">
                <a16:creationId xmlns:a16="http://schemas.microsoft.com/office/drawing/2014/main" id="{5C44640D-FE39-511E-F207-AB830A49A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24" y="19374"/>
            <a:ext cx="1425844" cy="14258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BE43A7-AABF-E9DB-B86A-E80608C03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3695"/>
            <a:ext cx="10972800" cy="1143000"/>
          </a:xfrm>
        </p:spPr>
        <p:txBody>
          <a:bodyPr/>
          <a:lstStyle/>
          <a:p>
            <a:r>
              <a:rPr lang="en-US" dirty="0"/>
              <a:t>How to Adjust the PIR Sensor’s Sensitivity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3E2243-6EE2-8DE1-AB89-AC60BEF9B5DF}"/>
              </a:ext>
            </a:extLst>
          </p:cNvPr>
          <p:cNvGrpSpPr>
            <a:grpSpLocks noChangeAspect="1"/>
          </p:cNvGrpSpPr>
          <p:nvPr/>
        </p:nvGrpSpPr>
        <p:grpSpPr>
          <a:xfrm>
            <a:off x="6856165" y="1216695"/>
            <a:ext cx="4891402" cy="4424610"/>
            <a:chOff x="5027632" y="371503"/>
            <a:chExt cx="3241100" cy="29317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30B36FB-6E66-F311-26C2-C17A1CE4A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7632" y="371503"/>
              <a:ext cx="2978944" cy="2931795"/>
            </a:xfrm>
            <a:prstGeom prst="rect">
              <a:avLst/>
            </a:prstGeom>
            <a:ln w="38100">
              <a:solidFill>
                <a:srgbClr val="69381E"/>
              </a:solidFill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9251FAD-0307-3935-D078-5E69A7576178}"/>
                </a:ext>
              </a:extLst>
            </p:cNvPr>
            <p:cNvSpPr txBox="1"/>
            <p:nvPr/>
          </p:nvSpPr>
          <p:spPr>
            <a:xfrm>
              <a:off x="6761502" y="397014"/>
              <a:ext cx="1507230" cy="47298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465562"/>
                  </a:solidFill>
                </a:rPr>
                <a:t>Sensitivity </a:t>
              </a:r>
            </a:p>
            <a:p>
              <a:pPr algn="ctr"/>
              <a:r>
                <a:rPr lang="en-US" sz="2100" dirty="0">
                  <a:solidFill>
                    <a:srgbClr val="465562"/>
                  </a:solidFill>
                </a:rPr>
                <a:t>Adjustment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DDF52B-CD2F-182D-C1E1-DCB03A398E28}"/>
              </a:ext>
            </a:extLst>
          </p:cNvPr>
          <p:cNvGrpSpPr>
            <a:grpSpLocks noChangeAspect="1"/>
          </p:cNvGrpSpPr>
          <p:nvPr/>
        </p:nvGrpSpPr>
        <p:grpSpPr>
          <a:xfrm>
            <a:off x="1067232" y="1216695"/>
            <a:ext cx="4786939" cy="4424610"/>
            <a:chOff x="5425653" y="3333390"/>
            <a:chExt cx="3208958" cy="29660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CA1E298-0532-0843-B399-92CDA9C62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25653" y="3333390"/>
              <a:ext cx="2987516" cy="2966085"/>
            </a:xfrm>
            <a:prstGeom prst="rect">
              <a:avLst/>
            </a:prstGeom>
            <a:ln w="38100">
              <a:solidFill>
                <a:srgbClr val="69381E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F75C2F-D655-2B07-42A3-15910AF3C845}"/>
                </a:ext>
              </a:extLst>
            </p:cNvPr>
            <p:cNvSpPr txBox="1"/>
            <p:nvPr/>
          </p:nvSpPr>
          <p:spPr>
            <a:xfrm>
              <a:off x="7133808" y="3366224"/>
              <a:ext cx="1500803" cy="46446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465562"/>
                  </a:solidFill>
                </a:rPr>
                <a:t>Time Delay </a:t>
              </a:r>
            </a:p>
            <a:p>
              <a:pPr algn="ctr"/>
              <a:r>
                <a:rPr lang="en-US" sz="2100" dirty="0">
                  <a:solidFill>
                    <a:srgbClr val="465562"/>
                  </a:solidFill>
                </a:rPr>
                <a:t>Adjustment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723721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yo_powerpoint_template1 [Read-Only]" id="{4B645B48-1D4D-4A7E-A227-940AAC3A88AC}" vid="{38082606-69BA-4892-877D-46BB1B920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4794</TotalTime>
  <Words>355</Words>
  <Application>Microsoft Office PowerPoint</Application>
  <PresentationFormat>Widescreen</PresentationFormat>
  <Paragraphs>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Custom Design</vt:lpstr>
      <vt:lpstr> PIR Motion Activated LED</vt:lpstr>
      <vt:lpstr>Goals</vt:lpstr>
      <vt:lpstr>Introduction to Electromagnetic Waves and Infrared Sensors</vt:lpstr>
      <vt:lpstr>What is a Passive Infrared Sensor?</vt:lpstr>
      <vt:lpstr>Components of the PIR Sensor</vt:lpstr>
      <vt:lpstr>How to Adjust the PIR Sensor’s Sensitivity</vt:lpstr>
      <vt:lpstr>Circuit Diagram</vt:lpstr>
      <vt:lpstr>Coding</vt:lpstr>
      <vt:lpstr>PowerPoint Presentation</vt:lpstr>
      <vt:lpstr>Test it Out!</vt:lpstr>
      <vt:lpstr>How to Adjust the PIR Sensor’s Sensitivity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 Tripwire with Alarm Raspberry Pi with Python</dc:title>
  <dc:creator>Sully Fagan</dc:creator>
  <cp:lastModifiedBy>Matthew Pikal</cp:lastModifiedBy>
  <cp:revision>94</cp:revision>
  <dcterms:created xsi:type="dcterms:W3CDTF">2024-06-14T21:00:22Z</dcterms:created>
  <dcterms:modified xsi:type="dcterms:W3CDTF">2025-06-23T20:03:14Z</dcterms:modified>
</cp:coreProperties>
</file>