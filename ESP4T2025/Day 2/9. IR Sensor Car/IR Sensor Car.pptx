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3" r:id="rId7"/>
    <p:sldId id="270" r:id="rId8"/>
    <p:sldId id="265" r:id="rId9"/>
    <p:sldId id="276" r:id="rId10"/>
    <p:sldId id="275" r:id="rId11"/>
    <p:sldId id="274" r:id="rId12"/>
    <p:sldId id="273" r:id="rId13"/>
    <p:sldId id="272" r:id="rId14"/>
    <p:sldId id="271" r:id="rId15"/>
    <p:sldId id="27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975D"/>
    <a:srgbClr val="A6539D"/>
    <a:srgbClr val="51271B"/>
    <a:srgbClr val="1EC62F"/>
    <a:srgbClr val="69381E"/>
    <a:srgbClr val="604B38"/>
    <a:srgbClr val="FFC425"/>
    <a:srgbClr val="FAF3A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0272" autoAdjust="0"/>
  </p:normalViewPr>
  <p:slideViewPr>
    <p:cSldViewPr snapToGrid="0">
      <p:cViewPr varScale="1">
        <p:scale>
          <a:sx n="62" d="100"/>
          <a:sy n="62" d="100"/>
        </p:scale>
        <p:origin x="1062" y="-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9D54E-5013-46A8-89A5-1B53A715BA8F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3926B-6DAA-4D33-AA50-FA845D6D86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27 Jun 2024 by Noah Mulvaney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2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9E866-E575-429A-955A-0A8D1C8726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9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54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Counting </a:t>
            </a:r>
          </a:p>
          <a:p>
            <a:r>
              <a:rPr lang="en-US" dirty="0"/>
              <a:t>-Parts on an assembly line</a:t>
            </a:r>
          </a:p>
          <a:p>
            <a:r>
              <a:rPr lang="en-US" dirty="0"/>
              <a:t>-Rotations of machine parts, think belts and gears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126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601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623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372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993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410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976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6086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904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097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97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605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119F8B6C-7E61-6730-732F-BFACBA7E3B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982" y="1"/>
            <a:ext cx="1427018" cy="14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14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A blue and white symbol&#10;&#10;Description automatically generated">
            <a:extLst>
              <a:ext uri="{FF2B5EF4-FFF2-40B4-BE49-F238E27FC236}">
                <a16:creationId xmlns:a16="http://schemas.microsoft.com/office/drawing/2014/main" id="{AB189525-CA26-1C2D-435E-DBD3AC1A3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982" y="1"/>
            <a:ext cx="1427018" cy="14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2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98A00F21-76AC-9A22-E85D-E1A12F557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982" y="1"/>
            <a:ext cx="1427018" cy="14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6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91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05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5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64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99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6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4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069" y="3429000"/>
            <a:ext cx="10363200" cy="1135288"/>
          </a:xfrm>
        </p:spPr>
        <p:txBody>
          <a:bodyPr>
            <a:noAutofit/>
          </a:bodyPr>
          <a:lstStyle/>
          <a:p>
            <a:r>
              <a:rPr lang="en-US" sz="6900" b="1" dirty="0">
                <a:solidFill>
                  <a:srgbClr val="69381E"/>
                </a:solidFill>
              </a:rPr>
              <a:t>IR Sensor 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10" name="Picture 9" descr="A brown rectangular sign with a horse and text&#10;&#10;Description automatically generated">
            <a:extLst>
              <a:ext uri="{FF2B5EF4-FFF2-40B4-BE49-F238E27FC236}">
                <a16:creationId xmlns:a16="http://schemas.microsoft.com/office/drawing/2014/main" id="{CB96BABA-B0E6-123B-BAEB-42A84349C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32742" r="1737" b="31610"/>
          <a:stretch/>
        </p:blipFill>
        <p:spPr>
          <a:xfrm>
            <a:off x="3529181" y="1433632"/>
            <a:ext cx="4810978" cy="1710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8748A0-2CDF-507E-4659-88D1FD5689AE}"/>
              </a:ext>
            </a:extLst>
          </p:cNvPr>
          <p:cNvSpPr txBox="1"/>
          <p:nvPr/>
        </p:nvSpPr>
        <p:spPr>
          <a:xfrm>
            <a:off x="4338934" y="4641288"/>
            <a:ext cx="35141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solidFill>
                  <a:srgbClr val="69381E"/>
                </a:solidFill>
              </a:rPr>
              <a:t>Arduino with C Programming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85669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74A5-2D56-B5F3-2C94-96B6D122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C5B0-CE8A-5365-533A-52856D3F3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900054"/>
          </a:xfrm>
        </p:spPr>
        <p:txBody>
          <a:bodyPr>
            <a:normAutofit/>
          </a:bodyPr>
          <a:lstStyle/>
          <a:p>
            <a:r>
              <a:rPr lang="en-US" sz="3600" dirty="0"/>
              <a:t>Use an Infrared (IR) Sensor to detect white and black surfaces</a:t>
            </a:r>
          </a:p>
          <a:p>
            <a:r>
              <a:rPr lang="en-US" sz="3600" dirty="0"/>
              <a:t>Integrate the IR Sensor into the mobile platform so the platform turns when a black line is detected</a:t>
            </a:r>
          </a:p>
          <a:p>
            <a:r>
              <a:rPr lang="en-US" sz="3600" dirty="0"/>
              <a:t>Fine-tune the IR Sensors to allow the platform to successfully navigate a track</a:t>
            </a:r>
          </a:p>
        </p:txBody>
      </p:sp>
    </p:spTree>
    <p:extLst>
      <p:ext uri="{BB962C8B-B14F-4D97-AF65-F5344CB8AC3E}">
        <p14:creationId xmlns:p14="http://schemas.microsoft.com/office/powerpoint/2010/main" val="160397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425843-E8DB-3F72-F055-A470FBF9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364" y="1974644"/>
            <a:ext cx="4819503" cy="2908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013" y="89095"/>
            <a:ext cx="9391974" cy="1143000"/>
          </a:xfrm>
        </p:spPr>
        <p:txBody>
          <a:bodyPr>
            <a:noAutofit/>
          </a:bodyPr>
          <a:lstStyle/>
          <a:p>
            <a:r>
              <a:rPr lang="en-US" dirty="0"/>
              <a:t>Introduction to Electromagnetic Waves and Infrared Sensors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C4676-1719-7A1F-05E9-13BB189C5AA6}"/>
              </a:ext>
            </a:extLst>
          </p:cNvPr>
          <p:cNvSpPr txBox="1"/>
          <p:nvPr/>
        </p:nvSpPr>
        <p:spPr>
          <a:xfrm>
            <a:off x="41565" y="1431489"/>
            <a:ext cx="71627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Infrared light starts just above the red edge of the visible spectrum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780 nm to 1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White surfaces reflect the maximum amount of infrared light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The output signal from the IR sensor would be low in this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Black surfaces reflect a minimal amount of infrared light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The output signal remains high in this case</a:t>
            </a:r>
          </a:p>
        </p:txBody>
      </p:sp>
    </p:spTree>
    <p:extLst>
      <p:ext uri="{BB962C8B-B14F-4D97-AF65-F5344CB8AC3E}">
        <p14:creationId xmlns:p14="http://schemas.microsoft.com/office/powerpoint/2010/main" val="402145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TCRT5000 Infrared Sensor Module - Line Track - Devobox">
            <a:extLst>
              <a:ext uri="{FF2B5EF4-FFF2-40B4-BE49-F238E27FC236}">
                <a16:creationId xmlns:a16="http://schemas.microsoft.com/office/drawing/2014/main" id="{A731AB70-52A1-6727-2502-38AEBE8A5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540" y="1131376"/>
            <a:ext cx="4629553" cy="46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6113"/>
            <a:ext cx="10972800" cy="1143000"/>
          </a:xfrm>
        </p:spPr>
        <p:txBody>
          <a:bodyPr/>
          <a:lstStyle/>
          <a:p>
            <a:r>
              <a:rPr lang="en-US" dirty="0"/>
              <a:t>What is an Infrared Sensor?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4" y="1611086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CCDA3-4146-B03B-0DA5-7B1086928455}"/>
              </a:ext>
            </a:extLst>
          </p:cNvPr>
          <p:cNvSpPr txBox="1"/>
          <p:nvPr/>
        </p:nvSpPr>
        <p:spPr>
          <a:xfrm>
            <a:off x="490187" y="1359724"/>
            <a:ext cx="56058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electronic sensor that consists of two main parts, an infrared transmitter, and an infrared receiver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Common uses for Infrared Sensors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Security alarms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Counting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Astronomy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Making mobile platforms go around a track</a:t>
            </a:r>
          </a:p>
        </p:txBody>
      </p:sp>
    </p:spTree>
    <p:extLst>
      <p:ext uri="{BB962C8B-B14F-4D97-AF65-F5344CB8AC3E}">
        <p14:creationId xmlns:p14="http://schemas.microsoft.com/office/powerpoint/2010/main" val="303686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ow to Use TCRT5000 IR Sensor Module ...">
            <a:extLst>
              <a:ext uri="{FF2B5EF4-FFF2-40B4-BE49-F238E27FC236}">
                <a16:creationId xmlns:a16="http://schemas.microsoft.com/office/drawing/2014/main" id="{D38AAF75-3256-3AF5-1E24-8C86CBAE4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73866"/>
            <a:ext cx="5937077" cy="251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08"/>
            <a:ext cx="10972800" cy="1143000"/>
          </a:xfrm>
        </p:spPr>
        <p:txBody>
          <a:bodyPr/>
          <a:lstStyle/>
          <a:p>
            <a:r>
              <a:rPr lang="en-US" dirty="0"/>
              <a:t>Components of the Infrared Sensor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4" y="1611086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CCDA3-4146-B03B-0DA5-7B1086928455}"/>
              </a:ext>
            </a:extLst>
          </p:cNvPr>
          <p:cNvSpPr txBox="1"/>
          <p:nvPr/>
        </p:nvSpPr>
        <p:spPr>
          <a:xfrm>
            <a:off x="158923" y="1025589"/>
            <a:ext cx="635923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TCRT5000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Working Voltage: +5V DC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Digital Output (DO)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Transistor-Transistor Logic (TTL) allows for simple communication with digital components such as microcontrollers or computers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Analog Output (AO)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Can be used to measure small distances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Detection Distance: 2cm – 40cm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EA6EF-CC35-A116-5876-61127E55D6F2}"/>
              </a:ext>
            </a:extLst>
          </p:cNvPr>
          <p:cNvSpPr/>
          <p:nvPr/>
        </p:nvSpPr>
        <p:spPr>
          <a:xfrm>
            <a:off x="10778591" y="2090171"/>
            <a:ext cx="1351370" cy="3212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6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 with batteries connected to it&#10;&#10;Description automatically generated">
            <a:extLst>
              <a:ext uri="{FF2B5EF4-FFF2-40B4-BE49-F238E27FC236}">
                <a16:creationId xmlns:a16="http://schemas.microsoft.com/office/drawing/2014/main" id="{4F2B7505-F15A-0AAB-6A0A-613FA2FF02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1"/>
          <a:stretch/>
        </p:blipFill>
        <p:spPr>
          <a:xfrm>
            <a:off x="3039192" y="764718"/>
            <a:ext cx="6113614" cy="4936639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9A480334-6518-C5B6-85B5-BA8045F165DF}"/>
              </a:ext>
            </a:extLst>
          </p:cNvPr>
          <p:cNvSpPr/>
          <p:nvPr/>
        </p:nvSpPr>
        <p:spPr>
          <a:xfrm>
            <a:off x="1194123" y="2113074"/>
            <a:ext cx="2923310" cy="6485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-71731"/>
            <a:ext cx="10972800" cy="1143000"/>
          </a:xfrm>
        </p:spPr>
        <p:txBody>
          <a:bodyPr/>
          <a:lstStyle/>
          <a:p>
            <a:r>
              <a:rPr lang="en-US" dirty="0"/>
              <a:t>Circuit Diagram Motors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1E62D5-B048-36B0-0A2E-33324303D59A}"/>
              </a:ext>
            </a:extLst>
          </p:cNvPr>
          <p:cNvSpPr txBox="1"/>
          <p:nvPr/>
        </p:nvSpPr>
        <p:spPr>
          <a:xfrm>
            <a:off x="1194123" y="2214445"/>
            <a:ext cx="29394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M1 = Front Left Motor 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CF3B6A8-03FA-CECB-17CD-5CB5B87922B5}"/>
              </a:ext>
            </a:extLst>
          </p:cNvPr>
          <p:cNvSpPr/>
          <p:nvPr/>
        </p:nvSpPr>
        <p:spPr>
          <a:xfrm>
            <a:off x="1210297" y="2824827"/>
            <a:ext cx="2923310" cy="6485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412903-20BD-8BC0-3721-212FF3095A89}"/>
              </a:ext>
            </a:extLst>
          </p:cNvPr>
          <p:cNvSpPr txBox="1"/>
          <p:nvPr/>
        </p:nvSpPr>
        <p:spPr>
          <a:xfrm>
            <a:off x="1177949" y="2941363"/>
            <a:ext cx="29394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M2 = Front Right Motor 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40A2D81-8678-4637-87FC-45BDE3852BFD}"/>
              </a:ext>
            </a:extLst>
          </p:cNvPr>
          <p:cNvSpPr/>
          <p:nvPr/>
        </p:nvSpPr>
        <p:spPr>
          <a:xfrm rot="10800000">
            <a:off x="7895638" y="2113074"/>
            <a:ext cx="2923310" cy="6485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0297E347-060D-3474-9EDD-AC6D60FA76C1}"/>
              </a:ext>
            </a:extLst>
          </p:cNvPr>
          <p:cNvSpPr/>
          <p:nvPr/>
        </p:nvSpPr>
        <p:spPr>
          <a:xfrm rot="10800000">
            <a:off x="7895638" y="2826974"/>
            <a:ext cx="2923310" cy="6485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2ED91D-1D81-223D-73DD-8410C21A2251}"/>
              </a:ext>
            </a:extLst>
          </p:cNvPr>
          <p:cNvSpPr txBox="1"/>
          <p:nvPr/>
        </p:nvSpPr>
        <p:spPr>
          <a:xfrm>
            <a:off x="8212699" y="2215839"/>
            <a:ext cx="29394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M4 = Rear Right Motor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C5EB24-B26F-1848-81A1-61048DC8C3DC}"/>
              </a:ext>
            </a:extLst>
          </p:cNvPr>
          <p:cNvSpPr txBox="1"/>
          <p:nvPr/>
        </p:nvSpPr>
        <p:spPr>
          <a:xfrm>
            <a:off x="8112433" y="2939142"/>
            <a:ext cx="29394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M3 = Rear Left Motor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BF87E-1549-1FF8-4F6F-58895A7E0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33952" y="3533071"/>
            <a:ext cx="658225" cy="2455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37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 with wires&#10;&#10;Description automatically generated">
            <a:extLst>
              <a:ext uri="{FF2B5EF4-FFF2-40B4-BE49-F238E27FC236}">
                <a16:creationId xmlns:a16="http://schemas.microsoft.com/office/drawing/2014/main" id="{2F3DE13B-4109-17D6-17BB-459A0935E9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29" b="4316"/>
          <a:stretch/>
        </p:blipFill>
        <p:spPr>
          <a:xfrm>
            <a:off x="2617493" y="879016"/>
            <a:ext cx="6518901" cy="48782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-71731"/>
            <a:ext cx="10972800" cy="1143000"/>
          </a:xfrm>
        </p:spPr>
        <p:txBody>
          <a:bodyPr/>
          <a:lstStyle/>
          <a:p>
            <a:r>
              <a:rPr lang="en-US" dirty="0"/>
              <a:t>Circuit Diagram IR Sensors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D81F128-850A-70FD-D00B-C81442438199}"/>
              </a:ext>
            </a:extLst>
          </p:cNvPr>
          <p:cNvSpPr/>
          <p:nvPr/>
        </p:nvSpPr>
        <p:spPr>
          <a:xfrm rot="18370015">
            <a:off x="6733013" y="2246901"/>
            <a:ext cx="1201116" cy="648992"/>
          </a:xfrm>
          <a:prstGeom prst="lef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8CDA3D25-6EDF-9026-EE92-51FEBF7DF997}"/>
              </a:ext>
            </a:extLst>
          </p:cNvPr>
          <p:cNvSpPr/>
          <p:nvPr/>
        </p:nvSpPr>
        <p:spPr>
          <a:xfrm rot="20555351">
            <a:off x="5407476" y="2712672"/>
            <a:ext cx="633903" cy="573437"/>
          </a:xfrm>
          <a:prstGeom prst="leftArrow">
            <a:avLst/>
          </a:prstGeom>
          <a:solidFill>
            <a:srgbClr val="A6539D"/>
          </a:solidFill>
          <a:ln>
            <a:solidFill>
              <a:srgbClr val="A6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8CB71-E243-4BAD-766E-A0C073A03B7E}"/>
              </a:ext>
            </a:extLst>
          </p:cNvPr>
          <p:cNvSpPr txBox="1"/>
          <p:nvPr/>
        </p:nvSpPr>
        <p:spPr>
          <a:xfrm rot="20591694">
            <a:off x="5577699" y="2681474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A1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6DF50197-3AB5-546F-C664-883E86E7C071}"/>
              </a:ext>
            </a:extLst>
          </p:cNvPr>
          <p:cNvSpPr/>
          <p:nvPr/>
        </p:nvSpPr>
        <p:spPr>
          <a:xfrm rot="6785207">
            <a:off x="4671241" y="3279577"/>
            <a:ext cx="715715" cy="573437"/>
          </a:xfrm>
          <a:prstGeom prst="leftArrow">
            <a:avLst/>
          </a:prstGeom>
          <a:solidFill>
            <a:srgbClr val="1EC62F"/>
          </a:solidFill>
          <a:ln>
            <a:solidFill>
              <a:srgbClr val="1EC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0701D-7454-806C-5449-4A97E376CA65}"/>
              </a:ext>
            </a:extLst>
          </p:cNvPr>
          <p:cNvSpPr txBox="1"/>
          <p:nvPr/>
        </p:nvSpPr>
        <p:spPr>
          <a:xfrm rot="17659710">
            <a:off x="4619113" y="3268585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A0</a:t>
            </a: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3C0107CF-0947-5F17-EDF1-35980DF4BFE8}"/>
              </a:ext>
            </a:extLst>
          </p:cNvPr>
          <p:cNvSpPr/>
          <p:nvPr/>
        </p:nvSpPr>
        <p:spPr>
          <a:xfrm rot="17715152">
            <a:off x="4504000" y="2152139"/>
            <a:ext cx="1016237" cy="576822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D3A6224F-D5EC-DF36-94A0-7E4BE2A2A7E5}"/>
              </a:ext>
            </a:extLst>
          </p:cNvPr>
          <p:cNvSpPr/>
          <p:nvPr/>
        </p:nvSpPr>
        <p:spPr>
          <a:xfrm rot="13629278">
            <a:off x="3743943" y="2212023"/>
            <a:ext cx="1016237" cy="57682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54CB3-AAC4-5EF8-704E-E5593BE0203A}"/>
              </a:ext>
            </a:extLst>
          </p:cNvPr>
          <p:cNvSpPr txBox="1"/>
          <p:nvPr/>
        </p:nvSpPr>
        <p:spPr>
          <a:xfrm rot="2899959">
            <a:off x="3795054" y="2275107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5V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94F3C6-EDB6-9C73-6BC9-1F7E1556CF93}"/>
              </a:ext>
            </a:extLst>
          </p:cNvPr>
          <p:cNvSpPr txBox="1"/>
          <p:nvPr/>
        </p:nvSpPr>
        <p:spPr>
          <a:xfrm rot="17717833">
            <a:off x="4591090" y="1962043"/>
            <a:ext cx="10988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GND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4FCF8F-D19B-9D11-D652-112E14D89387}"/>
              </a:ext>
            </a:extLst>
          </p:cNvPr>
          <p:cNvSpPr txBox="1"/>
          <p:nvPr/>
        </p:nvSpPr>
        <p:spPr>
          <a:xfrm rot="18368237">
            <a:off x="6992663" y="2222523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A0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4A6493C0-69FF-69A7-746F-68274AE09353}"/>
              </a:ext>
            </a:extLst>
          </p:cNvPr>
          <p:cNvSpPr/>
          <p:nvPr/>
        </p:nvSpPr>
        <p:spPr>
          <a:xfrm rot="18370015">
            <a:off x="6733014" y="4228517"/>
            <a:ext cx="1201116" cy="648992"/>
          </a:xfrm>
          <a:prstGeom prst="lef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B9F1B0-5B80-F136-B565-944DC0C60640}"/>
              </a:ext>
            </a:extLst>
          </p:cNvPr>
          <p:cNvSpPr txBox="1"/>
          <p:nvPr/>
        </p:nvSpPr>
        <p:spPr>
          <a:xfrm rot="18368237">
            <a:off x="6958188" y="4248279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A0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9974F-F1A0-CEFD-BED4-C28D361E4F5D}"/>
              </a:ext>
            </a:extLst>
          </p:cNvPr>
          <p:cNvSpPr txBox="1"/>
          <p:nvPr/>
        </p:nvSpPr>
        <p:spPr>
          <a:xfrm>
            <a:off x="9224662" y="3187342"/>
            <a:ext cx="18124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Left IR Sensor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3DEBD-B8F2-CF53-F7AD-9C2D78300BCA}"/>
              </a:ext>
            </a:extLst>
          </p:cNvPr>
          <p:cNvSpPr txBox="1"/>
          <p:nvPr/>
        </p:nvSpPr>
        <p:spPr>
          <a:xfrm>
            <a:off x="9224662" y="5173996"/>
            <a:ext cx="19196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Right IR Sensor</a:t>
            </a:r>
          </a:p>
        </p:txBody>
      </p:sp>
    </p:spTree>
    <p:extLst>
      <p:ext uri="{BB962C8B-B14F-4D97-AF65-F5344CB8AC3E}">
        <p14:creationId xmlns:p14="http://schemas.microsoft.com/office/powerpoint/2010/main" val="68682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1D76CCB-2B70-0823-37B1-E7C6485F22A7}"/>
              </a:ext>
            </a:extLst>
          </p:cNvPr>
          <p:cNvGrpSpPr/>
          <p:nvPr/>
        </p:nvGrpSpPr>
        <p:grpSpPr>
          <a:xfrm>
            <a:off x="1088384" y="985767"/>
            <a:ext cx="7363314" cy="4562625"/>
            <a:chOff x="1088384" y="985767"/>
            <a:chExt cx="7363314" cy="456262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23A1326-F509-737B-EE2F-0C55B63F9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8384" y="985767"/>
              <a:ext cx="7363314" cy="45626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C9ABD1-1BF7-95A2-A10A-33F067115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3228" y="3642189"/>
              <a:ext cx="753121" cy="255445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</p:spTree>
    <p:extLst>
      <p:ext uri="{BB962C8B-B14F-4D97-AF65-F5344CB8AC3E}">
        <p14:creationId xmlns:p14="http://schemas.microsoft.com/office/powerpoint/2010/main" val="189756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175747-0CE3-214C-9AE6-5511953A2A27}"/>
              </a:ext>
            </a:extLst>
          </p:cNvPr>
          <p:cNvGrpSpPr/>
          <p:nvPr/>
        </p:nvGrpSpPr>
        <p:grpSpPr>
          <a:xfrm>
            <a:off x="794629" y="950369"/>
            <a:ext cx="7125005" cy="4648700"/>
            <a:chOff x="794629" y="950369"/>
            <a:chExt cx="7125005" cy="46487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9CFECD-F97A-FE9A-8EF5-F301ACEBB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4629" y="950369"/>
              <a:ext cx="7125005" cy="4648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FCB670-F058-EEA1-698C-AB98D47D0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81324" y="3429000"/>
              <a:ext cx="377842" cy="10190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A84E0-0DB7-C83E-ACAC-7CB4D6EC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59164" y="3689791"/>
              <a:ext cx="883005" cy="3502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341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89FC0C-9D7B-F113-5337-FFC071BAC9EE}"/>
              </a:ext>
            </a:extLst>
          </p:cNvPr>
          <p:cNvGrpSpPr/>
          <p:nvPr/>
        </p:nvGrpSpPr>
        <p:grpSpPr>
          <a:xfrm>
            <a:off x="1032329" y="1631788"/>
            <a:ext cx="9271404" cy="3388220"/>
            <a:chOff x="1032329" y="1631788"/>
            <a:chExt cx="9271404" cy="33882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F406220-B123-9DE8-5CAB-AE677F7CE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2329" y="1631788"/>
              <a:ext cx="9271404" cy="33882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FCB670-F058-EEA1-698C-AB98D47D0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8516" y="3774934"/>
              <a:ext cx="485257" cy="111904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A84E0-0DB7-C83E-ACAC-7CB4D6EC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73773" y="4146923"/>
              <a:ext cx="883440" cy="299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9878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DFB1CE-CF69-1950-B676-C37F1DEACAB6}"/>
              </a:ext>
            </a:extLst>
          </p:cNvPr>
          <p:cNvGrpSpPr/>
          <p:nvPr/>
        </p:nvGrpSpPr>
        <p:grpSpPr>
          <a:xfrm>
            <a:off x="1066098" y="1266658"/>
            <a:ext cx="8021194" cy="3630806"/>
            <a:chOff x="1066098" y="1266658"/>
            <a:chExt cx="8021194" cy="36308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4356BA-EC7C-35F7-D5AC-B0B10132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098" y="1266658"/>
              <a:ext cx="8021194" cy="363080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A84E0-0DB7-C83E-ACAC-7CB4D6EC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5827" y="2480884"/>
              <a:ext cx="973734" cy="33027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2F2CAF5-3981-CBF1-D795-0B33EBA3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5827" y="1996244"/>
              <a:ext cx="973734" cy="330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823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A89065-C007-1F49-8E25-68BBFCD000FA}"/>
              </a:ext>
            </a:extLst>
          </p:cNvPr>
          <p:cNvGrpSpPr/>
          <p:nvPr/>
        </p:nvGrpSpPr>
        <p:grpSpPr>
          <a:xfrm>
            <a:off x="1323309" y="1458929"/>
            <a:ext cx="8024529" cy="3764000"/>
            <a:chOff x="1323309" y="1458929"/>
            <a:chExt cx="8024529" cy="3764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07793A6-60A1-160D-B85C-B5AFF0A90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3309" y="1458929"/>
              <a:ext cx="8024529" cy="3764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A84E0-0DB7-C83E-ACAC-7CB4D6EC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9067" y="2902394"/>
              <a:ext cx="973734" cy="33027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F754D0-DFD1-47CD-7809-7E3198845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9067" y="2418514"/>
              <a:ext cx="973734" cy="330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996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44D0B8-01D5-9D94-BFEB-FC54BC8CD3A1}"/>
              </a:ext>
            </a:extLst>
          </p:cNvPr>
          <p:cNvGrpSpPr/>
          <p:nvPr/>
        </p:nvGrpSpPr>
        <p:grpSpPr>
          <a:xfrm>
            <a:off x="674765" y="1370546"/>
            <a:ext cx="10842470" cy="3249617"/>
            <a:chOff x="674765" y="1370546"/>
            <a:chExt cx="10842470" cy="32496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8289F8-D371-5AA1-ACF2-1AF08A986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765" y="1370546"/>
              <a:ext cx="10842470" cy="324961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A84E0-0DB7-C83E-ACAC-7CB4D6EC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8803" y="1859170"/>
              <a:ext cx="973734" cy="330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9027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B08625-FEDD-559D-BBEC-AF6181D326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08750" y="1346393"/>
            <a:ext cx="10574499" cy="3489079"/>
            <a:chOff x="808750" y="1346393"/>
            <a:chExt cx="10574499" cy="348907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12177F-44C7-9226-10CC-BDCD91242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7178"/>
            <a:stretch/>
          </p:blipFill>
          <p:spPr>
            <a:xfrm>
              <a:off x="808750" y="1346393"/>
              <a:ext cx="10574499" cy="348907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C9ABD1-1BF7-95A2-A10A-33F067115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86653" y="2572351"/>
              <a:ext cx="1474702" cy="5001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209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B08625-FEDD-559D-BBEC-AF6181D32634}"/>
              </a:ext>
            </a:extLst>
          </p:cNvPr>
          <p:cNvGrpSpPr/>
          <p:nvPr/>
        </p:nvGrpSpPr>
        <p:grpSpPr>
          <a:xfrm>
            <a:off x="1281310" y="1181115"/>
            <a:ext cx="9629380" cy="4495770"/>
            <a:chOff x="1281427" y="3099661"/>
            <a:chExt cx="6018275" cy="265147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12177F-44C7-9226-10CC-BDCD91242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2822"/>
            <a:stretch/>
          </p:blipFill>
          <p:spPr>
            <a:xfrm>
              <a:off x="1281427" y="3099661"/>
              <a:ext cx="6018275" cy="265147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17B4FDA-B33A-0D70-FD50-331C9AB8A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95928" y="4683097"/>
              <a:ext cx="753121" cy="25544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B40AB0-9D96-E12C-BF22-A1F10F9C5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4003" y="5181397"/>
              <a:ext cx="753121" cy="2554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261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99AE1E4-EA04-6F15-0D27-DB996DBA53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99"/>
          <a:stretch/>
        </p:blipFill>
        <p:spPr>
          <a:xfrm>
            <a:off x="2122237" y="1930661"/>
            <a:ext cx="7947523" cy="3720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46331"/>
          </a:xfrm>
        </p:spPr>
        <p:txBody>
          <a:bodyPr>
            <a:noAutofit/>
          </a:bodyPr>
          <a:lstStyle/>
          <a:p>
            <a:r>
              <a:rPr lang="en-US" dirty="0"/>
              <a:t>Test it Out!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237640" y="646331"/>
            <a:ext cx="11954360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Run the 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Click upload to send the code to the Arduino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Adjust the Sensitivity of the IR Sensors and see how many tracks you can get 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05F5AB0-C677-6151-57F2-0A5B61AC4498}"/>
              </a:ext>
            </a:extLst>
          </p:cNvPr>
          <p:cNvSpPr/>
          <p:nvPr/>
        </p:nvSpPr>
        <p:spPr>
          <a:xfrm rot="18704022">
            <a:off x="1450202" y="2597230"/>
            <a:ext cx="1233231" cy="53194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DE71B-6F58-70B6-ACEF-EB566559D38E}"/>
              </a:ext>
            </a:extLst>
          </p:cNvPr>
          <p:cNvSpPr txBox="1"/>
          <p:nvPr/>
        </p:nvSpPr>
        <p:spPr>
          <a:xfrm rot="18686666">
            <a:off x="1473878" y="2763195"/>
            <a:ext cx="1007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Upload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EE9EB62-407B-F252-668D-A14E48D58493}"/>
              </a:ext>
            </a:extLst>
          </p:cNvPr>
          <p:cNvSpPr/>
          <p:nvPr/>
        </p:nvSpPr>
        <p:spPr>
          <a:xfrm rot="13747628">
            <a:off x="9612184" y="2899806"/>
            <a:ext cx="2025290" cy="53194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2530E-2CD0-AA91-AAE3-A856AE5A18BF}"/>
              </a:ext>
            </a:extLst>
          </p:cNvPr>
          <p:cNvSpPr txBox="1"/>
          <p:nvPr/>
        </p:nvSpPr>
        <p:spPr>
          <a:xfrm rot="2958921">
            <a:off x="9854830" y="3099016"/>
            <a:ext cx="1805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Serial Monitor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69E3C66-0EBC-B7D6-76D4-DEAEF2C734D0}"/>
              </a:ext>
            </a:extLst>
          </p:cNvPr>
          <p:cNvSpPr/>
          <p:nvPr/>
        </p:nvSpPr>
        <p:spPr>
          <a:xfrm rot="10800000">
            <a:off x="2675762" y="5080077"/>
            <a:ext cx="1649418" cy="53194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EAB94-38DE-34C5-BD6E-F5B846D02766}"/>
              </a:ext>
            </a:extLst>
          </p:cNvPr>
          <p:cNvSpPr txBox="1"/>
          <p:nvPr/>
        </p:nvSpPr>
        <p:spPr>
          <a:xfrm rot="11293">
            <a:off x="2894613" y="5145995"/>
            <a:ext cx="1805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Text Display</a:t>
            </a:r>
          </a:p>
        </p:txBody>
      </p:sp>
    </p:spTree>
    <p:extLst>
      <p:ext uri="{BB962C8B-B14F-4D97-AF65-F5344CB8AC3E}">
        <p14:creationId xmlns:p14="http://schemas.microsoft.com/office/powerpoint/2010/main" val="37525853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343</Words>
  <Application>Microsoft Office PowerPoint</Application>
  <PresentationFormat>Widescreen</PresentationFormat>
  <Paragraphs>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Custom Design</vt:lpstr>
      <vt:lpstr>IR Sensor Car</vt:lpstr>
      <vt:lpstr>Goals</vt:lpstr>
      <vt:lpstr>Introduction to Electromagnetic Waves and Infrared Sensors</vt:lpstr>
      <vt:lpstr>What is an Infrared Sensor?</vt:lpstr>
      <vt:lpstr>Components of the Infrared Sensor</vt:lpstr>
      <vt:lpstr>Circuit Diagram Motors</vt:lpstr>
      <vt:lpstr>Circuit Diagram IR Sensors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it Out!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Tripwire with Alarm Raspberry Pi with Python</dc:title>
  <dc:creator>Sully Fagan</dc:creator>
  <cp:lastModifiedBy>Matthew Pikal</cp:lastModifiedBy>
  <cp:revision>135</cp:revision>
  <dcterms:created xsi:type="dcterms:W3CDTF">2024-06-14T21:00:22Z</dcterms:created>
  <dcterms:modified xsi:type="dcterms:W3CDTF">2025-06-24T17:23:53Z</dcterms:modified>
</cp:coreProperties>
</file>