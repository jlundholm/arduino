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3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10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67B5-CD9D-E0F1-A8CB-801DAC887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17D25-156D-76EF-DD04-B2311FF0B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686BE-E87C-50EC-6274-93DB2FAF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1C61C-9561-E151-FEE3-36B153E5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23FE0-2949-7831-FEEE-D30EB96D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2611A-3CA6-A6FC-0FCB-8CF45AED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8A2D-7B98-E6ED-3DE1-9DD4F8771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ACD5F-3CFB-3097-D6BA-C11B135B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7AC6-D161-D241-5A4A-9ED9A8EA9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E225-B55E-0794-AFDA-77561F6FD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5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D32B-5558-B674-AEFD-312F2947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807CD-C8E3-4744-FE43-BDA82488F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AC9F7-012A-EF33-37F8-0F0CB8E8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DB729-059C-9C89-A19B-23369728E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8ECE7-CD61-9A0D-A4AD-0F9A0F146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71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9254D-BA15-7FB6-B38A-4842B8E2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CD769-DC1E-874E-9FB3-90E14CEA5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2C022-C81E-6725-40AE-596623C51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0E95-9D51-D69D-2BA7-CFC7715E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5A15B-7C18-5239-34A4-707B2141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4BFD5-2363-F526-C402-95452503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0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4143E-94D1-2C6C-71D1-7892BF9C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DB3FC-63E8-961B-AF52-22518A3C1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C2836-182F-2B5C-86F9-C73D48E4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EB2BA-F0EB-A7E6-3E9D-DBFD987F0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54897-AA13-FC34-7D37-0F24BDE01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7317D-7DD7-455D-C402-7C287B3E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FE858-B2E6-E828-13B2-248B9B54E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7EB187-C830-5A44-A71E-89228294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4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6FDA-161F-BDBA-1A71-545121DA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BA090-3E7E-92D7-6F25-40155095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6890B-406B-2756-CA24-6C834E513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CE76A-0FEB-3B2A-2C9F-35CA0677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4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9E0D4-26B5-D352-D88D-C757D2EE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6E3B2-0783-6FE9-6E31-A7FD2FB8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C0B52-74F8-2F30-7AAF-CBC97C18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2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9CB2-2B9E-DD78-D5C5-0A0856B3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89AC6-CE17-C02F-0851-9C78535D3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802D4E-BD3D-1B28-7B2D-2B35601A6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1F58B-4AA9-A37E-35F8-DF5D180B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7FBC8-F850-FD17-A442-4D54E6C5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8383-CFD8-C5D2-A98C-57651D8B5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75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D275-E1FB-D927-773B-1FE7B92D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FA6B1-B80E-B694-48FE-51ACDA579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329B7-1667-61F9-3345-E7B10359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D2CD7-1144-8880-B689-B962B79A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27FED-1091-B01A-4033-99BD1490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78C9F-0BB8-337F-F02A-7CF1DB2C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70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8ED1-C4E1-9A0E-7269-5C22EDE5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4E951-8C8B-E015-B92A-4B4EA49CF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01ABA-FE5A-7958-5E64-4DEAAB3C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08A9C-F630-8C1A-F326-A8FA7343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0A937-A714-AF06-E19D-0EF09E8E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8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CDF5A-6FEE-C8C6-C03D-AAF03B515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A314F-560F-8A09-5DC7-950546D74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4F42C-62E0-0EC8-67EC-62F80A7A8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D528B-9D7E-C103-EC0C-6CC00023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8443F-7DFA-8FF4-640A-5F657981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8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191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8586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605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441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035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65640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031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7667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896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90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50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BB6C3-17D8-E1ED-4360-5B9CAA7A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60B21-8ECD-F78F-0E6B-D1DAA6DE9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B57F-DEB3-D61D-0858-3DE77DA24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9F67E-76FB-44FF-8145-A9F6CB8E70E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727C8-100E-5326-0052-D354E0DC0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2C5BF-603F-77F4-BB08-54D559679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C48D5-575B-4831-8185-32A106A03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8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3B16F7-518A-4C11-804A-5E47CEC998E7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6/23/2025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C882B-02F8-46DE-BE2B-E80A352F5B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BrandBar_New_flag_only.pn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1020" y="5666008"/>
            <a:ext cx="13280983" cy="15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4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5.sv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507" y="3721029"/>
            <a:ext cx="10363200" cy="1135288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rgbClr val="69381E"/>
                </a:solidFill>
              </a:rPr>
              <a:t> </a:t>
            </a:r>
            <a:r>
              <a:rPr lang="en-US" sz="8000" b="1" dirty="0">
                <a:solidFill>
                  <a:srgbClr val="69381E"/>
                </a:solidFill>
              </a:rPr>
              <a:t>Laser Blaster</a:t>
            </a:r>
            <a:br>
              <a:rPr lang="en-US" sz="7200" b="1" dirty="0">
                <a:solidFill>
                  <a:srgbClr val="69381E"/>
                </a:solidFill>
              </a:rPr>
            </a:br>
            <a:r>
              <a:rPr lang="en-US" sz="3100" b="1" dirty="0">
                <a:solidFill>
                  <a:srgbClr val="69381E"/>
                </a:solidFill>
              </a:rPr>
              <a:t>Arduino with C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9181" y="6479816"/>
            <a:ext cx="8496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ELECTRICAL ENGINEERING AND COMPUTER SCIENCE, COLLEGE OF ENGINEERING AND PHYSICAL SCIENCES</a:t>
            </a:r>
          </a:p>
        </p:txBody>
      </p:sp>
      <p:pic>
        <p:nvPicPr>
          <p:cNvPr id="5" name="Picture 4" descr="A brown and white logo&#10;&#10;Description automatically generated">
            <a:extLst>
              <a:ext uri="{FF2B5EF4-FFF2-40B4-BE49-F238E27FC236}">
                <a16:creationId xmlns:a16="http://schemas.microsoft.com/office/drawing/2014/main" id="{3657B848-9185-CF14-1F4E-85140D679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900" y="949472"/>
            <a:ext cx="5630200" cy="2003590"/>
          </a:xfrm>
          <a:prstGeom prst="rect">
            <a:avLst/>
          </a:prstGeom>
        </p:spPr>
      </p:pic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6ACD1D56-545A-F717-1BEC-BB7F7FB6E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17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B8890-B2F7-1B8D-D1A7-AAB3A2B0E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E122-B806-A0A2-2E68-AE407B2E3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In this project, an ultrasonic distance sensor is used to detect a “target” (i.e., a person, a cat, a burglar, etc.).  The Arduino illuminates (blasts) the target using an inexpensive laser diode mounted on a servo motor. Interesting applications of applied math include computing distance based on sonic travel time, computing an angle using the arc tangent, and filtering out noisy measurements using a running average.</a:t>
            </a:r>
          </a:p>
          <a:p>
            <a:r>
              <a:rPr lang="en-US" dirty="0"/>
              <a:t>Our code will be based on a laser pointer motion detector program by Vernier.</a:t>
            </a:r>
            <a:endParaRPr lang="en-US" sz="3200" dirty="0"/>
          </a:p>
        </p:txBody>
      </p: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BD0AE9BC-55CC-ABB3-089A-E9F6866B4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5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F667B-1E43-2818-35FA-AC2ED1D7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Math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EF63325-B069-3839-0422-A8D0A398F503}"/>
              </a:ext>
            </a:extLst>
          </p:cNvPr>
          <p:cNvGrpSpPr/>
          <p:nvPr/>
        </p:nvGrpSpPr>
        <p:grpSpPr>
          <a:xfrm>
            <a:off x="2144565" y="1681108"/>
            <a:ext cx="7902869" cy="3885640"/>
            <a:chOff x="951794" y="1651128"/>
            <a:chExt cx="7902869" cy="3885640"/>
          </a:xfrm>
        </p:grpSpPr>
        <p:pic>
          <p:nvPicPr>
            <p:cNvPr id="5" name="Graphic 4" descr="Man">
              <a:extLst>
                <a:ext uri="{FF2B5EF4-FFF2-40B4-BE49-F238E27FC236}">
                  <a16:creationId xmlns:a16="http://schemas.microsoft.com/office/drawing/2014/main" id="{3E6E1E0F-D76F-C322-FA48-A23111F71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1794" y="1651128"/>
              <a:ext cx="914400" cy="914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635DA3D-810F-50BE-6863-235A76D0A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 flipV="1">
              <a:off x="5604128" y="1418674"/>
              <a:ext cx="1186319" cy="16512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CD20C50-B810-60C1-F46C-7E421A4DD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709907">
              <a:off x="6360809" y="4730940"/>
              <a:ext cx="762507" cy="548404"/>
            </a:xfrm>
            <a:prstGeom prst="rect">
              <a:avLst/>
            </a:prstGeom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FD4B88E-B2CB-D1AF-A0A8-C46417E44DEF}"/>
                </a:ext>
              </a:extLst>
            </p:cNvPr>
            <p:cNvSpPr/>
            <p:nvPr/>
          </p:nvSpPr>
          <p:spPr>
            <a:xfrm>
              <a:off x="1660870" y="2108328"/>
              <a:ext cx="4951379" cy="0"/>
            </a:xfrm>
            <a:custGeom>
              <a:avLst/>
              <a:gdLst>
                <a:gd name="connsiteX0" fmla="*/ 0 w 4951379"/>
                <a:gd name="connsiteY0" fmla="*/ 0 h 0"/>
                <a:gd name="connsiteX1" fmla="*/ 4951379 w 4951379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51379">
                  <a:moveTo>
                    <a:pt x="0" y="0"/>
                  </a:moveTo>
                  <a:lnTo>
                    <a:pt x="4951379" y="0"/>
                  </a:lnTo>
                </a:path>
              </a:pathLst>
            </a:custGeom>
            <a:noFill/>
            <a:ln>
              <a:prstDash val="lg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4FEA5F-7B39-6498-15E1-164D9D5CDE8C}"/>
                </a:ext>
              </a:extLst>
            </p:cNvPr>
            <p:cNvSpPr txBox="1"/>
            <p:nvPr/>
          </p:nvSpPr>
          <p:spPr>
            <a:xfrm>
              <a:off x="3062658" y="1748724"/>
              <a:ext cx="21058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Distance (measured)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7D888F-243A-17D9-152F-7504817DD931}"/>
                </a:ext>
              </a:extLst>
            </p:cNvPr>
            <p:cNvSpPr/>
            <p:nvPr/>
          </p:nvSpPr>
          <p:spPr>
            <a:xfrm>
              <a:off x="6553883" y="2409885"/>
              <a:ext cx="0" cy="2227634"/>
            </a:xfrm>
            <a:custGeom>
              <a:avLst/>
              <a:gdLst>
                <a:gd name="connsiteX0" fmla="*/ 0 w 0"/>
                <a:gd name="connsiteY0" fmla="*/ 0 h 2227634"/>
                <a:gd name="connsiteX1" fmla="*/ 0 w 0"/>
                <a:gd name="connsiteY1" fmla="*/ 2227634 h 2227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227634">
                  <a:moveTo>
                    <a:pt x="0" y="0"/>
                  </a:moveTo>
                  <a:lnTo>
                    <a:pt x="0" y="2227634"/>
                  </a:lnTo>
                </a:path>
              </a:pathLst>
            </a:custGeom>
            <a:noFill/>
            <a:ln>
              <a:prstDash val="lg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A51F7A-9AE6-9F47-4907-75AF928167A8}"/>
                </a:ext>
              </a:extLst>
            </p:cNvPr>
            <p:cNvSpPr txBox="1"/>
            <p:nvPr/>
          </p:nvSpPr>
          <p:spPr>
            <a:xfrm>
              <a:off x="6553883" y="3280553"/>
              <a:ext cx="16470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Range (known) 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3AA7F3-1E1C-8BE0-849C-9AC5F14C9780}"/>
                </a:ext>
              </a:extLst>
            </p:cNvPr>
            <p:cNvSpPr/>
            <p:nvPr/>
          </p:nvSpPr>
          <p:spPr>
            <a:xfrm>
              <a:off x="1690053" y="2254242"/>
              <a:ext cx="4659549" cy="2500009"/>
            </a:xfrm>
            <a:custGeom>
              <a:avLst/>
              <a:gdLst>
                <a:gd name="connsiteX0" fmla="*/ 4659549 w 4659549"/>
                <a:gd name="connsiteY0" fmla="*/ 2500009 h 2500009"/>
                <a:gd name="connsiteX1" fmla="*/ 0 w 4659549"/>
                <a:gd name="connsiteY1" fmla="*/ 0 h 250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659549" h="2500009">
                  <a:moveTo>
                    <a:pt x="4659549" y="2500009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D206A6D-7C00-8958-EC17-0B4C02E62887}"/>
                </a:ext>
              </a:extLst>
            </p:cNvPr>
            <p:cNvSpPr/>
            <p:nvPr/>
          </p:nvSpPr>
          <p:spPr>
            <a:xfrm>
              <a:off x="5892402" y="4092251"/>
              <a:ext cx="632298" cy="370170"/>
            </a:xfrm>
            <a:custGeom>
              <a:avLst/>
              <a:gdLst>
                <a:gd name="connsiteX0" fmla="*/ 0 w 632298"/>
                <a:gd name="connsiteY0" fmla="*/ 370170 h 370170"/>
                <a:gd name="connsiteX1" fmla="*/ 252919 w 632298"/>
                <a:gd name="connsiteY1" fmla="*/ 58885 h 370170"/>
                <a:gd name="connsiteX2" fmla="*/ 632298 w 632298"/>
                <a:gd name="connsiteY2" fmla="*/ 519 h 370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298" h="370170">
                  <a:moveTo>
                    <a:pt x="0" y="370170"/>
                  </a:moveTo>
                  <a:cubicBezTo>
                    <a:pt x="73768" y="245332"/>
                    <a:pt x="147536" y="120494"/>
                    <a:pt x="252919" y="58885"/>
                  </a:cubicBezTo>
                  <a:cubicBezTo>
                    <a:pt x="358302" y="-2724"/>
                    <a:pt x="495300" y="-1103"/>
                    <a:pt x="632298" y="519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1278EA2-000E-610E-079D-FE117F078260}"/>
                </a:ext>
              </a:extLst>
            </p:cNvPr>
            <p:cNvSpPr txBox="1"/>
            <p:nvPr/>
          </p:nvSpPr>
          <p:spPr>
            <a:xfrm>
              <a:off x="5905111" y="3783213"/>
              <a:ext cx="344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  <a:sym typeface="Symbol" panose="05050102010706020507" pitchFamily="18" charset="2"/>
                </a:rPr>
                <a:t></a:t>
              </a:r>
              <a:endParaRPr lang="en-US" sz="2400" dirty="0">
                <a:solidFill>
                  <a:srgbClr val="0070C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F163C73-4861-821A-8BA8-8F9A32CE0E21}"/>
                    </a:ext>
                  </a:extLst>
                </p:cNvPr>
                <p:cNvSpPr txBox="1"/>
                <p:nvPr/>
              </p:nvSpPr>
              <p:spPr>
                <a:xfrm>
                  <a:off x="1051301" y="4244878"/>
                  <a:ext cx="2525948" cy="7146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𝐷𝑖𝑠𝑡𝑎𝑛𝑐𝑒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𝑅𝑎𝑛𝑔𝑒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F163C73-4861-821A-8BA8-8F9A32CE0E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301" y="4244878"/>
                  <a:ext cx="2525948" cy="71468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E12AF29-91CD-E85D-7793-1C53E79D422D}"/>
                </a:ext>
              </a:extLst>
            </p:cNvPr>
            <p:cNvSpPr txBox="1"/>
            <p:nvPr/>
          </p:nvSpPr>
          <p:spPr>
            <a:xfrm>
              <a:off x="4896352" y="4890437"/>
              <a:ext cx="16805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Servo-Mounted Laser Diode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C245AE-B1A3-C642-CE50-1F4088D47B9F}"/>
                </a:ext>
              </a:extLst>
            </p:cNvPr>
            <p:cNvSpPr txBox="1"/>
            <p:nvPr/>
          </p:nvSpPr>
          <p:spPr>
            <a:xfrm>
              <a:off x="7227183" y="1914118"/>
              <a:ext cx="16274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Ultra-sonic Distance Sensor</a:t>
              </a:r>
            </a:p>
          </p:txBody>
        </p:sp>
      </p:grp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693B21D9-B7C8-3723-6022-F0D08CFE94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73567C-5C83-2412-B406-559DFBDB96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3872" y="1748343"/>
            <a:ext cx="1578528" cy="175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2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AA3A-349F-A89A-20D2-F6F6999D9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Ultrasonic Distance Sensor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B8B797-9B44-C991-F8FA-8DD168AE65B0}"/>
              </a:ext>
            </a:extLst>
          </p:cNvPr>
          <p:cNvGrpSpPr/>
          <p:nvPr/>
        </p:nvGrpSpPr>
        <p:grpSpPr>
          <a:xfrm>
            <a:off x="2718717" y="1417638"/>
            <a:ext cx="6754566" cy="4272279"/>
            <a:chOff x="737870" y="1127760"/>
            <a:chExt cx="8340171" cy="4744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4E9E2C-8E9F-6A76-1232-35DF5807A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870" y="2905760"/>
              <a:ext cx="1289050" cy="128905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1AF529A-2C1B-0043-EF02-3048EE30B93B}"/>
                </a:ext>
              </a:extLst>
            </p:cNvPr>
            <p:cNvSpPr/>
            <p:nvPr/>
          </p:nvSpPr>
          <p:spPr>
            <a:xfrm>
              <a:off x="3068320" y="1940560"/>
              <a:ext cx="34544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1749B65-6CD4-C842-AE65-7824E9528165}"/>
                </a:ext>
              </a:extLst>
            </p:cNvPr>
            <p:cNvSpPr/>
            <p:nvPr/>
          </p:nvSpPr>
          <p:spPr>
            <a:xfrm>
              <a:off x="3134360" y="1971040"/>
              <a:ext cx="213360" cy="213360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95A941-F309-E540-80B7-4F5AEE99CB61}"/>
                </a:ext>
              </a:extLst>
            </p:cNvPr>
            <p:cNvSpPr/>
            <p:nvPr/>
          </p:nvSpPr>
          <p:spPr>
            <a:xfrm>
              <a:off x="3134360" y="2230120"/>
              <a:ext cx="213360" cy="213360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3A2C3F4-3C10-61A4-CFFF-597FCF818C78}"/>
                </a:ext>
              </a:extLst>
            </p:cNvPr>
            <p:cNvSpPr/>
            <p:nvPr/>
          </p:nvSpPr>
          <p:spPr>
            <a:xfrm>
              <a:off x="6014720" y="1483360"/>
              <a:ext cx="101600" cy="1351280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A5CC24B0-CF5D-A69D-C312-E87D2D77C393}"/>
                </a:ext>
              </a:extLst>
            </p:cNvPr>
            <p:cNvSpPr/>
            <p:nvPr/>
          </p:nvSpPr>
          <p:spPr>
            <a:xfrm rot="16200000">
              <a:off x="4325779" y="1018699"/>
              <a:ext cx="726440" cy="2387282"/>
            </a:xfrm>
            <a:prstGeom prst="triangl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54A8E0-DF54-3F9D-65E7-947BAD3CC184}"/>
                </a:ext>
              </a:extLst>
            </p:cNvPr>
            <p:cNvSpPr/>
            <p:nvPr/>
          </p:nvSpPr>
          <p:spPr>
            <a:xfrm>
              <a:off x="3068320" y="3332163"/>
              <a:ext cx="34544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856E69-DEE3-48E0-6B30-581C93B86F2E}"/>
                </a:ext>
              </a:extLst>
            </p:cNvPr>
            <p:cNvSpPr/>
            <p:nvPr/>
          </p:nvSpPr>
          <p:spPr>
            <a:xfrm>
              <a:off x="3134360" y="3362643"/>
              <a:ext cx="213360" cy="213360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80A6ADB-E880-0F9B-2160-B427CF7FC0FE}"/>
                </a:ext>
              </a:extLst>
            </p:cNvPr>
            <p:cNvSpPr/>
            <p:nvPr/>
          </p:nvSpPr>
          <p:spPr>
            <a:xfrm>
              <a:off x="3134360" y="3621723"/>
              <a:ext cx="213360" cy="213360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30A194-23FE-37BB-AB74-1F85FE95AE08}"/>
                </a:ext>
              </a:extLst>
            </p:cNvPr>
            <p:cNvSpPr/>
            <p:nvPr/>
          </p:nvSpPr>
          <p:spPr>
            <a:xfrm rot="902727">
              <a:off x="6014720" y="3189923"/>
              <a:ext cx="101600" cy="1351280"/>
            </a:xfrm>
            <a:prstGeom prst="rect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3F35CBA-D4F4-0363-B807-0BFC2F3BB409}"/>
                </a:ext>
              </a:extLst>
            </p:cNvPr>
            <p:cNvSpPr/>
            <p:nvPr/>
          </p:nvSpPr>
          <p:spPr>
            <a:xfrm>
              <a:off x="3423920" y="3180080"/>
              <a:ext cx="2631440" cy="568960"/>
            </a:xfrm>
            <a:custGeom>
              <a:avLst/>
              <a:gdLst>
                <a:gd name="connsiteX0" fmla="*/ 0 w 2631440"/>
                <a:gd name="connsiteY0" fmla="*/ 568960 h 568960"/>
                <a:gd name="connsiteX1" fmla="*/ 2631440 w 2631440"/>
                <a:gd name="connsiteY1" fmla="*/ 568960 h 568960"/>
                <a:gd name="connsiteX2" fmla="*/ 1137920 w 2631440"/>
                <a:gd name="connsiteY2" fmla="*/ 0 h 56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31440" h="568960">
                  <a:moveTo>
                    <a:pt x="0" y="568960"/>
                  </a:moveTo>
                  <a:lnTo>
                    <a:pt x="2631440" y="568960"/>
                  </a:lnTo>
                  <a:lnTo>
                    <a:pt x="1137920" y="0"/>
                  </a:lnTo>
                </a:path>
              </a:pathLst>
            </a:custGeom>
            <a:noFill/>
            <a:ln w="1905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E75E0F2-EA7D-1D6B-E876-CE117FF8C417}"/>
                </a:ext>
              </a:extLst>
            </p:cNvPr>
            <p:cNvSpPr/>
            <p:nvPr/>
          </p:nvSpPr>
          <p:spPr>
            <a:xfrm>
              <a:off x="3068320" y="4972686"/>
              <a:ext cx="34544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F9AA2C-7BD7-7F37-069F-7BD17C0F9520}"/>
                </a:ext>
              </a:extLst>
            </p:cNvPr>
            <p:cNvSpPr/>
            <p:nvPr/>
          </p:nvSpPr>
          <p:spPr>
            <a:xfrm>
              <a:off x="3134360" y="5003166"/>
              <a:ext cx="213360" cy="213360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D1FABEF-2BB8-B25C-B3BC-3624F627A70A}"/>
                </a:ext>
              </a:extLst>
            </p:cNvPr>
            <p:cNvSpPr/>
            <p:nvPr/>
          </p:nvSpPr>
          <p:spPr>
            <a:xfrm>
              <a:off x="3134360" y="5262246"/>
              <a:ext cx="213360" cy="213360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loud 18">
              <a:extLst>
                <a:ext uri="{FF2B5EF4-FFF2-40B4-BE49-F238E27FC236}">
                  <a16:creationId xmlns:a16="http://schemas.microsoft.com/office/drawing/2014/main" id="{102E0175-3699-0259-C376-CC553083B9A6}"/>
                </a:ext>
              </a:extLst>
            </p:cNvPr>
            <p:cNvSpPr/>
            <p:nvPr/>
          </p:nvSpPr>
          <p:spPr>
            <a:xfrm>
              <a:off x="6116320" y="4647883"/>
              <a:ext cx="782320" cy="1224597"/>
            </a:xfrm>
            <a:prstGeom prst="clou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DF82574F-1E7E-F279-D229-0DAA7ECAB24A}"/>
                </a:ext>
              </a:extLst>
            </p:cNvPr>
            <p:cNvSpPr/>
            <p:nvPr/>
          </p:nvSpPr>
          <p:spPr>
            <a:xfrm>
              <a:off x="3444240" y="5323840"/>
              <a:ext cx="2631440" cy="0"/>
            </a:xfrm>
            <a:custGeom>
              <a:avLst/>
              <a:gdLst>
                <a:gd name="connsiteX0" fmla="*/ 0 w 2631440"/>
                <a:gd name="connsiteY0" fmla="*/ 0 h 0"/>
                <a:gd name="connsiteX1" fmla="*/ 2631440 w 263144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31440">
                  <a:moveTo>
                    <a:pt x="0" y="0"/>
                  </a:moveTo>
                  <a:lnTo>
                    <a:pt x="2631440" y="0"/>
                  </a:lnTo>
                </a:path>
              </a:pathLst>
            </a:custGeom>
            <a:noFill/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686968D5-6CF7-9C49-C563-F86BD9607CE0}"/>
                </a:ext>
              </a:extLst>
            </p:cNvPr>
            <p:cNvSpPr/>
            <p:nvPr/>
          </p:nvSpPr>
          <p:spPr>
            <a:xfrm>
              <a:off x="5212080" y="5120640"/>
              <a:ext cx="833120" cy="0"/>
            </a:xfrm>
            <a:custGeom>
              <a:avLst/>
              <a:gdLst>
                <a:gd name="connsiteX0" fmla="*/ 833120 w 833120"/>
                <a:gd name="connsiteY0" fmla="*/ 0 h 0"/>
                <a:gd name="connsiteX1" fmla="*/ 0 w 83312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33120">
                  <a:moveTo>
                    <a:pt x="833120" y="0"/>
                  </a:moveTo>
                  <a:lnTo>
                    <a:pt x="0" y="0"/>
                  </a:lnTo>
                </a:path>
              </a:pathLst>
            </a:custGeom>
            <a:noFill/>
            <a:ln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D8CB4A6-166A-5833-859C-DFD27ED488BC}"/>
                </a:ext>
              </a:extLst>
            </p:cNvPr>
            <p:cNvSpPr txBox="1"/>
            <p:nvPr/>
          </p:nvSpPr>
          <p:spPr>
            <a:xfrm>
              <a:off x="6502400" y="1971040"/>
              <a:ext cx="21180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beam is narrow!</a:t>
              </a:r>
            </a:p>
            <a:p>
              <a:r>
                <a:rPr lang="en-US" dirty="0"/>
                <a:t>About 30</a:t>
              </a:r>
              <a:r>
                <a:rPr lang="en-US" dirty="0">
                  <a:sym typeface="Symbol" panose="05050102010706020507" pitchFamily="18" charset="2"/>
                </a:rPr>
                <a:t>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64BA470-938F-5BE9-BEA4-28DA507A6BC2}"/>
                </a:ext>
              </a:extLst>
            </p:cNvPr>
            <p:cNvSpPr txBox="1"/>
            <p:nvPr/>
          </p:nvSpPr>
          <p:spPr>
            <a:xfrm>
              <a:off x="6502400" y="3515043"/>
              <a:ext cx="2575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The target can’t be tilted!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9A19307-CC91-D4DD-8277-457EB9FBA404}"/>
                </a:ext>
              </a:extLst>
            </p:cNvPr>
            <p:cNvSpPr txBox="1"/>
            <p:nvPr/>
          </p:nvSpPr>
          <p:spPr>
            <a:xfrm>
              <a:off x="7015399" y="4914980"/>
              <a:ext cx="17222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Soft targets – not so good</a:t>
              </a: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D78F936D-03BA-75EA-9732-641F6EC65202}"/>
                </a:ext>
              </a:extLst>
            </p:cNvPr>
            <p:cNvSpPr/>
            <p:nvPr/>
          </p:nvSpPr>
          <p:spPr>
            <a:xfrm>
              <a:off x="3484880" y="2357120"/>
              <a:ext cx="2458720" cy="0"/>
            </a:xfrm>
            <a:custGeom>
              <a:avLst/>
              <a:gdLst>
                <a:gd name="connsiteX0" fmla="*/ 0 w 2458720"/>
                <a:gd name="connsiteY0" fmla="*/ 0 h 0"/>
                <a:gd name="connsiteX1" fmla="*/ 2458720 w 245872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58720">
                  <a:moveTo>
                    <a:pt x="0" y="0"/>
                  </a:moveTo>
                  <a:lnTo>
                    <a:pt x="2458720" y="0"/>
                  </a:lnTo>
                </a:path>
              </a:pathLst>
            </a:custGeom>
            <a:noFill/>
            <a:ln w="19050"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7B53146A-4B9A-779D-76E3-C35D14C4085F}"/>
                </a:ext>
              </a:extLst>
            </p:cNvPr>
            <p:cNvSpPr/>
            <p:nvPr/>
          </p:nvSpPr>
          <p:spPr>
            <a:xfrm>
              <a:off x="3484880" y="2123440"/>
              <a:ext cx="2458720" cy="0"/>
            </a:xfrm>
            <a:custGeom>
              <a:avLst/>
              <a:gdLst>
                <a:gd name="connsiteX0" fmla="*/ 0 w 2458720"/>
                <a:gd name="connsiteY0" fmla="*/ 0 h 0"/>
                <a:gd name="connsiteX1" fmla="*/ 2458720 w 245872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58720">
                  <a:moveTo>
                    <a:pt x="0" y="0"/>
                  </a:moveTo>
                  <a:lnTo>
                    <a:pt x="2458720" y="0"/>
                  </a:lnTo>
                </a:path>
              </a:pathLst>
            </a:custGeom>
            <a:noFill/>
            <a:ln w="19050">
              <a:prstDash val="sys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6A0068-1D5A-D307-639B-D76BCFAAC07B}"/>
                </a:ext>
              </a:extLst>
            </p:cNvPr>
            <p:cNvSpPr txBox="1"/>
            <p:nvPr/>
          </p:nvSpPr>
          <p:spPr>
            <a:xfrm>
              <a:off x="5699760" y="1127760"/>
              <a:ext cx="744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target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E4CFDD9-FA75-1135-9082-C507A37D7932}"/>
                </a:ext>
              </a:extLst>
            </p:cNvPr>
            <p:cNvSpPr txBox="1"/>
            <p:nvPr/>
          </p:nvSpPr>
          <p:spPr>
            <a:xfrm>
              <a:off x="1910080" y="1889760"/>
              <a:ext cx="9943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Receive</a:t>
              </a:r>
            </a:p>
            <a:p>
              <a:r>
                <a:rPr lang="en-US" dirty="0"/>
                <a:t>Transmit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82FB02D-6125-3674-0A17-37F811AF468D}"/>
                </a:ext>
              </a:extLst>
            </p:cNvPr>
            <p:cNvSpPr txBox="1"/>
            <p:nvPr/>
          </p:nvSpPr>
          <p:spPr>
            <a:xfrm>
              <a:off x="888509" y="3896043"/>
              <a:ext cx="9877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HC-SR04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FD6843-394F-FA3E-0664-CB23BCBE5A07}"/>
                </a:ext>
              </a:extLst>
            </p:cNvPr>
            <p:cNvSpPr txBox="1"/>
            <p:nvPr/>
          </p:nvSpPr>
          <p:spPr>
            <a:xfrm>
              <a:off x="3604268" y="4907258"/>
              <a:ext cx="1607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Little reflection</a:t>
              </a:r>
            </a:p>
          </p:txBody>
        </p:sp>
      </p:grpSp>
      <p:pic>
        <p:nvPicPr>
          <p:cNvPr id="3" name="Picture 2" descr="A blue and white symbol&#10;&#10;Description automatically generated">
            <a:extLst>
              <a:ext uri="{FF2B5EF4-FFF2-40B4-BE49-F238E27FC236}">
                <a16:creationId xmlns:a16="http://schemas.microsoft.com/office/drawing/2014/main" id="{4C49B323-46F7-FBC9-9D94-BB57BCD3F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7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and white symbol&#10;&#10;Description automatically generated">
            <a:extLst>
              <a:ext uri="{FF2B5EF4-FFF2-40B4-BE49-F238E27FC236}">
                <a16:creationId xmlns:a16="http://schemas.microsoft.com/office/drawing/2014/main" id="{D5991836-E54A-3FAA-DEE5-A0832923B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CFEC19-D532-6CAC-A9D1-FF2EB7F4B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28EDB2-C824-7B2F-B22D-07D9C41E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488" y="1239113"/>
            <a:ext cx="4985288" cy="461880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FB7F33-51F6-D8ED-22D6-17A0A6A075D9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284812" y="1239113"/>
            <a:ext cx="5635991" cy="4429997"/>
            <a:chOff x="942374" y="765258"/>
            <a:chExt cx="6976164" cy="472417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3D5539D-C62B-EF43-8D83-FF5C2791E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2374" y="765258"/>
              <a:ext cx="6976164" cy="2427705"/>
            </a:xfrm>
            <a:prstGeom prst="rect">
              <a:avLst/>
            </a:prstGeom>
          </p:spPr>
        </p:pic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22E8A150-6EDB-0052-5AB4-ABB52124DFFA}"/>
                </a:ext>
              </a:extLst>
            </p:cNvPr>
            <p:cNvSpPr/>
            <p:nvPr/>
          </p:nvSpPr>
          <p:spPr>
            <a:xfrm rot="20293351">
              <a:off x="1950652" y="4650192"/>
              <a:ext cx="2064758" cy="839244"/>
            </a:xfrm>
            <a:prstGeom prst="roundRect">
              <a:avLst/>
            </a:prstGeom>
            <a:noFill/>
            <a:ln w="381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00B050"/>
                  </a:solidFill>
                </a:rPr>
                <a:t>OBJECT</a:t>
              </a:r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FB70ACC1-A2FE-3FEA-DCC6-849270BA5289}"/>
                </a:ext>
              </a:extLst>
            </p:cNvPr>
            <p:cNvSpPr/>
            <p:nvPr/>
          </p:nvSpPr>
          <p:spPr>
            <a:xfrm>
              <a:off x="1979112" y="2705622"/>
              <a:ext cx="939452" cy="1903956"/>
            </a:xfrm>
            <a:custGeom>
              <a:avLst/>
              <a:gdLst>
                <a:gd name="connsiteX0" fmla="*/ 0 w 939452"/>
                <a:gd name="connsiteY0" fmla="*/ 150312 h 1903956"/>
                <a:gd name="connsiteX1" fmla="*/ 939452 w 939452"/>
                <a:gd name="connsiteY1" fmla="*/ 1903956 h 1903956"/>
                <a:gd name="connsiteX2" fmla="*/ 400833 w 939452"/>
                <a:gd name="connsiteY2" fmla="*/ 0 h 190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9452" h="1903956">
                  <a:moveTo>
                    <a:pt x="0" y="150312"/>
                  </a:moveTo>
                  <a:lnTo>
                    <a:pt x="939452" y="1903956"/>
                  </a:lnTo>
                  <a:lnTo>
                    <a:pt x="400833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Down Arrow 4">
              <a:extLst>
                <a:ext uri="{FF2B5EF4-FFF2-40B4-BE49-F238E27FC236}">
                  <a16:creationId xmlns:a16="http://schemas.microsoft.com/office/drawing/2014/main" id="{372DA924-C290-A6FC-5E63-0F71A3E3191F}"/>
                </a:ext>
              </a:extLst>
            </p:cNvPr>
            <p:cNvSpPr/>
            <p:nvPr/>
          </p:nvSpPr>
          <p:spPr>
            <a:xfrm rot="2444379">
              <a:off x="5210787" y="1017517"/>
              <a:ext cx="183682" cy="3698380"/>
            </a:xfrm>
            <a:prstGeom prst="downArrow">
              <a:avLst/>
            </a:prstGeom>
            <a:solidFill>
              <a:srgbClr val="FF0066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87A7E2-740A-2F59-B9EE-BF5CED4D6843}"/>
                </a:ext>
              </a:extLst>
            </p:cNvPr>
            <p:cNvSpPr txBox="1"/>
            <p:nvPr/>
          </p:nvSpPr>
          <p:spPr>
            <a:xfrm rot="18738998">
              <a:off x="5263086" y="2205653"/>
              <a:ext cx="16257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Laser Beam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F02CD0-9867-0102-08FF-93006EA4ADE7}"/>
                </a:ext>
              </a:extLst>
            </p:cNvPr>
            <p:cNvSpPr txBox="1"/>
            <p:nvPr/>
          </p:nvSpPr>
          <p:spPr>
            <a:xfrm rot="4030191">
              <a:off x="1287096" y="3736176"/>
              <a:ext cx="10779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Distance</a:t>
              </a: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95822D3-D0AB-5149-CF97-A021B2F05CEE}"/>
                </a:ext>
              </a:extLst>
            </p:cNvPr>
            <p:cNvSpPr/>
            <p:nvPr/>
          </p:nvSpPr>
          <p:spPr>
            <a:xfrm>
              <a:off x="3081403" y="1603332"/>
              <a:ext cx="3118981" cy="626301"/>
            </a:xfrm>
            <a:custGeom>
              <a:avLst/>
              <a:gdLst>
                <a:gd name="connsiteX0" fmla="*/ 0 w 3118981"/>
                <a:gd name="connsiteY0" fmla="*/ 626301 h 626301"/>
                <a:gd name="connsiteX1" fmla="*/ 3118981 w 3118981"/>
                <a:gd name="connsiteY1" fmla="*/ 0 h 62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18981" h="626301">
                  <a:moveTo>
                    <a:pt x="0" y="626301"/>
                  </a:moveTo>
                  <a:lnTo>
                    <a:pt x="3118981" y="0"/>
                  </a:ln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8D4F3D-8C3F-1CA0-BD3D-30A2B63AF53A}"/>
                </a:ext>
              </a:extLst>
            </p:cNvPr>
            <p:cNvSpPr txBox="1"/>
            <p:nvPr/>
          </p:nvSpPr>
          <p:spPr>
            <a:xfrm rot="19488527">
              <a:off x="4059284" y="2248031"/>
              <a:ext cx="12795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FFFF00"/>
                  </a:solidFill>
                  <a:sym typeface="Symbol" panose="05050102010706020507" pitchFamily="18" charset="2"/>
                </a:rPr>
                <a:t>Angle </a:t>
              </a:r>
              <a:endParaRPr lang="en-US" sz="2800" dirty="0">
                <a:solidFill>
                  <a:srgbClr val="FFFF00"/>
                </a:solidFill>
              </a:endParaRPr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C2CAD799-2390-F586-9256-EF968AC6899C}"/>
                </a:ext>
              </a:extLst>
            </p:cNvPr>
            <p:cNvSpPr/>
            <p:nvPr/>
          </p:nvSpPr>
          <p:spPr>
            <a:xfrm>
              <a:off x="5198301" y="1803748"/>
              <a:ext cx="400833" cy="513567"/>
            </a:xfrm>
            <a:custGeom>
              <a:avLst/>
              <a:gdLst>
                <a:gd name="connsiteX0" fmla="*/ 0 w 400833"/>
                <a:gd name="connsiteY0" fmla="*/ 0 h 513567"/>
                <a:gd name="connsiteX1" fmla="*/ 100209 w 400833"/>
                <a:gd name="connsiteY1" fmla="*/ 350729 h 513567"/>
                <a:gd name="connsiteX2" fmla="*/ 400833 w 400833"/>
                <a:gd name="connsiteY2" fmla="*/ 513567 h 513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833" h="513567">
                  <a:moveTo>
                    <a:pt x="0" y="0"/>
                  </a:moveTo>
                  <a:cubicBezTo>
                    <a:pt x="16702" y="132567"/>
                    <a:pt x="33404" y="265135"/>
                    <a:pt x="100209" y="350729"/>
                  </a:cubicBezTo>
                  <a:cubicBezTo>
                    <a:pt x="167015" y="436324"/>
                    <a:pt x="283924" y="474945"/>
                    <a:pt x="400833" y="513567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389518-64E8-CCCE-7E70-076DE6DD05C5}"/>
                </a:ext>
              </a:extLst>
            </p:cNvPr>
            <p:cNvSpPr txBox="1"/>
            <p:nvPr/>
          </p:nvSpPr>
          <p:spPr>
            <a:xfrm rot="20906377">
              <a:off x="3864455" y="1496816"/>
              <a:ext cx="9563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Range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7BD6B6-7C96-3B08-4DBF-E7624B75036A}"/>
              </a:ext>
            </a:extLst>
          </p:cNvPr>
          <p:cNvSpPr txBox="1"/>
          <p:nvPr/>
        </p:nvSpPr>
        <p:spPr>
          <a:xfrm>
            <a:off x="9912444" y="3218855"/>
            <a:ext cx="44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2EE66A-6858-44B5-64ED-7F211FDFF6CC}"/>
              </a:ext>
            </a:extLst>
          </p:cNvPr>
          <p:cNvSpPr txBox="1"/>
          <p:nvPr/>
        </p:nvSpPr>
        <p:spPr>
          <a:xfrm>
            <a:off x="9650416" y="3288506"/>
            <a:ext cx="44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2AC132-CD02-626D-9A2F-318C9364A596}"/>
              </a:ext>
            </a:extLst>
          </p:cNvPr>
          <p:cNvSpPr txBox="1"/>
          <p:nvPr/>
        </p:nvSpPr>
        <p:spPr>
          <a:xfrm>
            <a:off x="9590748" y="2980326"/>
            <a:ext cx="44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D5EC6C-D8FA-3A9E-78BD-0D17FF7A503F}"/>
              </a:ext>
            </a:extLst>
          </p:cNvPr>
          <p:cNvSpPr txBox="1"/>
          <p:nvPr/>
        </p:nvSpPr>
        <p:spPr>
          <a:xfrm>
            <a:off x="9399820" y="2697350"/>
            <a:ext cx="44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9D472A-1AAA-3808-4AAF-58D5C732559D}"/>
              </a:ext>
            </a:extLst>
          </p:cNvPr>
          <p:cNvSpPr txBox="1"/>
          <p:nvPr/>
        </p:nvSpPr>
        <p:spPr>
          <a:xfrm>
            <a:off x="9087024" y="2708777"/>
            <a:ext cx="44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710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09007-0BB4-16C6-0673-AD508066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471D60-1A3E-270F-0C71-CDBB46A5FE43}"/>
              </a:ext>
            </a:extLst>
          </p:cNvPr>
          <p:cNvGrpSpPr/>
          <p:nvPr/>
        </p:nvGrpSpPr>
        <p:grpSpPr>
          <a:xfrm>
            <a:off x="609600" y="1600201"/>
            <a:ext cx="10535290" cy="3917196"/>
            <a:chOff x="609600" y="1600201"/>
            <a:chExt cx="10535290" cy="391719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2C811A-6776-E27F-B7F3-D02823961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00201"/>
              <a:ext cx="10535290" cy="391719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0A8390C-D2DD-0148-AEFC-30BA4CCF7D8F}"/>
                </a:ext>
              </a:extLst>
            </p:cNvPr>
            <p:cNvCxnSpPr/>
            <p:nvPr/>
          </p:nvCxnSpPr>
          <p:spPr>
            <a:xfrm flipH="1">
              <a:off x="8244591" y="1738859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5D87918-9FDA-DA52-EF92-CDE1366BC2EB}"/>
                </a:ext>
              </a:extLst>
            </p:cNvPr>
            <p:cNvCxnSpPr/>
            <p:nvPr/>
          </p:nvCxnSpPr>
          <p:spPr>
            <a:xfrm flipH="1">
              <a:off x="8456952" y="4829332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64132C31-D003-587E-52BA-A58C7230AE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60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0FDC-1E23-D999-97D5-E2740CEC3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Function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343190-22DB-BAE9-0EAE-379A5860AFF8}"/>
              </a:ext>
            </a:extLst>
          </p:cNvPr>
          <p:cNvGrpSpPr/>
          <p:nvPr/>
        </p:nvGrpSpPr>
        <p:grpSpPr>
          <a:xfrm>
            <a:off x="609600" y="1600201"/>
            <a:ext cx="11307581" cy="4087677"/>
            <a:chOff x="609600" y="1600201"/>
            <a:chExt cx="11307581" cy="40876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7250CB-F276-BFF3-47B5-2F34682AD8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00201"/>
              <a:ext cx="10503316" cy="4087677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9FF3958-C8D8-5BEF-2FF0-2B8321F6517A}"/>
                </a:ext>
              </a:extLst>
            </p:cNvPr>
            <p:cNvCxnSpPr/>
            <p:nvPr/>
          </p:nvCxnSpPr>
          <p:spPr>
            <a:xfrm flipH="1">
              <a:off x="11002781" y="4362138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921B60A-AD7B-7AFC-1336-CB5F5702F8C6}"/>
                </a:ext>
              </a:extLst>
            </p:cNvPr>
            <p:cNvCxnSpPr/>
            <p:nvPr/>
          </p:nvCxnSpPr>
          <p:spPr>
            <a:xfrm flipH="1">
              <a:off x="6748073" y="4949252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25AFEE1C-EDA4-416D-34C8-29A9D935F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72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BFB3-3EC8-FF82-3E43-E604F4A4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Code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E13ED4-C574-20DE-7604-22215EC1C18C}"/>
              </a:ext>
            </a:extLst>
          </p:cNvPr>
          <p:cNvGrpSpPr/>
          <p:nvPr/>
        </p:nvGrpSpPr>
        <p:grpSpPr>
          <a:xfrm>
            <a:off x="609600" y="1600201"/>
            <a:ext cx="8099971" cy="4056680"/>
            <a:chOff x="609600" y="1600201"/>
            <a:chExt cx="8099971" cy="40566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D9351D-CEC5-AFC4-B034-020A7DD11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00201"/>
              <a:ext cx="8099971" cy="405668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01FE0C1-D18B-9C9A-DEE2-2BEABC8A59C5}"/>
                </a:ext>
              </a:extLst>
            </p:cNvPr>
            <p:cNvCxnSpPr/>
            <p:nvPr/>
          </p:nvCxnSpPr>
          <p:spPr>
            <a:xfrm flipH="1">
              <a:off x="4871804" y="2128603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E2777A2-2847-6CE8-D147-362A42E670DA}"/>
                </a:ext>
              </a:extLst>
            </p:cNvPr>
            <p:cNvCxnSpPr/>
            <p:nvPr/>
          </p:nvCxnSpPr>
          <p:spPr>
            <a:xfrm flipH="1">
              <a:off x="3957404" y="3824989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E2336AC0-4CF6-F2C9-D176-7C7234230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1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F9A2-23F4-3123-07EE-751407FA9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Loop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1BA1068-50CD-5178-5E40-1D80B3E53735}"/>
              </a:ext>
            </a:extLst>
          </p:cNvPr>
          <p:cNvGrpSpPr/>
          <p:nvPr/>
        </p:nvGrpSpPr>
        <p:grpSpPr>
          <a:xfrm>
            <a:off x="609599" y="1600201"/>
            <a:ext cx="8516687" cy="4134172"/>
            <a:chOff x="609599" y="1600201"/>
            <a:chExt cx="8516687" cy="413417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7188CD-F975-C767-35D3-4C1215F10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599" y="1600201"/>
              <a:ext cx="8516687" cy="4134172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475C21B-1C12-91F9-CD2B-C2CF14D73A00}"/>
                </a:ext>
              </a:extLst>
            </p:cNvPr>
            <p:cNvCxnSpPr/>
            <p:nvPr/>
          </p:nvCxnSpPr>
          <p:spPr>
            <a:xfrm flipH="1">
              <a:off x="6400801" y="1903751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F2D1A59-7A92-7C30-21F3-0DFA1F307B94}"/>
                </a:ext>
              </a:extLst>
            </p:cNvPr>
            <p:cNvCxnSpPr/>
            <p:nvPr/>
          </p:nvCxnSpPr>
          <p:spPr>
            <a:xfrm flipH="1">
              <a:off x="7315201" y="2400925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A blue and white symbol&#10;&#10;Description automatically generated">
            <a:extLst>
              <a:ext uri="{FF2B5EF4-FFF2-40B4-BE49-F238E27FC236}">
                <a16:creationId xmlns:a16="http://schemas.microsoft.com/office/drawing/2014/main" id="{E4A1ADC2-2227-A6DE-24F3-B1C6F28B6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1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281420A-5F4C-86FA-8F2C-509E0BE89ABD}"/>
              </a:ext>
            </a:extLst>
          </p:cNvPr>
          <p:cNvGrpSpPr/>
          <p:nvPr/>
        </p:nvGrpSpPr>
        <p:grpSpPr>
          <a:xfrm>
            <a:off x="609599" y="1600201"/>
            <a:ext cx="10742613" cy="2956301"/>
            <a:chOff x="609599" y="1600201"/>
            <a:chExt cx="10742613" cy="29563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21FDD1-0B16-2073-9C11-9F4C74B751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599" y="1600201"/>
              <a:ext cx="10742613" cy="295630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696406A-E508-50ED-D534-284FAC7043B6}"/>
                </a:ext>
              </a:extLst>
            </p:cNvPr>
            <p:cNvCxnSpPr/>
            <p:nvPr/>
          </p:nvCxnSpPr>
          <p:spPr>
            <a:xfrm flipH="1">
              <a:off x="6475752" y="2713220"/>
              <a:ext cx="9144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A blue and white symbol&#10;&#10;Description automatically generated">
            <a:extLst>
              <a:ext uri="{FF2B5EF4-FFF2-40B4-BE49-F238E27FC236}">
                <a16:creationId xmlns:a16="http://schemas.microsoft.com/office/drawing/2014/main" id="{13D1CE0C-4CDA-94BA-866C-1E4BB09B6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93" y="0"/>
            <a:ext cx="1514007" cy="151400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A9EA5E4-E524-96C8-5BF0-9ACECEC6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Blink Function</a:t>
            </a:r>
          </a:p>
        </p:txBody>
      </p:sp>
    </p:spTree>
    <p:extLst>
      <p:ext uri="{BB962C8B-B14F-4D97-AF65-F5344CB8AC3E}">
        <p14:creationId xmlns:p14="http://schemas.microsoft.com/office/powerpoint/2010/main" val="1358587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yo_powerpoint_template1 [Read-Only]" id="{4B645B48-1D4D-4A7E-A227-940AAC3A88AC}" vid="{38082606-69BA-4892-877D-46BB1B9206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190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Cambria Math</vt:lpstr>
      <vt:lpstr>Symbol</vt:lpstr>
      <vt:lpstr>Office Theme</vt:lpstr>
      <vt:lpstr>Custom Design</vt:lpstr>
      <vt:lpstr> Laser Blaster Arduino with C Code</vt:lpstr>
      <vt:lpstr>Goals</vt:lpstr>
      <vt:lpstr>Practical Math</vt:lpstr>
      <vt:lpstr>Ultrasonic Distance Sensor</vt:lpstr>
      <vt:lpstr>Circuit</vt:lpstr>
      <vt:lpstr>Code</vt:lpstr>
      <vt:lpstr>Distance Function</vt:lpstr>
      <vt:lpstr>Setup Code</vt:lpstr>
      <vt:lpstr>Main Loop</vt:lpstr>
      <vt:lpstr>Blink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Patrick Mulvaney</dc:creator>
  <cp:lastModifiedBy>Matthew Pikal</cp:lastModifiedBy>
  <cp:revision>19</cp:revision>
  <dcterms:created xsi:type="dcterms:W3CDTF">2024-06-06T21:24:29Z</dcterms:created>
  <dcterms:modified xsi:type="dcterms:W3CDTF">2025-06-23T19:18:01Z</dcterms:modified>
</cp:coreProperties>
</file>