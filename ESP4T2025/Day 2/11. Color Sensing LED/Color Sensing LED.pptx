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7" r:id="rId2"/>
    <p:sldId id="258" r:id="rId3"/>
    <p:sldId id="259" r:id="rId4"/>
    <p:sldId id="260" r:id="rId5"/>
    <p:sldId id="261" r:id="rId6"/>
    <p:sldId id="262" r:id="rId7"/>
    <p:sldId id="263" r:id="rId8"/>
    <p:sldId id="264" r:id="rId9"/>
    <p:sldId id="275" r:id="rId10"/>
    <p:sldId id="273" r:id="rId11"/>
    <p:sldId id="274" r:id="rId12"/>
    <p:sldId id="272" r:id="rId13"/>
    <p:sldId id="270" r:id="rId14"/>
    <p:sldId id="271" r:id="rId15"/>
    <p:sldId id="265"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C62F"/>
    <a:srgbClr val="51271B"/>
    <a:srgbClr val="69381E"/>
    <a:srgbClr val="BB975D"/>
    <a:srgbClr val="604B38"/>
    <a:srgbClr val="FFC425"/>
    <a:srgbClr val="FAF3AC"/>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93447" autoAdjust="0"/>
  </p:normalViewPr>
  <p:slideViewPr>
    <p:cSldViewPr snapToGrid="0">
      <p:cViewPr varScale="1">
        <p:scale>
          <a:sx n="64" d="100"/>
          <a:sy n="64" d="100"/>
        </p:scale>
        <p:origin x="984"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C9D54E-5013-46A8-89A5-1B53A715BA8F}" type="datetimeFigureOut">
              <a:rPr lang="en-US" smtClean="0"/>
              <a:t>7/8/2024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3926B-6DAA-4D33-AA50-FA845D6D86D8}" type="slidenum">
              <a:rPr lang="en-US" smtClean="0"/>
              <a:t>‹#›</a:t>
            </a:fld>
            <a:endParaRPr lang="en-US" dirty="0"/>
          </a:p>
        </p:txBody>
      </p:sp>
    </p:spTree>
    <p:extLst>
      <p:ext uri="{BB962C8B-B14F-4D97-AF65-F5344CB8AC3E}">
        <p14:creationId xmlns:p14="http://schemas.microsoft.com/office/powerpoint/2010/main" val="164561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Updated 20 June 2024 by Quinn Kwiatkowski</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92824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C9E866-E575-429A-955A-0A8D1C87264D}" type="slidenum">
              <a:rPr lang="en-US" smtClean="0"/>
              <a:t>2</a:t>
            </a:fld>
            <a:endParaRPr lang="en-US" dirty="0"/>
          </a:p>
        </p:txBody>
      </p:sp>
    </p:spTree>
    <p:extLst>
      <p:ext uri="{BB962C8B-B14F-4D97-AF65-F5344CB8AC3E}">
        <p14:creationId xmlns:p14="http://schemas.microsoft.com/office/powerpoint/2010/main" val="144479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Color blindness happens when one or more of the color cone cells are absent, not working, or detect a different color then normal. Sever color blindness happens when all three cone cells are absent.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The human eye has about 6 million cones in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09548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Color blindness currently has not cure. Those colorblind glasses that you see advertised usually are for people with very specific color blindness, such as red-green color blindness. They are made with special minerals that help filter out some wavelengths between red and green. This reduce in color overlap allows for colors to look more vibrant and noticeable.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rPr>
              <a:t>Working in a field like this might mean that you need to know what the color values are and how different minerals effect those lights and filter out specific RGB values.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141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59126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660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15601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58488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60579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5558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93863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23240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814421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5965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23727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C9E866-E575-429A-955A-0A8D1C87264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296050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Picture 7" descr="A blue and white symbol&#10;&#10;Description automatically generated">
            <a:extLst>
              <a:ext uri="{FF2B5EF4-FFF2-40B4-BE49-F238E27FC236}">
                <a16:creationId xmlns:a16="http://schemas.microsoft.com/office/drawing/2014/main" id="{50093D59-B1E0-FED5-1C73-2D9DB2B267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75818" y="1"/>
            <a:ext cx="1316181" cy="1316181"/>
          </a:xfrm>
          <a:prstGeom prst="rect">
            <a:avLst/>
          </a:prstGeom>
        </p:spPr>
      </p:pic>
    </p:spTree>
    <p:extLst>
      <p:ext uri="{BB962C8B-B14F-4D97-AF65-F5344CB8AC3E}">
        <p14:creationId xmlns:p14="http://schemas.microsoft.com/office/powerpoint/2010/main" val="465140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A blue and white symbol&#10;&#10;Description automatically generated">
            <a:extLst>
              <a:ext uri="{FF2B5EF4-FFF2-40B4-BE49-F238E27FC236}">
                <a16:creationId xmlns:a16="http://schemas.microsoft.com/office/drawing/2014/main" id="{6A68C4C5-AB36-D97E-7725-1E3307137F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75818" y="1"/>
            <a:ext cx="1316181" cy="1316181"/>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62920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2" name="Picture 1" descr="A blue and white symbol&#10;&#10;Description automatically generated">
            <a:extLst>
              <a:ext uri="{FF2B5EF4-FFF2-40B4-BE49-F238E27FC236}">
                <a16:creationId xmlns:a16="http://schemas.microsoft.com/office/drawing/2014/main" id="{0FFF72CD-8599-3DA6-717B-CC02588970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75818" y="1"/>
            <a:ext cx="1316181" cy="1316181"/>
          </a:xfrm>
          <a:prstGeom prst="rect">
            <a:avLst/>
          </a:prstGeom>
        </p:spPr>
      </p:pic>
    </p:spTree>
    <p:extLst>
      <p:ext uri="{BB962C8B-B14F-4D97-AF65-F5344CB8AC3E}">
        <p14:creationId xmlns:p14="http://schemas.microsoft.com/office/powerpoint/2010/main" val="3540368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09442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23912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91050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2256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93640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30999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65360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76467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C3B16F7-518A-4C11-804A-5E47CEC998E7}"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7/8/2024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8EC882B-02F8-46DE-BE2B-E80A352F5B86}"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9" name="Picture 8" descr="BrandBar_New_flag_only.png"/>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51020" y="5666008"/>
            <a:ext cx="13280983" cy="1553875"/>
          </a:xfrm>
          <a:prstGeom prst="rect">
            <a:avLst/>
          </a:prstGeom>
        </p:spPr>
      </p:pic>
    </p:spTree>
    <p:extLst>
      <p:ext uri="{BB962C8B-B14F-4D97-AF65-F5344CB8AC3E}">
        <p14:creationId xmlns:p14="http://schemas.microsoft.com/office/powerpoint/2010/main" val="16368494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0.png"/><Relationship Id="rId4" Type="http://schemas.openxmlformats.org/officeDocument/2006/relationships/image" Target="../media/image5.png"/><Relationship Id="rId9"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3069" y="3429000"/>
            <a:ext cx="10363200" cy="1135288"/>
          </a:xfrm>
        </p:spPr>
        <p:txBody>
          <a:bodyPr>
            <a:noAutofit/>
          </a:bodyPr>
          <a:lstStyle/>
          <a:p>
            <a:r>
              <a:rPr lang="en-US" sz="6900" b="1" dirty="0">
                <a:solidFill>
                  <a:srgbClr val="69381E"/>
                </a:solidFill>
              </a:rPr>
              <a:t>Color Sensing LED</a:t>
            </a:r>
          </a:p>
        </p:txBody>
      </p:sp>
      <p:sp>
        <p:nvSpPr>
          <p:cNvPr id="8" name="TextBox 7"/>
          <p:cNvSpPr txBox="1"/>
          <p:nvPr/>
        </p:nvSpPr>
        <p:spPr>
          <a:xfrm>
            <a:off x="3529181" y="6479816"/>
            <a:ext cx="849656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a:ea typeface="+mn-ea"/>
                <a:cs typeface="+mn-cs"/>
              </a:rPr>
              <a:t>ELECTRICAL ENGINEERING AND COMPUTER SCIENCE, COLLEGE OF ENGINEERING AND PHYSICAL SCIENCES</a:t>
            </a:r>
          </a:p>
        </p:txBody>
      </p:sp>
      <p:pic>
        <p:nvPicPr>
          <p:cNvPr id="10" name="Picture 9" descr="A brown rectangular sign with a horse and text&#10;&#10;Description automatically generated">
            <a:extLst>
              <a:ext uri="{FF2B5EF4-FFF2-40B4-BE49-F238E27FC236}">
                <a16:creationId xmlns:a16="http://schemas.microsoft.com/office/drawing/2014/main" id="{CB96BABA-B0E6-123B-BAEB-42A84349C68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884" t="32742" r="1737" b="31610"/>
          <a:stretch/>
        </p:blipFill>
        <p:spPr>
          <a:xfrm>
            <a:off x="3529181" y="1433632"/>
            <a:ext cx="4810978" cy="1710619"/>
          </a:xfrm>
          <a:prstGeom prst="rect">
            <a:avLst/>
          </a:prstGeom>
        </p:spPr>
      </p:pic>
      <p:sp>
        <p:nvSpPr>
          <p:cNvPr id="3" name="TextBox 2">
            <a:extLst>
              <a:ext uri="{FF2B5EF4-FFF2-40B4-BE49-F238E27FC236}">
                <a16:creationId xmlns:a16="http://schemas.microsoft.com/office/drawing/2014/main" id="{7B8748A0-2CDF-507E-4659-88D1FD5689AE}"/>
              </a:ext>
            </a:extLst>
          </p:cNvPr>
          <p:cNvSpPr txBox="1"/>
          <p:nvPr/>
        </p:nvSpPr>
        <p:spPr>
          <a:xfrm>
            <a:off x="4338934" y="4641288"/>
            <a:ext cx="3514132" cy="415498"/>
          </a:xfrm>
          <a:prstGeom prst="rect">
            <a:avLst/>
          </a:prstGeom>
          <a:noFill/>
        </p:spPr>
        <p:txBody>
          <a:bodyPr wrap="square" rtlCol="0">
            <a:spAutoFit/>
          </a:bodyPr>
          <a:lstStyle/>
          <a:p>
            <a:pPr algn="ctr"/>
            <a:r>
              <a:rPr lang="en-US" sz="2100" dirty="0">
                <a:solidFill>
                  <a:srgbClr val="69381E"/>
                </a:solidFill>
              </a:rPr>
              <a:t>Arduino with C Programming</a:t>
            </a:r>
            <a:endParaRPr lang="en-US" sz="2100" dirty="0"/>
          </a:p>
        </p:txBody>
      </p:sp>
    </p:spTree>
    <p:extLst>
      <p:ext uri="{BB962C8B-B14F-4D97-AF65-F5344CB8AC3E}">
        <p14:creationId xmlns:p14="http://schemas.microsoft.com/office/powerpoint/2010/main" val="3856698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874A5-2D56-B5F3-2C94-96B6D122737C}"/>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69E8C5B0-CE8A-5365-533A-52856D3F3CD9}"/>
              </a:ext>
            </a:extLst>
          </p:cNvPr>
          <p:cNvSpPr>
            <a:spLocks noGrp="1"/>
          </p:cNvSpPr>
          <p:nvPr>
            <p:ph idx="1"/>
          </p:nvPr>
        </p:nvSpPr>
        <p:spPr>
          <a:xfrm>
            <a:off x="609600" y="1600202"/>
            <a:ext cx="10972800" cy="3900054"/>
          </a:xfrm>
        </p:spPr>
        <p:txBody>
          <a:bodyPr>
            <a:normAutofit lnSpcReduction="10000"/>
          </a:bodyPr>
          <a:lstStyle/>
          <a:p>
            <a:r>
              <a:rPr lang="en-US" sz="3600" dirty="0"/>
              <a:t>Use a TCS34725 Color Sensor to measure red, green, and blue (RGB) values of an object</a:t>
            </a:r>
          </a:p>
          <a:p>
            <a:r>
              <a:rPr lang="en-US" sz="3600" dirty="0"/>
              <a:t>Use the values from the TCS34725 Color Sensor to display the same color on an RGB Light Emitting Diode (LED)</a:t>
            </a:r>
          </a:p>
          <a:p>
            <a:r>
              <a:rPr lang="en-US" sz="3600" dirty="0"/>
              <a:t>Edit the code to display the complementary color of the detected object.</a:t>
            </a:r>
          </a:p>
        </p:txBody>
      </p:sp>
    </p:spTree>
    <p:extLst>
      <p:ext uri="{BB962C8B-B14F-4D97-AF65-F5344CB8AC3E}">
        <p14:creationId xmlns:p14="http://schemas.microsoft.com/office/powerpoint/2010/main" val="1603976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DA275C-60F6-7AD6-065F-48C2DEAF8FE6}"/>
              </a:ext>
            </a:extLst>
          </p:cNvPr>
          <p:cNvPicPr>
            <a:picLocks noGrp="1" noRot="1" noChangeAspect="1" noMove="1" noResize="1" noEditPoints="1" noAdjustHandles="1" noChangeArrowheads="1" noChangeShapeType="1" noCrop="1"/>
          </p:cNvPicPr>
          <p:nvPr/>
        </p:nvPicPr>
        <p:blipFill>
          <a:blip r:embed="rId3"/>
          <a:stretch>
            <a:fillRect/>
          </a:stretch>
        </p:blipFill>
        <p:spPr>
          <a:xfrm>
            <a:off x="9800131" y="3736545"/>
            <a:ext cx="1166695" cy="1925278"/>
          </a:xfrm>
          <a:prstGeom prst="rect">
            <a:avLst/>
          </a:prstGeom>
        </p:spPr>
      </p:pic>
      <p:pic>
        <p:nvPicPr>
          <p:cNvPr id="1034" name="Picture 10" descr="Dog Vision: What Colors Do Dogs See? · The Wildest, 55% OFF">
            <a:extLst>
              <a:ext uri="{FF2B5EF4-FFF2-40B4-BE49-F238E27FC236}">
                <a16:creationId xmlns:a16="http://schemas.microsoft.com/office/drawing/2014/main" id="{A3D69FD8-627C-38D2-F521-ACD4A8AA45D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2411"/>
          <a:stretch/>
        </p:blipFill>
        <p:spPr bwMode="auto">
          <a:xfrm>
            <a:off x="8492691" y="3563297"/>
            <a:ext cx="3699309" cy="230864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3540188" y="0"/>
            <a:ext cx="5111623" cy="1143000"/>
          </a:xfrm>
        </p:spPr>
        <p:txBody>
          <a:bodyPr>
            <a:noAutofit/>
          </a:bodyPr>
          <a:lstStyle/>
          <a:p>
            <a:r>
              <a:rPr lang="en-US" dirty="0"/>
              <a:t>Introduction to Color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23C4676-1719-7A1F-05E9-13BB189C5AA6}"/>
                  </a:ext>
                </a:extLst>
              </p:cNvPr>
              <p:cNvSpPr txBox="1"/>
              <p:nvPr/>
            </p:nvSpPr>
            <p:spPr>
              <a:xfrm>
                <a:off x="55460" y="1066799"/>
                <a:ext cx="5728705" cy="5262979"/>
              </a:xfrm>
              <a:prstGeom prst="rect">
                <a:avLst/>
              </a:prstGeom>
              <a:noFill/>
            </p:spPr>
            <p:txBody>
              <a:bodyPr wrap="square" rtlCol="0">
                <a:spAutoFit/>
              </a:bodyPr>
              <a:lstStyle/>
              <a:p>
                <a:pPr marL="285750" indent="-285750">
                  <a:buFont typeface="Arial" panose="020B0604020202020204" pitchFamily="34" charset="0"/>
                  <a:buChar char="•"/>
                </a:pPr>
                <a:r>
                  <a:rPr lang="en-US" sz="2800" dirty="0"/>
                  <a:t>Humans can see the colors red, green, and blue because those are the three types of color-receptive cones in our eyes</a:t>
                </a:r>
              </a:p>
              <a:p>
                <a:pPr marL="285750" indent="-285750">
                  <a:buFont typeface="Arial" panose="020B0604020202020204" pitchFamily="34" charset="0"/>
                  <a:buChar char="•"/>
                </a:pPr>
                <a:r>
                  <a:rPr lang="en-US" sz="2800" dirty="0"/>
                  <a:t>Humans can see light in the 380 to 700 nanometer range</a:t>
                </a:r>
              </a:p>
              <a:p>
                <a:pPr marL="742950" lvl="1" indent="-285750">
                  <a:buFont typeface="Arial" panose="020B0604020202020204" pitchFamily="34" charset="0"/>
                  <a:buChar char="•"/>
                </a:pPr>
                <a:r>
                  <a:rPr lang="en-US" sz="2800" dirty="0"/>
                  <a:t>1 nanometer = </a:t>
                </a:r>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10</m:t>
                        </m:r>
                      </m:e>
                      <m:sup>
                        <m:r>
                          <a:rPr lang="en-US" sz="2800" i="1">
                            <a:latin typeface="Cambria Math" panose="02040503050406030204" pitchFamily="18" charset="0"/>
                          </a:rPr>
                          <m:t>−9</m:t>
                        </m:r>
                      </m:sup>
                    </m:sSup>
                  </m:oMath>
                </a14:m>
                <a:r>
                  <a:rPr lang="en-US" sz="2800" dirty="0"/>
                  <a:t>m</a:t>
                </a:r>
              </a:p>
              <a:p>
                <a:pPr marL="285750" indent="-285750">
                  <a:buFont typeface="Arial" panose="020B0604020202020204" pitchFamily="34" charset="0"/>
                  <a:buChar char="•"/>
                </a:pPr>
                <a:r>
                  <a:rPr lang="en-US" sz="2800" dirty="0"/>
                  <a:t>Dogs only have two color cones, blue and yellow</a:t>
                </a:r>
              </a:p>
              <a:p>
                <a:pPr marL="285750" indent="-285750">
                  <a:buFont typeface="Arial" panose="020B0604020202020204" pitchFamily="34" charset="0"/>
                  <a:buChar char="•"/>
                </a:pPr>
                <a:r>
                  <a:rPr lang="en-US" sz="2800" dirty="0"/>
                  <a:t>Mantis Shrimp have 16 color-receptive cones</a:t>
                </a:r>
              </a:p>
              <a:p>
                <a:pPr marL="285750" indent="-285750">
                  <a:buFont typeface="Arial" panose="020B0604020202020204" pitchFamily="34" charset="0"/>
                  <a:buChar char="•"/>
                </a:pPr>
                <a:endParaRPr lang="en-US" sz="2800" dirty="0"/>
              </a:p>
            </p:txBody>
          </p:sp>
        </mc:Choice>
        <mc:Fallback xmlns="">
          <p:sp>
            <p:nvSpPr>
              <p:cNvPr id="6" name="TextBox 5">
                <a:extLst>
                  <a:ext uri="{FF2B5EF4-FFF2-40B4-BE49-F238E27FC236}">
                    <a16:creationId xmlns:a16="http://schemas.microsoft.com/office/drawing/2014/main" id="{523C4676-1719-7A1F-05E9-13BB189C5AA6}"/>
                  </a:ext>
                </a:extLst>
              </p:cNvPr>
              <p:cNvSpPr txBox="1">
                <a:spLocks noRot="1" noChangeAspect="1" noMove="1" noResize="1" noEditPoints="1" noAdjustHandles="1" noChangeArrowheads="1" noChangeShapeType="1" noTextEdit="1"/>
              </p:cNvSpPr>
              <p:nvPr/>
            </p:nvSpPr>
            <p:spPr>
              <a:xfrm>
                <a:off x="55460" y="1066799"/>
                <a:ext cx="5728705" cy="5262979"/>
              </a:xfrm>
              <a:prstGeom prst="rect">
                <a:avLst/>
              </a:prstGeom>
              <a:blipFill>
                <a:blip r:embed="rId5"/>
                <a:stretch>
                  <a:fillRect l="-1915" t="-1043"/>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66425843-E8DB-3F72-F055-A470FBF9A4DD}"/>
              </a:ext>
            </a:extLst>
          </p:cNvPr>
          <p:cNvPicPr>
            <a:picLocks noChangeAspect="1"/>
          </p:cNvPicPr>
          <p:nvPr/>
        </p:nvPicPr>
        <p:blipFill>
          <a:blip r:embed="rId6"/>
          <a:stretch>
            <a:fillRect/>
          </a:stretch>
        </p:blipFill>
        <p:spPr>
          <a:xfrm>
            <a:off x="6493613" y="986062"/>
            <a:ext cx="4334808" cy="2616186"/>
          </a:xfrm>
          <a:prstGeom prst="rect">
            <a:avLst/>
          </a:prstGeom>
        </p:spPr>
      </p:pic>
      <p:pic>
        <p:nvPicPr>
          <p:cNvPr id="1036" name="Picture 12" descr="The Peacock Mantis Shrimp | Bureau of Ocean Energy Management">
            <a:extLst>
              <a:ext uri="{FF2B5EF4-FFF2-40B4-BE49-F238E27FC236}">
                <a16:creationId xmlns:a16="http://schemas.microsoft.com/office/drawing/2014/main" id="{F0277FD5-BAA0-F035-8C93-A2B9375E2AA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13077" y="3816808"/>
            <a:ext cx="2880691" cy="1622713"/>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Scooby-Doo (character) - Wikipedia">
            <a:extLst>
              <a:ext uri="{FF2B5EF4-FFF2-40B4-BE49-F238E27FC236}">
                <a16:creationId xmlns:a16="http://schemas.microsoft.com/office/drawing/2014/main" id="{5E056075-C5C0-49BE-8CEE-4AB4E6463D8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57223" y="3745513"/>
            <a:ext cx="341494" cy="65339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Shaggy Rogers #719 | Scooby-Doo FiGPiN ...">
            <a:extLst>
              <a:ext uri="{FF2B5EF4-FFF2-40B4-BE49-F238E27FC236}">
                <a16:creationId xmlns:a16="http://schemas.microsoft.com/office/drawing/2014/main" id="{0C287E8C-A043-CFBE-99AB-8295D862743A}"/>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24141" r="26727"/>
          <a:stretch/>
        </p:blipFill>
        <p:spPr bwMode="auto">
          <a:xfrm>
            <a:off x="8414997" y="4726208"/>
            <a:ext cx="350571" cy="71353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0BE9A962-4863-DA85-1706-E3D20F3621C8}"/>
              </a:ext>
            </a:extLst>
          </p:cNvPr>
          <p:cNvSpPr/>
          <p:nvPr/>
        </p:nvSpPr>
        <p:spPr>
          <a:xfrm>
            <a:off x="9994232" y="3421350"/>
            <a:ext cx="869657" cy="173248"/>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21454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09600" y="-83804"/>
            <a:ext cx="10972800" cy="1143000"/>
          </a:xfrm>
        </p:spPr>
        <p:txBody>
          <a:bodyPr/>
          <a:lstStyle/>
          <a:p>
            <a:r>
              <a:rPr lang="en-US" dirty="0"/>
              <a:t>What is a Color Sensor?</a:t>
            </a:r>
          </a:p>
        </p:txBody>
      </p:sp>
      <p:sp>
        <p:nvSpPr>
          <p:cNvPr id="11" name="TextBox 10">
            <a:extLst>
              <a:ext uri="{FF2B5EF4-FFF2-40B4-BE49-F238E27FC236}">
                <a16:creationId xmlns:a16="http://schemas.microsoft.com/office/drawing/2014/main" id="{814FCBD6-753B-8094-5AE1-55FFB69CC2A6}"/>
              </a:ext>
            </a:extLst>
          </p:cNvPr>
          <p:cNvSpPr txBox="1"/>
          <p:nvPr/>
        </p:nvSpPr>
        <p:spPr>
          <a:xfrm>
            <a:off x="827314" y="1611086"/>
            <a:ext cx="6197600" cy="369332"/>
          </a:xfrm>
          <a:prstGeom prst="rect">
            <a:avLst/>
          </a:prstGeom>
          <a:noFill/>
        </p:spPr>
        <p:txBody>
          <a:bodyPr wrap="square" rtlCol="0">
            <a:spAutoFit/>
          </a:bodyPr>
          <a:lstStyle/>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2C6CCDA3-4146-B03B-0DA5-7B1086928455}"/>
              </a:ext>
            </a:extLst>
          </p:cNvPr>
          <p:cNvSpPr txBox="1"/>
          <p:nvPr/>
        </p:nvSpPr>
        <p:spPr>
          <a:xfrm>
            <a:off x="41564" y="1065873"/>
            <a:ext cx="6848189" cy="4832092"/>
          </a:xfrm>
          <a:prstGeom prst="rect">
            <a:avLst/>
          </a:prstGeom>
          <a:noFill/>
        </p:spPr>
        <p:txBody>
          <a:bodyPr wrap="square" rtlCol="0">
            <a:spAutoFit/>
          </a:bodyPr>
          <a:lstStyle/>
          <a:p>
            <a:pPr marL="285750" indent="-285750">
              <a:buFont typeface="Arial" panose="020B0604020202020204" pitchFamily="34" charset="0"/>
              <a:buChar char="•"/>
            </a:pPr>
            <a:r>
              <a:rPr lang="en-US" sz="2800" dirty="0"/>
              <a:t>An electronic sensor that emits light from a transmitter, and then detects the light reflected with a receiver</a:t>
            </a:r>
          </a:p>
          <a:p>
            <a:pPr marL="285750" indent="-285750">
              <a:buFont typeface="Arial" panose="020B0604020202020204" pitchFamily="34" charset="0"/>
              <a:buChar char="•"/>
            </a:pPr>
            <a:r>
              <a:rPr lang="en-US" sz="2800" dirty="0"/>
              <a:t>Color sensors can also measure color temperature and illuminance</a:t>
            </a:r>
          </a:p>
          <a:p>
            <a:pPr marL="285750" indent="-285750">
              <a:buFont typeface="Arial" panose="020B0604020202020204" pitchFamily="34" charset="0"/>
              <a:buChar char="•"/>
            </a:pPr>
            <a:r>
              <a:rPr lang="en-US" sz="2800" dirty="0"/>
              <a:t>Uses for color sensors</a:t>
            </a:r>
          </a:p>
          <a:p>
            <a:pPr marL="742950" lvl="1" indent="-285750">
              <a:buFont typeface="Arial" panose="020B0604020202020204" pitchFamily="34" charset="0"/>
              <a:buChar char="•"/>
            </a:pPr>
            <a:r>
              <a:rPr lang="en-US" sz="2800" dirty="0"/>
              <a:t>Display of images in electronics</a:t>
            </a:r>
          </a:p>
          <a:p>
            <a:pPr marL="742950" lvl="1" indent="-285750">
              <a:buFont typeface="Arial" panose="020B0604020202020204" pitchFamily="34" charset="0"/>
              <a:buChar char="•"/>
            </a:pPr>
            <a:r>
              <a:rPr lang="en-US" sz="2800" dirty="0"/>
              <a:t>Quality control for plastic colors using RGB or HEX color codes</a:t>
            </a:r>
          </a:p>
          <a:p>
            <a:pPr marL="742950" lvl="1" indent="-285750">
              <a:buFont typeface="Arial" panose="020B0604020202020204" pitchFamily="34" charset="0"/>
              <a:buChar char="•"/>
            </a:pPr>
            <a:r>
              <a:rPr lang="en-US" sz="2800" dirty="0"/>
              <a:t>To make glasses that enhance color vision for specific color blindness </a:t>
            </a:r>
          </a:p>
        </p:txBody>
      </p:sp>
      <p:pic>
        <p:nvPicPr>
          <p:cNvPr id="3" name="Picture 4" descr="28 Computer Colors (RGB) – SmileBasic">
            <a:extLst>
              <a:ext uri="{FF2B5EF4-FFF2-40B4-BE49-F238E27FC236}">
                <a16:creationId xmlns:a16="http://schemas.microsoft.com/office/drawing/2014/main" id="{EF59A7ED-E1A5-851F-6D59-EA4F15F492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7918" y="3338849"/>
            <a:ext cx="2410691" cy="241069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descr="Colorblind Glasses: Types, Cost &amp; How They Work">
            <a:extLst>
              <a:ext uri="{FF2B5EF4-FFF2-40B4-BE49-F238E27FC236}">
                <a16:creationId xmlns:a16="http://schemas.microsoft.com/office/drawing/2014/main" id="{0B6B0D4F-CC7E-077F-2905-38D3B7297B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5159" y="3622578"/>
            <a:ext cx="2822283" cy="188152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dafruit TCS34725 RGB Color Sensor , 5V ...">
            <a:extLst>
              <a:ext uri="{FF2B5EF4-FFF2-40B4-BE49-F238E27FC236}">
                <a16:creationId xmlns:a16="http://schemas.microsoft.com/office/drawing/2014/main" id="{0FBE13B3-0CB7-3F7B-61D6-99FFEF7ADC9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321" r="13982"/>
          <a:stretch/>
        </p:blipFill>
        <p:spPr bwMode="auto">
          <a:xfrm>
            <a:off x="8140705" y="1108460"/>
            <a:ext cx="2573473" cy="1955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869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rduino and TCS34725 Color Sensor - Arduino Learning">
            <a:extLst>
              <a:ext uri="{FF2B5EF4-FFF2-40B4-BE49-F238E27FC236}">
                <a16:creationId xmlns:a16="http://schemas.microsoft.com/office/drawing/2014/main" id="{95B90C1F-5AB2-A6C0-48A1-B5F4C42889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323" r="12412"/>
          <a:stretch/>
        </p:blipFill>
        <p:spPr bwMode="auto">
          <a:xfrm>
            <a:off x="7633017" y="905013"/>
            <a:ext cx="3061855" cy="3116461"/>
          </a:xfrm>
          <a:prstGeom prst="rect">
            <a:avLst/>
          </a:prstGeom>
          <a:noFill/>
          <a:extLst>
            <a:ext uri="{909E8E84-426E-40DD-AFC4-6F175D3DCCD1}">
              <a14:hiddenFill xmlns:a14="http://schemas.microsoft.com/office/drawing/2010/main">
                <a:solidFill>
                  <a:srgbClr val="FFFFFF"/>
                </a:solidFill>
              </a14:hiddenFill>
            </a:ext>
          </a:extLst>
        </p:spPr>
      </p:pic>
      <p:sp>
        <p:nvSpPr>
          <p:cNvPr id="24" name="Arrow: Up 23">
            <a:extLst>
              <a:ext uri="{FF2B5EF4-FFF2-40B4-BE49-F238E27FC236}">
                <a16:creationId xmlns:a16="http://schemas.microsoft.com/office/drawing/2014/main" id="{C86077EC-FA16-CDA4-F82F-9C10913E4921}"/>
              </a:ext>
            </a:extLst>
          </p:cNvPr>
          <p:cNvSpPr/>
          <p:nvPr/>
        </p:nvSpPr>
        <p:spPr>
          <a:xfrm>
            <a:off x="10049953" y="3938344"/>
            <a:ext cx="513457" cy="1921306"/>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Arrow: Up 21">
            <a:extLst>
              <a:ext uri="{FF2B5EF4-FFF2-40B4-BE49-F238E27FC236}">
                <a16:creationId xmlns:a16="http://schemas.microsoft.com/office/drawing/2014/main" id="{4BCDABD9-DA88-1721-425D-22B9309E0A69}"/>
              </a:ext>
            </a:extLst>
          </p:cNvPr>
          <p:cNvSpPr/>
          <p:nvPr/>
        </p:nvSpPr>
        <p:spPr>
          <a:xfrm>
            <a:off x="9669226" y="3938344"/>
            <a:ext cx="513457" cy="1921306"/>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Arrow: Up 19">
            <a:extLst>
              <a:ext uri="{FF2B5EF4-FFF2-40B4-BE49-F238E27FC236}">
                <a16:creationId xmlns:a16="http://schemas.microsoft.com/office/drawing/2014/main" id="{2AD51C05-401E-C95A-9DD5-E798567F61D9}"/>
              </a:ext>
            </a:extLst>
          </p:cNvPr>
          <p:cNvSpPr/>
          <p:nvPr/>
        </p:nvSpPr>
        <p:spPr>
          <a:xfrm>
            <a:off x="9282203" y="3934685"/>
            <a:ext cx="513457" cy="1921306"/>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Arrow: Up 17">
            <a:extLst>
              <a:ext uri="{FF2B5EF4-FFF2-40B4-BE49-F238E27FC236}">
                <a16:creationId xmlns:a16="http://schemas.microsoft.com/office/drawing/2014/main" id="{E26EF345-FEE2-C313-6260-C9B26D7AF864}"/>
              </a:ext>
            </a:extLst>
          </p:cNvPr>
          <p:cNvSpPr/>
          <p:nvPr/>
        </p:nvSpPr>
        <p:spPr>
          <a:xfrm>
            <a:off x="8906973" y="3934685"/>
            <a:ext cx="513457" cy="1921306"/>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Arrow: Up 15">
            <a:extLst>
              <a:ext uri="{FF2B5EF4-FFF2-40B4-BE49-F238E27FC236}">
                <a16:creationId xmlns:a16="http://schemas.microsoft.com/office/drawing/2014/main" id="{78DC60D7-2B05-BA5F-28CD-5A7CF6F6B113}"/>
              </a:ext>
            </a:extLst>
          </p:cNvPr>
          <p:cNvSpPr/>
          <p:nvPr/>
        </p:nvSpPr>
        <p:spPr>
          <a:xfrm>
            <a:off x="8533808" y="3934685"/>
            <a:ext cx="513457" cy="1921306"/>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Arrow: Up 26">
            <a:extLst>
              <a:ext uri="{FF2B5EF4-FFF2-40B4-BE49-F238E27FC236}">
                <a16:creationId xmlns:a16="http://schemas.microsoft.com/office/drawing/2014/main" id="{46A3049C-2341-96E5-681E-0ACBB03EEB05}"/>
              </a:ext>
            </a:extLst>
          </p:cNvPr>
          <p:cNvSpPr/>
          <p:nvPr/>
        </p:nvSpPr>
        <p:spPr>
          <a:xfrm>
            <a:off x="8155959" y="3934685"/>
            <a:ext cx="513457" cy="1921306"/>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Arrow: Up 25">
            <a:extLst>
              <a:ext uri="{FF2B5EF4-FFF2-40B4-BE49-F238E27FC236}">
                <a16:creationId xmlns:a16="http://schemas.microsoft.com/office/drawing/2014/main" id="{19F0FB5B-44CA-A5E4-6D26-FE147DA224AA}"/>
              </a:ext>
            </a:extLst>
          </p:cNvPr>
          <p:cNvSpPr/>
          <p:nvPr/>
        </p:nvSpPr>
        <p:spPr>
          <a:xfrm>
            <a:off x="7778109" y="3939471"/>
            <a:ext cx="513457" cy="1921306"/>
          </a:xfrm>
          <a:prstGeom prst="up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13196" y="83411"/>
            <a:ext cx="10972800" cy="708829"/>
          </a:xfrm>
        </p:spPr>
        <p:txBody>
          <a:bodyPr>
            <a:noAutofit/>
          </a:bodyPr>
          <a:lstStyle/>
          <a:p>
            <a:r>
              <a:rPr lang="en-US" dirty="0"/>
              <a:t>Components of the Color Sensor</a:t>
            </a:r>
          </a:p>
        </p:txBody>
      </p:sp>
      <p:sp>
        <p:nvSpPr>
          <p:cNvPr id="11" name="TextBox 10">
            <a:extLst>
              <a:ext uri="{FF2B5EF4-FFF2-40B4-BE49-F238E27FC236}">
                <a16:creationId xmlns:a16="http://schemas.microsoft.com/office/drawing/2014/main" id="{814FCBD6-753B-8094-5AE1-55FFB69CC2A6}"/>
              </a:ext>
            </a:extLst>
          </p:cNvPr>
          <p:cNvSpPr txBox="1"/>
          <p:nvPr/>
        </p:nvSpPr>
        <p:spPr>
          <a:xfrm>
            <a:off x="827314" y="1611086"/>
            <a:ext cx="6197600" cy="369332"/>
          </a:xfrm>
          <a:prstGeom prst="rect">
            <a:avLst/>
          </a:prstGeom>
          <a:noFill/>
        </p:spPr>
        <p:txBody>
          <a:bodyPr wrap="square" rtlCol="0">
            <a:spAutoFit/>
          </a:bodyPr>
          <a:lstStyle/>
          <a:p>
            <a:pPr marL="285750" indent="-285750">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2C6CCDA3-4146-B03B-0DA5-7B1086928455}"/>
              </a:ext>
            </a:extLst>
          </p:cNvPr>
          <p:cNvSpPr txBox="1"/>
          <p:nvPr/>
        </p:nvSpPr>
        <p:spPr>
          <a:xfrm>
            <a:off x="335414" y="1450915"/>
            <a:ext cx="6661622" cy="3108543"/>
          </a:xfrm>
          <a:prstGeom prst="rect">
            <a:avLst/>
          </a:prstGeom>
          <a:noFill/>
        </p:spPr>
        <p:txBody>
          <a:bodyPr wrap="square" rtlCol="0">
            <a:spAutoFit/>
          </a:bodyPr>
          <a:lstStyle/>
          <a:p>
            <a:pPr marL="285750" indent="-285750">
              <a:buFont typeface="Arial" panose="020B0604020202020204" pitchFamily="34" charset="0"/>
              <a:buChar char="•"/>
            </a:pPr>
            <a:r>
              <a:rPr lang="en-US" sz="2800" dirty="0"/>
              <a:t>White LED</a:t>
            </a:r>
          </a:p>
          <a:p>
            <a:pPr marL="742950" lvl="1" indent="-285750">
              <a:buFont typeface="Arial" panose="020B0604020202020204" pitchFamily="34" charset="0"/>
              <a:buChar char="•"/>
            </a:pPr>
            <a:r>
              <a:rPr lang="en-US" sz="2800" dirty="0"/>
              <a:t>Emits light for the Sensor</a:t>
            </a:r>
          </a:p>
          <a:p>
            <a:pPr marL="285750" indent="-285750">
              <a:buFont typeface="Arial" panose="020B0604020202020204" pitchFamily="34" charset="0"/>
              <a:buChar char="•"/>
            </a:pPr>
            <a:r>
              <a:rPr lang="en-US" sz="2800" dirty="0"/>
              <a:t>TCS34725 Sensor</a:t>
            </a:r>
          </a:p>
          <a:p>
            <a:pPr marL="742950" lvl="1" indent="-285750">
              <a:buFont typeface="Arial" panose="020B0604020202020204" pitchFamily="34" charset="0"/>
              <a:buChar char="•"/>
            </a:pPr>
            <a:r>
              <a:rPr lang="en-US" sz="2800" dirty="0"/>
              <a:t>Detects reflected light from the LED</a:t>
            </a:r>
          </a:p>
          <a:p>
            <a:pPr marL="285750" indent="-285750">
              <a:buFont typeface="Arial" panose="020B0604020202020204" pitchFamily="34" charset="0"/>
              <a:buChar char="•"/>
            </a:pPr>
            <a:r>
              <a:rPr lang="en-US" sz="2800" dirty="0"/>
              <a:t>LED Control Input</a:t>
            </a:r>
          </a:p>
          <a:p>
            <a:pPr marL="742950" lvl="1" indent="-285750">
              <a:buFont typeface="Arial" panose="020B0604020202020204" pitchFamily="34" charset="0"/>
              <a:buChar char="•"/>
            </a:pPr>
            <a:r>
              <a:rPr lang="en-US" sz="2800" dirty="0"/>
              <a:t>Can toggle LED on and off for detecting colors</a:t>
            </a:r>
          </a:p>
        </p:txBody>
      </p:sp>
      <p:sp>
        <p:nvSpPr>
          <p:cNvPr id="5" name="Arrow: Left 4">
            <a:extLst>
              <a:ext uri="{FF2B5EF4-FFF2-40B4-BE49-F238E27FC236}">
                <a16:creationId xmlns:a16="http://schemas.microsoft.com/office/drawing/2014/main" id="{2E3CCBDA-BA4B-1ABC-1735-73B8244EB053}"/>
              </a:ext>
            </a:extLst>
          </p:cNvPr>
          <p:cNvSpPr/>
          <p:nvPr/>
        </p:nvSpPr>
        <p:spPr>
          <a:xfrm rot="18318351">
            <a:off x="8406763" y="1098134"/>
            <a:ext cx="1634343" cy="705562"/>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E0853F4-08BF-0ABD-CD66-FF5D546A6964}"/>
              </a:ext>
            </a:extLst>
          </p:cNvPr>
          <p:cNvSpPr txBox="1"/>
          <p:nvPr/>
        </p:nvSpPr>
        <p:spPr>
          <a:xfrm rot="18356417">
            <a:off x="8634540" y="1055993"/>
            <a:ext cx="1408894" cy="415498"/>
          </a:xfrm>
          <a:prstGeom prst="rect">
            <a:avLst/>
          </a:prstGeom>
          <a:noFill/>
        </p:spPr>
        <p:txBody>
          <a:bodyPr wrap="square" rtlCol="0">
            <a:spAutoFit/>
          </a:bodyPr>
          <a:lstStyle/>
          <a:p>
            <a:r>
              <a:rPr lang="en-US" sz="2100" b="1" dirty="0">
                <a:solidFill>
                  <a:schemeClr val="bg1"/>
                </a:solidFill>
              </a:rPr>
              <a:t>White LED</a:t>
            </a:r>
          </a:p>
        </p:txBody>
      </p:sp>
      <p:sp>
        <p:nvSpPr>
          <p:cNvPr id="7" name="Arrow: Left 6">
            <a:extLst>
              <a:ext uri="{FF2B5EF4-FFF2-40B4-BE49-F238E27FC236}">
                <a16:creationId xmlns:a16="http://schemas.microsoft.com/office/drawing/2014/main" id="{A36AC644-EEFD-BB5A-297B-A189832FBA9D}"/>
              </a:ext>
            </a:extLst>
          </p:cNvPr>
          <p:cNvSpPr/>
          <p:nvPr/>
        </p:nvSpPr>
        <p:spPr>
          <a:xfrm rot="19582773">
            <a:off x="9204165" y="1414775"/>
            <a:ext cx="2386068" cy="705562"/>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A407EE1-6ACE-16DE-6B64-12525D154DB3}"/>
              </a:ext>
            </a:extLst>
          </p:cNvPr>
          <p:cNvSpPr txBox="1"/>
          <p:nvPr/>
        </p:nvSpPr>
        <p:spPr>
          <a:xfrm rot="19573098">
            <a:off x="9489624" y="1366520"/>
            <a:ext cx="2397359" cy="415498"/>
          </a:xfrm>
          <a:prstGeom prst="rect">
            <a:avLst/>
          </a:prstGeom>
          <a:noFill/>
        </p:spPr>
        <p:txBody>
          <a:bodyPr wrap="square" rtlCol="0">
            <a:spAutoFit/>
          </a:bodyPr>
          <a:lstStyle/>
          <a:p>
            <a:r>
              <a:rPr lang="en-US" sz="2100" b="1" dirty="0">
                <a:solidFill>
                  <a:schemeClr val="bg1"/>
                </a:solidFill>
              </a:rPr>
              <a:t>TCS34725 Sensor</a:t>
            </a:r>
          </a:p>
        </p:txBody>
      </p:sp>
      <p:sp>
        <p:nvSpPr>
          <p:cNvPr id="13" name="TextBox 12">
            <a:extLst>
              <a:ext uri="{FF2B5EF4-FFF2-40B4-BE49-F238E27FC236}">
                <a16:creationId xmlns:a16="http://schemas.microsoft.com/office/drawing/2014/main" id="{A95368AF-8FC3-2A1E-8D85-14F4D541500C}"/>
              </a:ext>
            </a:extLst>
          </p:cNvPr>
          <p:cNvSpPr txBox="1"/>
          <p:nvPr/>
        </p:nvSpPr>
        <p:spPr>
          <a:xfrm rot="5400000">
            <a:off x="7134672" y="4812346"/>
            <a:ext cx="1828798" cy="369332"/>
          </a:xfrm>
          <a:prstGeom prst="rect">
            <a:avLst/>
          </a:prstGeom>
          <a:noFill/>
        </p:spPr>
        <p:txBody>
          <a:bodyPr wrap="square" rtlCol="0">
            <a:spAutoFit/>
          </a:bodyPr>
          <a:lstStyle/>
          <a:p>
            <a:r>
              <a:rPr lang="en-US" dirty="0">
                <a:solidFill>
                  <a:schemeClr val="bg1"/>
                </a:solidFill>
              </a:rPr>
              <a:t>LED Control Input</a:t>
            </a:r>
          </a:p>
        </p:txBody>
      </p:sp>
      <p:sp>
        <p:nvSpPr>
          <p:cNvPr id="15" name="TextBox 14">
            <a:extLst>
              <a:ext uri="{FF2B5EF4-FFF2-40B4-BE49-F238E27FC236}">
                <a16:creationId xmlns:a16="http://schemas.microsoft.com/office/drawing/2014/main" id="{A0BD882D-78FA-B936-971E-B62BFE14CEAC}"/>
              </a:ext>
            </a:extLst>
          </p:cNvPr>
          <p:cNvSpPr txBox="1"/>
          <p:nvPr/>
        </p:nvSpPr>
        <p:spPr>
          <a:xfrm rot="5400000">
            <a:off x="7517573" y="4816005"/>
            <a:ext cx="1828798" cy="369332"/>
          </a:xfrm>
          <a:prstGeom prst="rect">
            <a:avLst/>
          </a:prstGeom>
          <a:noFill/>
        </p:spPr>
        <p:txBody>
          <a:bodyPr wrap="square" rtlCol="0">
            <a:spAutoFit/>
          </a:bodyPr>
          <a:lstStyle/>
          <a:p>
            <a:r>
              <a:rPr lang="en-US" dirty="0">
                <a:solidFill>
                  <a:schemeClr val="bg1"/>
                </a:solidFill>
              </a:rPr>
              <a:t>Interrupt Output</a:t>
            </a:r>
          </a:p>
        </p:txBody>
      </p:sp>
      <p:sp>
        <p:nvSpPr>
          <p:cNvPr id="17" name="TextBox 16">
            <a:extLst>
              <a:ext uri="{FF2B5EF4-FFF2-40B4-BE49-F238E27FC236}">
                <a16:creationId xmlns:a16="http://schemas.microsoft.com/office/drawing/2014/main" id="{0983C377-5B8E-3227-4B61-8B24C8C87AFB}"/>
              </a:ext>
            </a:extLst>
          </p:cNvPr>
          <p:cNvSpPr txBox="1"/>
          <p:nvPr/>
        </p:nvSpPr>
        <p:spPr>
          <a:xfrm rot="5400000">
            <a:off x="8289535" y="4433588"/>
            <a:ext cx="1015862" cy="369332"/>
          </a:xfrm>
          <a:prstGeom prst="rect">
            <a:avLst/>
          </a:prstGeom>
          <a:noFill/>
        </p:spPr>
        <p:txBody>
          <a:bodyPr wrap="square" rtlCol="0">
            <a:spAutoFit/>
          </a:bodyPr>
          <a:lstStyle/>
          <a:p>
            <a:r>
              <a:rPr lang="en-US" dirty="0">
                <a:solidFill>
                  <a:schemeClr val="bg1"/>
                </a:solidFill>
              </a:rPr>
              <a:t>I2C SDA</a:t>
            </a:r>
          </a:p>
        </p:txBody>
      </p:sp>
      <p:sp>
        <p:nvSpPr>
          <p:cNvPr id="19" name="TextBox 18">
            <a:extLst>
              <a:ext uri="{FF2B5EF4-FFF2-40B4-BE49-F238E27FC236}">
                <a16:creationId xmlns:a16="http://schemas.microsoft.com/office/drawing/2014/main" id="{92979274-638A-C05F-F068-38FD98F40639}"/>
              </a:ext>
            </a:extLst>
          </p:cNvPr>
          <p:cNvSpPr txBox="1"/>
          <p:nvPr/>
        </p:nvSpPr>
        <p:spPr>
          <a:xfrm rot="5400000">
            <a:off x="8662700" y="4433588"/>
            <a:ext cx="1015862" cy="369332"/>
          </a:xfrm>
          <a:prstGeom prst="rect">
            <a:avLst/>
          </a:prstGeom>
          <a:noFill/>
        </p:spPr>
        <p:txBody>
          <a:bodyPr wrap="square" rtlCol="0">
            <a:spAutoFit/>
          </a:bodyPr>
          <a:lstStyle/>
          <a:p>
            <a:r>
              <a:rPr lang="en-US" dirty="0">
                <a:solidFill>
                  <a:schemeClr val="bg1"/>
                </a:solidFill>
              </a:rPr>
              <a:t>I2C SCL</a:t>
            </a:r>
          </a:p>
        </p:txBody>
      </p:sp>
      <p:sp>
        <p:nvSpPr>
          <p:cNvPr id="21" name="TextBox 20">
            <a:extLst>
              <a:ext uri="{FF2B5EF4-FFF2-40B4-BE49-F238E27FC236}">
                <a16:creationId xmlns:a16="http://schemas.microsoft.com/office/drawing/2014/main" id="{D1352DAE-904E-A861-0DE0-30435A9072BC}"/>
              </a:ext>
            </a:extLst>
          </p:cNvPr>
          <p:cNvSpPr txBox="1"/>
          <p:nvPr/>
        </p:nvSpPr>
        <p:spPr>
          <a:xfrm rot="5400000">
            <a:off x="8671197" y="4800320"/>
            <a:ext cx="1749327" cy="369332"/>
          </a:xfrm>
          <a:prstGeom prst="rect">
            <a:avLst/>
          </a:prstGeom>
          <a:noFill/>
        </p:spPr>
        <p:txBody>
          <a:bodyPr wrap="square" rtlCol="0">
            <a:spAutoFit/>
          </a:bodyPr>
          <a:lstStyle/>
          <a:p>
            <a:r>
              <a:rPr lang="en-US" dirty="0">
                <a:solidFill>
                  <a:schemeClr val="bg1"/>
                </a:solidFill>
              </a:rPr>
              <a:t>3.3V Output</a:t>
            </a:r>
          </a:p>
        </p:txBody>
      </p:sp>
      <p:sp>
        <p:nvSpPr>
          <p:cNvPr id="23" name="TextBox 22">
            <a:extLst>
              <a:ext uri="{FF2B5EF4-FFF2-40B4-BE49-F238E27FC236}">
                <a16:creationId xmlns:a16="http://schemas.microsoft.com/office/drawing/2014/main" id="{B7EA8304-3288-A49E-3D37-97048FD5CEBB}"/>
              </a:ext>
            </a:extLst>
          </p:cNvPr>
          <p:cNvSpPr txBox="1"/>
          <p:nvPr/>
        </p:nvSpPr>
        <p:spPr>
          <a:xfrm rot="5400000">
            <a:off x="9424953" y="4437247"/>
            <a:ext cx="1015862" cy="369332"/>
          </a:xfrm>
          <a:prstGeom prst="rect">
            <a:avLst/>
          </a:prstGeom>
          <a:noFill/>
        </p:spPr>
        <p:txBody>
          <a:bodyPr wrap="square" rtlCol="0">
            <a:spAutoFit/>
          </a:bodyPr>
          <a:lstStyle/>
          <a:p>
            <a:r>
              <a:rPr lang="en-US" dirty="0">
                <a:solidFill>
                  <a:schemeClr val="bg1"/>
                </a:solidFill>
              </a:rPr>
              <a:t>Ground</a:t>
            </a:r>
          </a:p>
        </p:txBody>
      </p:sp>
      <p:sp>
        <p:nvSpPr>
          <p:cNvPr id="25" name="TextBox 24">
            <a:extLst>
              <a:ext uri="{FF2B5EF4-FFF2-40B4-BE49-F238E27FC236}">
                <a16:creationId xmlns:a16="http://schemas.microsoft.com/office/drawing/2014/main" id="{C5F83E9B-6B4A-140F-8ED0-5B88828E9BB5}"/>
              </a:ext>
            </a:extLst>
          </p:cNvPr>
          <p:cNvSpPr txBox="1"/>
          <p:nvPr/>
        </p:nvSpPr>
        <p:spPr>
          <a:xfrm rot="5400000">
            <a:off x="9449533" y="4807247"/>
            <a:ext cx="1728154" cy="369332"/>
          </a:xfrm>
          <a:prstGeom prst="rect">
            <a:avLst/>
          </a:prstGeom>
          <a:noFill/>
        </p:spPr>
        <p:txBody>
          <a:bodyPr wrap="square" rtlCol="0">
            <a:spAutoFit/>
          </a:bodyPr>
          <a:lstStyle/>
          <a:p>
            <a:r>
              <a:rPr lang="en-US" dirty="0">
                <a:solidFill>
                  <a:schemeClr val="bg1"/>
                </a:solidFill>
              </a:rPr>
              <a:t>Voltage In 3.3V</a:t>
            </a:r>
          </a:p>
        </p:txBody>
      </p:sp>
    </p:spTree>
    <p:extLst>
      <p:ext uri="{BB962C8B-B14F-4D97-AF65-F5344CB8AC3E}">
        <p14:creationId xmlns:p14="http://schemas.microsoft.com/office/powerpoint/2010/main" val="1166268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09600" y="73695"/>
            <a:ext cx="10972800" cy="1143000"/>
          </a:xfrm>
        </p:spPr>
        <p:txBody>
          <a:bodyPr/>
          <a:lstStyle/>
          <a:p>
            <a:r>
              <a:rPr lang="en-US" dirty="0"/>
              <a:t>What is an RGB LED?</a:t>
            </a:r>
          </a:p>
        </p:txBody>
      </p:sp>
      <p:pic>
        <p:nvPicPr>
          <p:cNvPr id="1026" name="Picture 2" descr="RGB Led - LEDs and Multiplexing - Arduino Forum">
            <a:extLst>
              <a:ext uri="{FF2B5EF4-FFF2-40B4-BE49-F238E27FC236}">
                <a16:creationId xmlns:a16="http://schemas.microsoft.com/office/drawing/2014/main" id="{823A0AEB-C39A-02A3-3059-B9540A0CD0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44436" y="645195"/>
            <a:ext cx="2266071" cy="226607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562B4E5-D479-1911-DBB8-6664349D1BCF}"/>
              </a:ext>
            </a:extLst>
          </p:cNvPr>
          <p:cNvSpPr txBox="1"/>
          <p:nvPr/>
        </p:nvSpPr>
        <p:spPr>
          <a:xfrm>
            <a:off x="613196" y="1325842"/>
            <a:ext cx="5791200"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Red, Green, and Blue (RGB) Light Emitting Diode (LED) has the ability to produce any combination of red, green, and blue light</a:t>
            </a:r>
          </a:p>
          <a:p>
            <a:pPr marL="285750" indent="-285750">
              <a:buFont typeface="Arial" panose="020B0604020202020204" pitchFamily="34" charset="0"/>
              <a:buChar char="•"/>
            </a:pPr>
            <a:r>
              <a:rPr lang="en-US" sz="2800" dirty="0"/>
              <a:t>Common uses</a:t>
            </a:r>
          </a:p>
          <a:p>
            <a:pPr marL="742950" lvl="1" indent="-285750">
              <a:buFont typeface="Arial" panose="020B0604020202020204" pitchFamily="34" charset="0"/>
              <a:buChar char="•"/>
            </a:pPr>
            <a:r>
              <a:rPr lang="en-US" sz="2800" dirty="0"/>
              <a:t>Decorations indoor/outdoor</a:t>
            </a:r>
          </a:p>
          <a:p>
            <a:pPr marL="742950" lvl="1" indent="-285750">
              <a:buFont typeface="Arial" panose="020B0604020202020204" pitchFamily="34" charset="0"/>
              <a:buChar char="•"/>
            </a:pPr>
            <a:r>
              <a:rPr lang="en-US" sz="2800" dirty="0"/>
              <a:t>Stage lighting</a:t>
            </a:r>
          </a:p>
          <a:p>
            <a:pPr marL="742950" lvl="1" indent="-285750">
              <a:buFont typeface="Arial" panose="020B0604020202020204" pitchFamily="34" charset="0"/>
              <a:buChar char="•"/>
            </a:pPr>
            <a:r>
              <a:rPr lang="en-US" sz="2800" dirty="0"/>
              <a:t>LED matrix displays</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endParaRPr lang="en-US" sz="2800" dirty="0"/>
          </a:p>
        </p:txBody>
      </p:sp>
      <p:grpSp>
        <p:nvGrpSpPr>
          <p:cNvPr id="4" name="Group 3">
            <a:extLst>
              <a:ext uri="{FF2B5EF4-FFF2-40B4-BE49-F238E27FC236}">
                <a16:creationId xmlns:a16="http://schemas.microsoft.com/office/drawing/2014/main" id="{4986B7C9-0E48-B8F7-9287-2C84C0B63B30}"/>
              </a:ext>
            </a:extLst>
          </p:cNvPr>
          <p:cNvGrpSpPr/>
          <p:nvPr/>
        </p:nvGrpSpPr>
        <p:grpSpPr>
          <a:xfrm>
            <a:off x="10075204" y="1788195"/>
            <a:ext cx="1503600" cy="3942048"/>
            <a:chOff x="9956347" y="727700"/>
            <a:chExt cx="1503600" cy="3942048"/>
          </a:xfrm>
        </p:grpSpPr>
        <p:pic>
          <p:nvPicPr>
            <p:cNvPr id="5" name="Picture 4" descr="A close-up of a light bulb&#10;&#10;Description automatically generated">
              <a:extLst>
                <a:ext uri="{FF2B5EF4-FFF2-40B4-BE49-F238E27FC236}">
                  <a16:creationId xmlns:a16="http://schemas.microsoft.com/office/drawing/2014/main" id="{14DEE2BE-6085-90E4-EA31-ED897B62233A}"/>
                </a:ext>
              </a:extLst>
            </p:cNvPr>
            <p:cNvPicPr>
              <a:picLocks noChangeAspect="1"/>
            </p:cNvPicPr>
            <p:nvPr/>
          </p:nvPicPr>
          <p:blipFill rotWithShape="1">
            <a:blip r:embed="rId4">
              <a:extLst>
                <a:ext uri="{28A0092B-C50C-407E-A947-70E740481C1C}">
                  <a14:useLocalDpi xmlns:a14="http://schemas.microsoft.com/office/drawing/2010/main" val="0"/>
                </a:ext>
              </a:extLst>
            </a:blip>
            <a:srcRect l="42618" r="34611"/>
            <a:stretch/>
          </p:blipFill>
          <p:spPr>
            <a:xfrm>
              <a:off x="9956347" y="727700"/>
              <a:ext cx="1503600" cy="3621106"/>
            </a:xfrm>
            <a:prstGeom prst="rect">
              <a:avLst/>
            </a:prstGeom>
          </p:spPr>
        </p:pic>
        <p:sp>
          <p:nvSpPr>
            <p:cNvPr id="6" name="TextBox 5">
              <a:extLst>
                <a:ext uri="{FF2B5EF4-FFF2-40B4-BE49-F238E27FC236}">
                  <a16:creationId xmlns:a16="http://schemas.microsoft.com/office/drawing/2014/main" id="{84BBBE10-797B-2088-BCF5-94609A2CE02F}"/>
                </a:ext>
              </a:extLst>
            </p:cNvPr>
            <p:cNvSpPr txBox="1"/>
            <p:nvPr/>
          </p:nvSpPr>
          <p:spPr>
            <a:xfrm rot="16200000">
              <a:off x="9815935" y="3005991"/>
              <a:ext cx="976288" cy="415498"/>
            </a:xfrm>
            <a:prstGeom prst="rect">
              <a:avLst/>
            </a:prstGeom>
            <a:noFill/>
          </p:spPr>
          <p:txBody>
            <a:bodyPr wrap="square" rtlCol="0">
              <a:spAutoFit/>
            </a:bodyPr>
            <a:lstStyle/>
            <a:p>
              <a:r>
                <a:rPr lang="en-US" sz="2100" b="1" dirty="0">
                  <a:solidFill>
                    <a:srgbClr val="FF0000"/>
                  </a:solidFill>
                </a:rPr>
                <a:t>Red</a:t>
              </a:r>
            </a:p>
          </p:txBody>
        </p:sp>
        <p:sp>
          <p:nvSpPr>
            <p:cNvPr id="7" name="TextBox 6">
              <a:extLst>
                <a:ext uri="{FF2B5EF4-FFF2-40B4-BE49-F238E27FC236}">
                  <a16:creationId xmlns:a16="http://schemas.microsoft.com/office/drawing/2014/main" id="{0A8B5588-AB02-8B81-FA6F-3666FF2EE56F}"/>
                </a:ext>
              </a:extLst>
            </p:cNvPr>
            <p:cNvSpPr txBox="1"/>
            <p:nvPr/>
          </p:nvSpPr>
          <p:spPr>
            <a:xfrm rot="16200000">
              <a:off x="9995181" y="3879250"/>
              <a:ext cx="1165499" cy="415498"/>
            </a:xfrm>
            <a:prstGeom prst="rect">
              <a:avLst/>
            </a:prstGeom>
            <a:noFill/>
          </p:spPr>
          <p:txBody>
            <a:bodyPr wrap="square" rtlCol="0">
              <a:spAutoFit/>
            </a:bodyPr>
            <a:lstStyle/>
            <a:p>
              <a:r>
                <a:rPr lang="en-US" sz="2100" b="1" dirty="0"/>
                <a:t>Ground</a:t>
              </a:r>
            </a:p>
          </p:txBody>
        </p:sp>
        <p:sp>
          <p:nvSpPr>
            <p:cNvPr id="8" name="TextBox 7">
              <a:extLst>
                <a:ext uri="{FF2B5EF4-FFF2-40B4-BE49-F238E27FC236}">
                  <a16:creationId xmlns:a16="http://schemas.microsoft.com/office/drawing/2014/main" id="{12320BE7-1EAA-2533-B575-D8D642BC955F}"/>
                </a:ext>
              </a:extLst>
            </p:cNvPr>
            <p:cNvSpPr txBox="1"/>
            <p:nvPr/>
          </p:nvSpPr>
          <p:spPr>
            <a:xfrm rot="16200000">
              <a:off x="10364581" y="3243477"/>
              <a:ext cx="976288" cy="415498"/>
            </a:xfrm>
            <a:prstGeom prst="rect">
              <a:avLst/>
            </a:prstGeom>
            <a:noFill/>
          </p:spPr>
          <p:txBody>
            <a:bodyPr wrap="square" rtlCol="0">
              <a:spAutoFit/>
            </a:bodyPr>
            <a:lstStyle/>
            <a:p>
              <a:r>
                <a:rPr lang="en-US" sz="2100" b="1" dirty="0">
                  <a:solidFill>
                    <a:srgbClr val="00B050"/>
                  </a:solidFill>
                </a:rPr>
                <a:t>Green</a:t>
              </a:r>
            </a:p>
          </p:txBody>
        </p:sp>
        <p:sp>
          <p:nvSpPr>
            <p:cNvPr id="9" name="TextBox 8">
              <a:extLst>
                <a:ext uri="{FF2B5EF4-FFF2-40B4-BE49-F238E27FC236}">
                  <a16:creationId xmlns:a16="http://schemas.microsoft.com/office/drawing/2014/main" id="{CFE40CE0-4213-DD79-7382-7814F94A1036}"/>
                </a:ext>
              </a:extLst>
            </p:cNvPr>
            <p:cNvSpPr txBox="1"/>
            <p:nvPr/>
          </p:nvSpPr>
          <p:spPr>
            <a:xfrm rot="16200000">
              <a:off x="10642350" y="2807023"/>
              <a:ext cx="976288" cy="415498"/>
            </a:xfrm>
            <a:prstGeom prst="rect">
              <a:avLst/>
            </a:prstGeom>
            <a:noFill/>
          </p:spPr>
          <p:txBody>
            <a:bodyPr wrap="square" rtlCol="0">
              <a:spAutoFit/>
            </a:bodyPr>
            <a:lstStyle/>
            <a:p>
              <a:r>
                <a:rPr lang="en-US" sz="2100" b="1" dirty="0">
                  <a:solidFill>
                    <a:schemeClr val="accent1"/>
                  </a:solidFill>
                </a:rPr>
                <a:t>Blue</a:t>
              </a:r>
            </a:p>
          </p:txBody>
        </p:sp>
      </p:grpSp>
    </p:spTree>
    <p:extLst>
      <p:ext uri="{BB962C8B-B14F-4D97-AF65-F5344CB8AC3E}">
        <p14:creationId xmlns:p14="http://schemas.microsoft.com/office/powerpoint/2010/main" val="3543019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ircuit board with wires connected to it&#10;&#10;Description automatically generated">
            <a:extLst>
              <a:ext uri="{FF2B5EF4-FFF2-40B4-BE49-F238E27FC236}">
                <a16:creationId xmlns:a16="http://schemas.microsoft.com/office/drawing/2014/main" id="{A15A183D-6ABB-4084-CDEA-AF8FA26AE963}"/>
              </a:ext>
            </a:extLst>
          </p:cNvPr>
          <p:cNvPicPr>
            <a:picLocks noChangeAspect="1"/>
          </p:cNvPicPr>
          <p:nvPr/>
        </p:nvPicPr>
        <p:blipFill rotWithShape="1">
          <a:blip r:embed="rId3">
            <a:extLst>
              <a:ext uri="{28A0092B-C50C-407E-A947-70E740481C1C}">
                <a14:useLocalDpi xmlns:a14="http://schemas.microsoft.com/office/drawing/2010/main" val="0"/>
              </a:ext>
            </a:extLst>
          </a:blip>
          <a:srcRect r="49482"/>
          <a:stretch/>
        </p:blipFill>
        <p:spPr>
          <a:xfrm rot="16200000">
            <a:off x="3688573" y="-41764"/>
            <a:ext cx="4848122" cy="6709504"/>
          </a:xfrm>
          <a:prstGeom prst="rect">
            <a:avLst/>
          </a:prstGeom>
        </p:spPr>
      </p:pic>
      <p:grpSp>
        <p:nvGrpSpPr>
          <p:cNvPr id="3" name="Group 2">
            <a:extLst>
              <a:ext uri="{FF2B5EF4-FFF2-40B4-BE49-F238E27FC236}">
                <a16:creationId xmlns:a16="http://schemas.microsoft.com/office/drawing/2014/main" id="{0154D33E-20E1-7220-A70B-CE54DB215157}"/>
              </a:ext>
            </a:extLst>
          </p:cNvPr>
          <p:cNvGrpSpPr>
            <a:grpSpLocks noChangeAspect="1"/>
          </p:cNvGrpSpPr>
          <p:nvPr/>
        </p:nvGrpSpPr>
        <p:grpSpPr>
          <a:xfrm>
            <a:off x="9793983" y="1314119"/>
            <a:ext cx="1624573" cy="4259208"/>
            <a:chOff x="9956347" y="727700"/>
            <a:chExt cx="1503600" cy="3942048"/>
          </a:xfrm>
        </p:grpSpPr>
        <p:pic>
          <p:nvPicPr>
            <p:cNvPr id="7" name="Picture 6" descr="A close-up of a light bulb&#10;&#10;Description automatically generated">
              <a:extLst>
                <a:ext uri="{FF2B5EF4-FFF2-40B4-BE49-F238E27FC236}">
                  <a16:creationId xmlns:a16="http://schemas.microsoft.com/office/drawing/2014/main" id="{C4833694-41A5-C0E0-2708-1F29D1DDAED1}"/>
                </a:ext>
              </a:extLst>
            </p:cNvPr>
            <p:cNvPicPr>
              <a:picLocks noChangeAspect="1"/>
            </p:cNvPicPr>
            <p:nvPr/>
          </p:nvPicPr>
          <p:blipFill rotWithShape="1">
            <a:blip r:embed="rId4">
              <a:extLst>
                <a:ext uri="{28A0092B-C50C-407E-A947-70E740481C1C}">
                  <a14:useLocalDpi xmlns:a14="http://schemas.microsoft.com/office/drawing/2010/main" val="0"/>
                </a:ext>
              </a:extLst>
            </a:blip>
            <a:srcRect l="42618" r="34611"/>
            <a:stretch/>
          </p:blipFill>
          <p:spPr>
            <a:xfrm>
              <a:off x="9956347" y="727700"/>
              <a:ext cx="1503600" cy="3621106"/>
            </a:xfrm>
            <a:prstGeom prst="rect">
              <a:avLst/>
            </a:prstGeom>
          </p:spPr>
        </p:pic>
        <p:sp>
          <p:nvSpPr>
            <p:cNvPr id="22" name="TextBox 21">
              <a:extLst>
                <a:ext uri="{FF2B5EF4-FFF2-40B4-BE49-F238E27FC236}">
                  <a16:creationId xmlns:a16="http://schemas.microsoft.com/office/drawing/2014/main" id="{72B9DB4F-FDD0-BF9E-2C74-1BB6B94B1F84}"/>
                </a:ext>
              </a:extLst>
            </p:cNvPr>
            <p:cNvSpPr txBox="1"/>
            <p:nvPr/>
          </p:nvSpPr>
          <p:spPr>
            <a:xfrm rot="16200000">
              <a:off x="9815935" y="3005991"/>
              <a:ext cx="976288" cy="415498"/>
            </a:xfrm>
            <a:prstGeom prst="rect">
              <a:avLst/>
            </a:prstGeom>
            <a:noFill/>
          </p:spPr>
          <p:txBody>
            <a:bodyPr wrap="square" rtlCol="0">
              <a:spAutoFit/>
            </a:bodyPr>
            <a:lstStyle/>
            <a:p>
              <a:r>
                <a:rPr lang="en-US" sz="2100" b="1" dirty="0">
                  <a:solidFill>
                    <a:srgbClr val="FF0000"/>
                  </a:solidFill>
                </a:rPr>
                <a:t>Red</a:t>
              </a:r>
            </a:p>
          </p:txBody>
        </p:sp>
        <p:sp>
          <p:nvSpPr>
            <p:cNvPr id="24" name="TextBox 23">
              <a:extLst>
                <a:ext uri="{FF2B5EF4-FFF2-40B4-BE49-F238E27FC236}">
                  <a16:creationId xmlns:a16="http://schemas.microsoft.com/office/drawing/2014/main" id="{B4AD1D05-48A3-C5E6-2D73-36F9054487B2}"/>
                </a:ext>
              </a:extLst>
            </p:cNvPr>
            <p:cNvSpPr txBox="1"/>
            <p:nvPr/>
          </p:nvSpPr>
          <p:spPr>
            <a:xfrm rot="16200000">
              <a:off x="9995181" y="3879250"/>
              <a:ext cx="1165499" cy="415498"/>
            </a:xfrm>
            <a:prstGeom prst="rect">
              <a:avLst/>
            </a:prstGeom>
            <a:noFill/>
          </p:spPr>
          <p:txBody>
            <a:bodyPr wrap="square" rtlCol="0">
              <a:spAutoFit/>
            </a:bodyPr>
            <a:lstStyle/>
            <a:p>
              <a:r>
                <a:rPr lang="en-US" sz="2100" b="1" dirty="0"/>
                <a:t>Ground</a:t>
              </a:r>
            </a:p>
          </p:txBody>
        </p:sp>
        <p:sp>
          <p:nvSpPr>
            <p:cNvPr id="26" name="TextBox 25">
              <a:extLst>
                <a:ext uri="{FF2B5EF4-FFF2-40B4-BE49-F238E27FC236}">
                  <a16:creationId xmlns:a16="http://schemas.microsoft.com/office/drawing/2014/main" id="{D0D0FDCD-EF6C-D8FC-1039-44EC7F9969D3}"/>
                </a:ext>
              </a:extLst>
            </p:cNvPr>
            <p:cNvSpPr txBox="1"/>
            <p:nvPr/>
          </p:nvSpPr>
          <p:spPr>
            <a:xfrm rot="16200000">
              <a:off x="10364581" y="3243477"/>
              <a:ext cx="976288" cy="415498"/>
            </a:xfrm>
            <a:prstGeom prst="rect">
              <a:avLst/>
            </a:prstGeom>
            <a:noFill/>
          </p:spPr>
          <p:txBody>
            <a:bodyPr wrap="square" rtlCol="0">
              <a:spAutoFit/>
            </a:bodyPr>
            <a:lstStyle/>
            <a:p>
              <a:r>
                <a:rPr lang="en-US" sz="2100" b="1" dirty="0">
                  <a:solidFill>
                    <a:srgbClr val="00B050"/>
                  </a:solidFill>
                </a:rPr>
                <a:t>Green</a:t>
              </a:r>
            </a:p>
          </p:txBody>
        </p:sp>
        <p:sp>
          <p:nvSpPr>
            <p:cNvPr id="27" name="TextBox 26">
              <a:extLst>
                <a:ext uri="{FF2B5EF4-FFF2-40B4-BE49-F238E27FC236}">
                  <a16:creationId xmlns:a16="http://schemas.microsoft.com/office/drawing/2014/main" id="{552D9194-7097-9C33-EB4D-18A38546E80B}"/>
                </a:ext>
              </a:extLst>
            </p:cNvPr>
            <p:cNvSpPr txBox="1"/>
            <p:nvPr/>
          </p:nvSpPr>
          <p:spPr>
            <a:xfrm rot="16200000">
              <a:off x="10642350" y="2807023"/>
              <a:ext cx="976288" cy="415498"/>
            </a:xfrm>
            <a:prstGeom prst="rect">
              <a:avLst/>
            </a:prstGeom>
            <a:noFill/>
          </p:spPr>
          <p:txBody>
            <a:bodyPr wrap="square" rtlCol="0">
              <a:spAutoFit/>
            </a:bodyPr>
            <a:lstStyle/>
            <a:p>
              <a:r>
                <a:rPr lang="en-US" sz="2100" b="1" dirty="0">
                  <a:solidFill>
                    <a:schemeClr val="accent1"/>
                  </a:solidFill>
                </a:rPr>
                <a:t>Blue</a:t>
              </a:r>
            </a:p>
          </p:txBody>
        </p:sp>
      </p:grpSp>
      <p:sp>
        <p:nvSpPr>
          <p:cNvPr id="18" name="Arrow: Left 17">
            <a:extLst>
              <a:ext uri="{FF2B5EF4-FFF2-40B4-BE49-F238E27FC236}">
                <a16:creationId xmlns:a16="http://schemas.microsoft.com/office/drawing/2014/main" id="{82EE67CD-EB8D-4D67-AE30-522921AA09B2}"/>
              </a:ext>
            </a:extLst>
          </p:cNvPr>
          <p:cNvSpPr/>
          <p:nvPr/>
        </p:nvSpPr>
        <p:spPr>
          <a:xfrm rot="10563011">
            <a:off x="1614276" y="3042701"/>
            <a:ext cx="1131376" cy="573437"/>
          </a:xfrm>
          <a:prstGeom prst="leftArrow">
            <a:avLst/>
          </a:prstGeom>
          <a:solidFill>
            <a:srgbClr val="1EC62F"/>
          </a:solidFill>
          <a:ln>
            <a:solidFill>
              <a:srgbClr val="1EC6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09599" y="-71731"/>
            <a:ext cx="10972800" cy="1143000"/>
          </a:xfrm>
        </p:spPr>
        <p:txBody>
          <a:bodyPr/>
          <a:lstStyle/>
          <a:p>
            <a:r>
              <a:rPr lang="en-US" dirty="0"/>
              <a:t>Circuit Diagram</a:t>
            </a:r>
          </a:p>
        </p:txBody>
      </p:sp>
      <p:sp>
        <p:nvSpPr>
          <p:cNvPr id="8" name="Arrow: Left 7">
            <a:extLst>
              <a:ext uri="{FF2B5EF4-FFF2-40B4-BE49-F238E27FC236}">
                <a16:creationId xmlns:a16="http://schemas.microsoft.com/office/drawing/2014/main" id="{9D81F128-850A-70FD-D00B-C81442438199}"/>
              </a:ext>
            </a:extLst>
          </p:cNvPr>
          <p:cNvSpPr/>
          <p:nvPr/>
        </p:nvSpPr>
        <p:spPr>
          <a:xfrm rot="3104247">
            <a:off x="7441568" y="2144164"/>
            <a:ext cx="1201116" cy="648992"/>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18D341-BD9F-7AB6-BF46-21C924418079}"/>
              </a:ext>
            </a:extLst>
          </p:cNvPr>
          <p:cNvSpPr txBox="1"/>
          <p:nvPr/>
        </p:nvSpPr>
        <p:spPr>
          <a:xfrm rot="3104247">
            <a:off x="7692867" y="2387177"/>
            <a:ext cx="883403" cy="415498"/>
          </a:xfrm>
          <a:prstGeom prst="rect">
            <a:avLst/>
          </a:prstGeom>
          <a:noFill/>
        </p:spPr>
        <p:txBody>
          <a:bodyPr wrap="square" rtlCol="0">
            <a:spAutoFit/>
          </a:bodyPr>
          <a:lstStyle/>
          <a:p>
            <a:r>
              <a:rPr lang="en-US" sz="2100" b="1" dirty="0">
                <a:solidFill>
                  <a:schemeClr val="bg1"/>
                </a:solidFill>
              </a:rPr>
              <a:t>220 </a:t>
            </a:r>
            <a:r>
              <a:rPr lang="el-GR" sz="2100" b="1" dirty="0">
                <a:solidFill>
                  <a:schemeClr val="bg1"/>
                </a:solidFill>
              </a:rPr>
              <a:t>Ω</a:t>
            </a:r>
            <a:endParaRPr lang="en-US" sz="2100" b="1" dirty="0">
              <a:solidFill>
                <a:schemeClr val="bg1"/>
              </a:solidFill>
            </a:endParaRPr>
          </a:p>
        </p:txBody>
      </p:sp>
      <p:sp>
        <p:nvSpPr>
          <p:cNvPr id="11" name="Arrow: Left 10">
            <a:extLst>
              <a:ext uri="{FF2B5EF4-FFF2-40B4-BE49-F238E27FC236}">
                <a16:creationId xmlns:a16="http://schemas.microsoft.com/office/drawing/2014/main" id="{8CDA3D25-6EDF-9026-EE92-51FEBF7DF997}"/>
              </a:ext>
            </a:extLst>
          </p:cNvPr>
          <p:cNvSpPr>
            <a:spLocks/>
          </p:cNvSpPr>
          <p:nvPr/>
        </p:nvSpPr>
        <p:spPr>
          <a:xfrm rot="7908928">
            <a:off x="1840521" y="4355480"/>
            <a:ext cx="1131376" cy="573437"/>
          </a:xfrm>
          <a:prstGeom prst="leftArrow">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
        <p:nvSpPr>
          <p:cNvPr id="13" name="TextBox 12">
            <a:extLst>
              <a:ext uri="{FF2B5EF4-FFF2-40B4-BE49-F238E27FC236}">
                <a16:creationId xmlns:a16="http://schemas.microsoft.com/office/drawing/2014/main" id="{DBF8CB71-E243-4BAD-766E-A0C073A03B7E}"/>
              </a:ext>
            </a:extLst>
          </p:cNvPr>
          <p:cNvSpPr txBox="1">
            <a:spLocks/>
          </p:cNvSpPr>
          <p:nvPr/>
        </p:nvSpPr>
        <p:spPr>
          <a:xfrm rot="18825342">
            <a:off x="2051918" y="4348964"/>
            <a:ext cx="883403" cy="415498"/>
          </a:xfrm>
          <a:prstGeom prst="rect">
            <a:avLst/>
          </a:prstGeom>
          <a:noFill/>
        </p:spPr>
        <p:txBody>
          <a:bodyPr wrap="square" rtlCol="0">
            <a:spAutoFit/>
          </a:bodyPr>
          <a:lstStyle/>
          <a:p>
            <a:r>
              <a:rPr lang="en-US" sz="2100" b="1" dirty="0"/>
              <a:t>SDA</a:t>
            </a:r>
          </a:p>
        </p:txBody>
      </p:sp>
      <p:sp>
        <p:nvSpPr>
          <p:cNvPr id="14" name="Arrow: Left 13">
            <a:extLst>
              <a:ext uri="{FF2B5EF4-FFF2-40B4-BE49-F238E27FC236}">
                <a16:creationId xmlns:a16="http://schemas.microsoft.com/office/drawing/2014/main" id="{6DF50197-3AB5-546F-C664-883E86E7C071}"/>
              </a:ext>
            </a:extLst>
          </p:cNvPr>
          <p:cNvSpPr/>
          <p:nvPr/>
        </p:nvSpPr>
        <p:spPr>
          <a:xfrm rot="8209556">
            <a:off x="1867597" y="3726919"/>
            <a:ext cx="1131376" cy="573437"/>
          </a:xfrm>
          <a:prstGeom prst="leftArrow">
            <a:avLst/>
          </a:prstGeom>
          <a:solidFill>
            <a:schemeClr val="accent1"/>
          </a:solidFill>
          <a:ln>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
        <p:nvSpPr>
          <p:cNvPr id="15" name="TextBox 14">
            <a:extLst>
              <a:ext uri="{FF2B5EF4-FFF2-40B4-BE49-F238E27FC236}">
                <a16:creationId xmlns:a16="http://schemas.microsoft.com/office/drawing/2014/main" id="{3CF0701D-7454-806C-5449-4A97E376CA65}"/>
              </a:ext>
            </a:extLst>
          </p:cNvPr>
          <p:cNvSpPr txBox="1"/>
          <p:nvPr/>
        </p:nvSpPr>
        <p:spPr>
          <a:xfrm rot="21391510">
            <a:off x="1670346" y="3128223"/>
            <a:ext cx="976288" cy="415498"/>
          </a:xfrm>
          <a:prstGeom prst="rect">
            <a:avLst/>
          </a:prstGeom>
          <a:noFill/>
        </p:spPr>
        <p:txBody>
          <a:bodyPr wrap="square" rtlCol="0">
            <a:spAutoFit/>
          </a:bodyPr>
          <a:lstStyle/>
          <a:p>
            <a:r>
              <a:rPr lang="en-US" sz="2100" b="1" dirty="0"/>
              <a:t>Pin 10</a:t>
            </a:r>
          </a:p>
        </p:txBody>
      </p:sp>
      <p:sp>
        <p:nvSpPr>
          <p:cNvPr id="19" name="Arrow: Left 18">
            <a:extLst>
              <a:ext uri="{FF2B5EF4-FFF2-40B4-BE49-F238E27FC236}">
                <a16:creationId xmlns:a16="http://schemas.microsoft.com/office/drawing/2014/main" id="{0A43322E-499F-C7F6-A8FD-D0B3750D6A14}"/>
              </a:ext>
            </a:extLst>
          </p:cNvPr>
          <p:cNvSpPr>
            <a:spLocks/>
          </p:cNvSpPr>
          <p:nvPr/>
        </p:nvSpPr>
        <p:spPr>
          <a:xfrm rot="13768144">
            <a:off x="1907773" y="2313704"/>
            <a:ext cx="1131376" cy="573437"/>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
        <p:nvSpPr>
          <p:cNvPr id="21" name="TextBox 20">
            <a:extLst>
              <a:ext uri="{FF2B5EF4-FFF2-40B4-BE49-F238E27FC236}">
                <a16:creationId xmlns:a16="http://schemas.microsoft.com/office/drawing/2014/main" id="{50EFA542-043B-7FF0-83C9-ABD65D0A50D6}"/>
              </a:ext>
            </a:extLst>
          </p:cNvPr>
          <p:cNvSpPr txBox="1">
            <a:spLocks/>
          </p:cNvSpPr>
          <p:nvPr/>
        </p:nvSpPr>
        <p:spPr>
          <a:xfrm rot="3023764">
            <a:off x="2043947" y="2395348"/>
            <a:ext cx="883403" cy="415498"/>
          </a:xfrm>
          <a:prstGeom prst="rect">
            <a:avLst/>
          </a:prstGeom>
          <a:noFill/>
        </p:spPr>
        <p:txBody>
          <a:bodyPr wrap="square" rtlCol="0">
            <a:spAutoFit/>
          </a:bodyPr>
          <a:lstStyle/>
          <a:p>
            <a:r>
              <a:rPr lang="en-US" sz="2100" b="1" dirty="0">
                <a:solidFill>
                  <a:schemeClr val="bg1"/>
                </a:solidFill>
              </a:rPr>
              <a:t>Pin 9</a:t>
            </a:r>
          </a:p>
        </p:txBody>
      </p:sp>
      <p:sp>
        <p:nvSpPr>
          <p:cNvPr id="23" name="Arrow: Left 22">
            <a:extLst>
              <a:ext uri="{FF2B5EF4-FFF2-40B4-BE49-F238E27FC236}">
                <a16:creationId xmlns:a16="http://schemas.microsoft.com/office/drawing/2014/main" id="{3C0107CF-0947-5F17-EDF1-35980DF4BFE8}"/>
              </a:ext>
            </a:extLst>
          </p:cNvPr>
          <p:cNvSpPr/>
          <p:nvPr/>
        </p:nvSpPr>
        <p:spPr>
          <a:xfrm>
            <a:off x="6184534" y="2713102"/>
            <a:ext cx="1039955" cy="573437"/>
          </a:xfrm>
          <a:prstGeom prst="lef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
        <p:nvSpPr>
          <p:cNvPr id="25" name="TextBox 24">
            <a:extLst>
              <a:ext uri="{FF2B5EF4-FFF2-40B4-BE49-F238E27FC236}">
                <a16:creationId xmlns:a16="http://schemas.microsoft.com/office/drawing/2014/main" id="{D74F1097-6CC5-66B6-2FC3-7F79C5E36B77}"/>
              </a:ext>
            </a:extLst>
          </p:cNvPr>
          <p:cNvSpPr txBox="1"/>
          <p:nvPr/>
        </p:nvSpPr>
        <p:spPr>
          <a:xfrm>
            <a:off x="6436326" y="2798135"/>
            <a:ext cx="883403" cy="415498"/>
          </a:xfrm>
          <a:prstGeom prst="rect">
            <a:avLst/>
          </a:prstGeom>
          <a:noFill/>
        </p:spPr>
        <p:txBody>
          <a:bodyPr wrap="square" rtlCol="0">
            <a:spAutoFit/>
          </a:bodyPr>
          <a:lstStyle/>
          <a:p>
            <a:r>
              <a:rPr lang="en-US" sz="2100" b="1" dirty="0">
                <a:solidFill>
                  <a:schemeClr val="bg1"/>
                </a:solidFill>
              </a:rPr>
              <a:t>GND</a:t>
            </a:r>
          </a:p>
        </p:txBody>
      </p:sp>
      <p:sp>
        <p:nvSpPr>
          <p:cNvPr id="10" name="Arrow: Left 9">
            <a:extLst>
              <a:ext uri="{FF2B5EF4-FFF2-40B4-BE49-F238E27FC236}">
                <a16:creationId xmlns:a16="http://schemas.microsoft.com/office/drawing/2014/main" id="{3778DFF4-DDBA-8E71-34E2-98CB48264375}"/>
              </a:ext>
            </a:extLst>
          </p:cNvPr>
          <p:cNvSpPr>
            <a:spLocks/>
          </p:cNvSpPr>
          <p:nvPr/>
        </p:nvSpPr>
        <p:spPr>
          <a:xfrm rot="2888662">
            <a:off x="2739433" y="4496220"/>
            <a:ext cx="1131376" cy="573437"/>
          </a:xfrm>
          <a:prstGeom prst="leftArrow">
            <a:avLst/>
          </a:prstGeom>
          <a:solidFill>
            <a:srgbClr val="1EC62F"/>
          </a:solidFill>
          <a:ln>
            <a:solidFill>
              <a:srgbClr val="1EC6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
        <p:nvSpPr>
          <p:cNvPr id="12" name="TextBox 11">
            <a:extLst>
              <a:ext uri="{FF2B5EF4-FFF2-40B4-BE49-F238E27FC236}">
                <a16:creationId xmlns:a16="http://schemas.microsoft.com/office/drawing/2014/main" id="{1D910014-9791-3C2C-F3A2-AE836F6984E4}"/>
              </a:ext>
            </a:extLst>
          </p:cNvPr>
          <p:cNvSpPr txBox="1">
            <a:spLocks/>
          </p:cNvSpPr>
          <p:nvPr/>
        </p:nvSpPr>
        <p:spPr>
          <a:xfrm rot="2903646">
            <a:off x="2947101" y="4652013"/>
            <a:ext cx="883403" cy="415498"/>
          </a:xfrm>
          <a:prstGeom prst="rect">
            <a:avLst/>
          </a:prstGeom>
          <a:noFill/>
        </p:spPr>
        <p:txBody>
          <a:bodyPr wrap="square" rtlCol="0">
            <a:spAutoFit/>
          </a:bodyPr>
          <a:lstStyle/>
          <a:p>
            <a:r>
              <a:rPr lang="en-US" sz="2100" b="1" dirty="0"/>
              <a:t>SCL</a:t>
            </a:r>
          </a:p>
        </p:txBody>
      </p:sp>
      <p:sp>
        <p:nvSpPr>
          <p:cNvPr id="16" name="Arrow: Left 15">
            <a:extLst>
              <a:ext uri="{FF2B5EF4-FFF2-40B4-BE49-F238E27FC236}">
                <a16:creationId xmlns:a16="http://schemas.microsoft.com/office/drawing/2014/main" id="{A6F87044-02DA-2EDA-5403-F4CF5661949F}"/>
              </a:ext>
            </a:extLst>
          </p:cNvPr>
          <p:cNvSpPr/>
          <p:nvPr/>
        </p:nvSpPr>
        <p:spPr>
          <a:xfrm rot="2823052">
            <a:off x="6184534" y="3486130"/>
            <a:ext cx="1039955" cy="573437"/>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
        <p:nvSpPr>
          <p:cNvPr id="17" name="TextBox 16">
            <a:extLst>
              <a:ext uri="{FF2B5EF4-FFF2-40B4-BE49-F238E27FC236}">
                <a16:creationId xmlns:a16="http://schemas.microsoft.com/office/drawing/2014/main" id="{65B4CAEE-F78A-C59D-259E-07E604CDEDD9}"/>
              </a:ext>
            </a:extLst>
          </p:cNvPr>
          <p:cNvSpPr txBox="1"/>
          <p:nvPr/>
        </p:nvSpPr>
        <p:spPr>
          <a:xfrm rot="2841910">
            <a:off x="6403358" y="3701641"/>
            <a:ext cx="883403" cy="415498"/>
          </a:xfrm>
          <a:prstGeom prst="rect">
            <a:avLst/>
          </a:prstGeom>
          <a:noFill/>
        </p:spPr>
        <p:txBody>
          <a:bodyPr wrap="square" rtlCol="0">
            <a:spAutoFit/>
          </a:bodyPr>
          <a:lstStyle/>
          <a:p>
            <a:r>
              <a:rPr lang="en-US" sz="2100" b="1" dirty="0">
                <a:solidFill>
                  <a:schemeClr val="bg1"/>
                </a:solidFill>
              </a:rPr>
              <a:t>3.3V</a:t>
            </a:r>
          </a:p>
        </p:txBody>
      </p:sp>
      <p:sp>
        <p:nvSpPr>
          <p:cNvPr id="20" name="TextBox 19">
            <a:extLst>
              <a:ext uri="{FF2B5EF4-FFF2-40B4-BE49-F238E27FC236}">
                <a16:creationId xmlns:a16="http://schemas.microsoft.com/office/drawing/2014/main" id="{8FF8A067-C7D3-C729-DFF8-C90B8F7E7285}"/>
              </a:ext>
            </a:extLst>
          </p:cNvPr>
          <p:cNvSpPr txBox="1"/>
          <p:nvPr/>
        </p:nvSpPr>
        <p:spPr>
          <a:xfrm rot="18953626">
            <a:off x="1922069" y="3839999"/>
            <a:ext cx="883403" cy="415498"/>
          </a:xfrm>
          <a:prstGeom prst="rect">
            <a:avLst/>
          </a:prstGeom>
          <a:noFill/>
        </p:spPr>
        <p:txBody>
          <a:bodyPr wrap="square" rtlCol="0">
            <a:spAutoFit/>
          </a:bodyPr>
          <a:lstStyle/>
          <a:p>
            <a:r>
              <a:rPr lang="en-US" sz="2100" b="1" dirty="0"/>
              <a:t>Pin 11</a:t>
            </a:r>
          </a:p>
        </p:txBody>
      </p:sp>
    </p:spTree>
    <p:extLst>
      <p:ext uri="{BB962C8B-B14F-4D97-AF65-F5344CB8AC3E}">
        <p14:creationId xmlns:p14="http://schemas.microsoft.com/office/powerpoint/2010/main" val="4015371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A screenshot of a computer&#10;&#10;Description automatically generated">
            <a:extLst>
              <a:ext uri="{FF2B5EF4-FFF2-40B4-BE49-F238E27FC236}">
                <a16:creationId xmlns:a16="http://schemas.microsoft.com/office/drawing/2014/main" id="{494A85E2-FCB4-EA11-68D4-FCB07D804A5C}"/>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256569" y="669821"/>
            <a:ext cx="9678860" cy="5073253"/>
          </a:xfrm>
          <a:prstGeom prst="rect">
            <a:avLst/>
          </a:prstGeom>
        </p:spPr>
      </p:pic>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09599" y="30814"/>
            <a:ext cx="10972800" cy="639007"/>
          </a:xfrm>
        </p:spPr>
        <p:txBody>
          <a:bodyPr>
            <a:noAutofit/>
          </a:bodyPr>
          <a:lstStyle/>
          <a:p>
            <a:r>
              <a:rPr lang="en-US" dirty="0"/>
              <a:t>Installing Necessary Libraries</a:t>
            </a:r>
          </a:p>
        </p:txBody>
      </p:sp>
      <p:sp>
        <p:nvSpPr>
          <p:cNvPr id="12" name="Arrow: Left 11">
            <a:extLst>
              <a:ext uri="{FF2B5EF4-FFF2-40B4-BE49-F238E27FC236}">
                <a16:creationId xmlns:a16="http://schemas.microsoft.com/office/drawing/2014/main" id="{83B73897-720D-CBDF-48C9-896621BF00B2}"/>
              </a:ext>
            </a:extLst>
          </p:cNvPr>
          <p:cNvSpPr/>
          <p:nvPr/>
        </p:nvSpPr>
        <p:spPr>
          <a:xfrm>
            <a:off x="1570231" y="1932875"/>
            <a:ext cx="1993692" cy="509666"/>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1.) Click Libraries</a:t>
            </a:r>
          </a:p>
        </p:txBody>
      </p:sp>
      <p:sp>
        <p:nvSpPr>
          <p:cNvPr id="13" name="Arrow: Left 12">
            <a:extLst>
              <a:ext uri="{FF2B5EF4-FFF2-40B4-BE49-F238E27FC236}">
                <a16:creationId xmlns:a16="http://schemas.microsoft.com/office/drawing/2014/main" id="{DC8571C9-48DE-46C7-49BC-6D45EBADE049}"/>
              </a:ext>
            </a:extLst>
          </p:cNvPr>
          <p:cNvSpPr/>
          <p:nvPr/>
        </p:nvSpPr>
        <p:spPr>
          <a:xfrm>
            <a:off x="2247771" y="1308214"/>
            <a:ext cx="2954300" cy="509666"/>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2.) Search for the TCS34725</a:t>
            </a:r>
          </a:p>
        </p:txBody>
      </p:sp>
    </p:spTree>
    <p:extLst>
      <p:ext uri="{BB962C8B-B14F-4D97-AF65-F5344CB8AC3E}">
        <p14:creationId xmlns:p14="http://schemas.microsoft.com/office/powerpoint/2010/main" val="3162623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09599" y="30814"/>
            <a:ext cx="10972800" cy="639007"/>
          </a:xfrm>
        </p:spPr>
        <p:txBody>
          <a:bodyPr>
            <a:noAutofit/>
          </a:bodyPr>
          <a:lstStyle/>
          <a:p>
            <a:r>
              <a:rPr lang="en-US" dirty="0"/>
              <a:t>Installing Necessary Libraries</a:t>
            </a:r>
          </a:p>
        </p:txBody>
      </p:sp>
      <p:pic>
        <p:nvPicPr>
          <p:cNvPr id="11" name="Picture 10" descr="A screenshot of a computer&#10;&#10;Description automatically generated">
            <a:extLst>
              <a:ext uri="{FF2B5EF4-FFF2-40B4-BE49-F238E27FC236}">
                <a16:creationId xmlns:a16="http://schemas.microsoft.com/office/drawing/2014/main" id="{004986D8-6689-CFAA-88F2-BAEC0035179D}"/>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255438" y="669821"/>
            <a:ext cx="9681122" cy="5074439"/>
          </a:xfrm>
          <a:prstGeom prst="rect">
            <a:avLst/>
          </a:prstGeom>
        </p:spPr>
      </p:pic>
      <p:sp>
        <p:nvSpPr>
          <p:cNvPr id="14" name="Oval 13">
            <a:extLst>
              <a:ext uri="{FF2B5EF4-FFF2-40B4-BE49-F238E27FC236}">
                <a16:creationId xmlns:a16="http://schemas.microsoft.com/office/drawing/2014/main" id="{914CEDD8-94AF-0657-77C9-E69DC67AACDB}"/>
              </a:ext>
            </a:extLst>
          </p:cNvPr>
          <p:cNvSpPr/>
          <p:nvPr/>
        </p:nvSpPr>
        <p:spPr>
          <a:xfrm>
            <a:off x="1570231" y="2557536"/>
            <a:ext cx="1165595" cy="398206"/>
          </a:xfrm>
          <a:prstGeom prst="ellipse">
            <a:avLst/>
          </a:prstGeom>
          <a:noFill/>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b="1"/>
          </a:p>
        </p:txBody>
      </p:sp>
      <p:sp>
        <p:nvSpPr>
          <p:cNvPr id="15" name="Arrow: Left 14">
            <a:extLst>
              <a:ext uri="{FF2B5EF4-FFF2-40B4-BE49-F238E27FC236}">
                <a16:creationId xmlns:a16="http://schemas.microsoft.com/office/drawing/2014/main" id="{176FC709-FBF4-87A9-7261-B67ECAA53765}"/>
              </a:ext>
            </a:extLst>
          </p:cNvPr>
          <p:cNvSpPr/>
          <p:nvPr/>
        </p:nvSpPr>
        <p:spPr>
          <a:xfrm>
            <a:off x="2791889" y="2501806"/>
            <a:ext cx="4648672" cy="509666"/>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3.) Scroll down to find the Adafruit TCS34725</a:t>
            </a:r>
          </a:p>
        </p:txBody>
      </p:sp>
      <p:sp>
        <p:nvSpPr>
          <p:cNvPr id="16" name="Arrow: Left 15">
            <a:extLst>
              <a:ext uri="{FF2B5EF4-FFF2-40B4-BE49-F238E27FC236}">
                <a16:creationId xmlns:a16="http://schemas.microsoft.com/office/drawing/2014/main" id="{7B99F0C7-DA08-61ED-858C-12B84B776FD8}"/>
              </a:ext>
            </a:extLst>
          </p:cNvPr>
          <p:cNvSpPr/>
          <p:nvPr/>
        </p:nvSpPr>
        <p:spPr>
          <a:xfrm>
            <a:off x="2909877" y="3299269"/>
            <a:ext cx="1993692" cy="509666"/>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4.) Click INSTALL</a:t>
            </a:r>
          </a:p>
        </p:txBody>
      </p:sp>
    </p:spTree>
    <p:extLst>
      <p:ext uri="{BB962C8B-B14F-4D97-AF65-F5344CB8AC3E}">
        <p14:creationId xmlns:p14="http://schemas.microsoft.com/office/powerpoint/2010/main" val="3899789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a:extLst>
              <a:ext uri="{FF2B5EF4-FFF2-40B4-BE49-F238E27FC236}">
                <a16:creationId xmlns:a16="http://schemas.microsoft.com/office/drawing/2014/main" id="{0C6644FB-4646-CB0B-EB35-C27FE209A39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246405" y="669821"/>
            <a:ext cx="9699188" cy="5087633"/>
          </a:xfrm>
          <a:prstGeom prst="rect">
            <a:avLst/>
          </a:prstGeom>
        </p:spPr>
      </p:pic>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09599" y="30814"/>
            <a:ext cx="10972800" cy="639007"/>
          </a:xfrm>
        </p:spPr>
        <p:txBody>
          <a:bodyPr>
            <a:noAutofit/>
          </a:bodyPr>
          <a:lstStyle/>
          <a:p>
            <a:r>
              <a:rPr lang="en-US" dirty="0"/>
              <a:t>Installing Necessary Libraries</a:t>
            </a:r>
          </a:p>
        </p:txBody>
      </p:sp>
      <p:sp>
        <p:nvSpPr>
          <p:cNvPr id="16" name="Arrow: Left 15">
            <a:extLst>
              <a:ext uri="{FF2B5EF4-FFF2-40B4-BE49-F238E27FC236}">
                <a16:creationId xmlns:a16="http://schemas.microsoft.com/office/drawing/2014/main" id="{7B99F0C7-DA08-61ED-858C-12B84B776FD8}"/>
              </a:ext>
            </a:extLst>
          </p:cNvPr>
          <p:cNvSpPr/>
          <p:nvPr/>
        </p:nvSpPr>
        <p:spPr>
          <a:xfrm>
            <a:off x="7977177" y="3501828"/>
            <a:ext cx="2292194" cy="509666"/>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5.) Click INSTALL ALL</a:t>
            </a:r>
          </a:p>
        </p:txBody>
      </p:sp>
    </p:spTree>
    <p:extLst>
      <p:ext uri="{BB962C8B-B14F-4D97-AF65-F5344CB8AC3E}">
        <p14:creationId xmlns:p14="http://schemas.microsoft.com/office/powerpoint/2010/main" val="4163564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1B38BABD-F97B-378A-E78C-10FBDAB257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9036" y="669821"/>
            <a:ext cx="9593928" cy="5057211"/>
          </a:xfrm>
          <a:prstGeom prst="rect">
            <a:avLst/>
          </a:prstGeom>
        </p:spPr>
      </p:pic>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09599" y="30814"/>
            <a:ext cx="10972800" cy="639007"/>
          </a:xfrm>
        </p:spPr>
        <p:txBody>
          <a:bodyPr>
            <a:noAutofit/>
          </a:bodyPr>
          <a:lstStyle/>
          <a:p>
            <a:r>
              <a:rPr lang="en-US" dirty="0"/>
              <a:t>Installing Necessary Libraries</a:t>
            </a:r>
          </a:p>
        </p:txBody>
      </p:sp>
      <p:sp>
        <p:nvSpPr>
          <p:cNvPr id="16" name="Arrow: Left 15">
            <a:extLst>
              <a:ext uri="{FF2B5EF4-FFF2-40B4-BE49-F238E27FC236}">
                <a16:creationId xmlns:a16="http://schemas.microsoft.com/office/drawing/2014/main" id="{7B99F0C7-DA08-61ED-858C-12B84B776FD8}"/>
              </a:ext>
            </a:extLst>
          </p:cNvPr>
          <p:cNvSpPr/>
          <p:nvPr/>
        </p:nvSpPr>
        <p:spPr>
          <a:xfrm flipH="1">
            <a:off x="1989221" y="5073954"/>
            <a:ext cx="5167983" cy="509666"/>
          </a:xfrm>
          <a:prstGeom prst="lef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6.) Make sure the library was successfully installed</a:t>
            </a:r>
          </a:p>
        </p:txBody>
      </p:sp>
    </p:spTree>
    <p:extLst>
      <p:ext uri="{BB962C8B-B14F-4D97-AF65-F5344CB8AC3E}">
        <p14:creationId xmlns:p14="http://schemas.microsoft.com/office/powerpoint/2010/main" val="3783431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09599" y="30814"/>
            <a:ext cx="10972800" cy="639007"/>
          </a:xfrm>
        </p:spPr>
        <p:txBody>
          <a:bodyPr>
            <a:noAutofit/>
          </a:bodyPr>
          <a:lstStyle/>
          <a:p>
            <a:r>
              <a:rPr lang="en-US" dirty="0"/>
              <a:t>Coding</a:t>
            </a:r>
          </a:p>
        </p:txBody>
      </p:sp>
      <p:grpSp>
        <p:nvGrpSpPr>
          <p:cNvPr id="3" name="Group 2">
            <a:extLst>
              <a:ext uri="{FF2B5EF4-FFF2-40B4-BE49-F238E27FC236}">
                <a16:creationId xmlns:a16="http://schemas.microsoft.com/office/drawing/2014/main" id="{B39DD8B5-797E-0154-B3B9-333D7AA91336}"/>
              </a:ext>
            </a:extLst>
          </p:cNvPr>
          <p:cNvGrpSpPr>
            <a:grpSpLocks noChangeAspect="1"/>
          </p:cNvGrpSpPr>
          <p:nvPr/>
        </p:nvGrpSpPr>
        <p:grpSpPr>
          <a:xfrm>
            <a:off x="147655" y="1054871"/>
            <a:ext cx="10972800" cy="4573141"/>
            <a:chOff x="147654" y="669821"/>
            <a:chExt cx="11896689" cy="4958191"/>
          </a:xfrm>
        </p:grpSpPr>
        <p:pic>
          <p:nvPicPr>
            <p:cNvPr id="4" name="Picture 3" descr="A screenshot of a computer&#10;&#10;Description automatically generated">
              <a:extLst>
                <a:ext uri="{FF2B5EF4-FFF2-40B4-BE49-F238E27FC236}">
                  <a16:creationId xmlns:a16="http://schemas.microsoft.com/office/drawing/2014/main" id="{2F498258-D734-D490-E333-7C3A3113D674}"/>
                </a:ext>
              </a:extLst>
            </p:cNvPr>
            <p:cNvPicPr>
              <a:picLocks noChangeAspect="1"/>
            </p:cNvPicPr>
            <p:nvPr/>
          </p:nvPicPr>
          <p:blipFill rotWithShape="1">
            <a:blip r:embed="rId3">
              <a:extLst>
                <a:ext uri="{28A0092B-C50C-407E-A947-70E740481C1C}">
                  <a14:useLocalDpi xmlns:a14="http://schemas.microsoft.com/office/drawing/2010/main" val="0"/>
                </a:ext>
              </a:extLst>
            </a:blip>
            <a:srcRect t="1" b="20657"/>
            <a:stretch/>
          </p:blipFill>
          <p:spPr>
            <a:xfrm>
              <a:off x="147654" y="669821"/>
              <a:ext cx="11896689" cy="4958191"/>
            </a:xfrm>
            <a:prstGeom prst="rect">
              <a:avLst/>
            </a:prstGeom>
            <a:ln>
              <a:solidFill>
                <a:schemeClr val="tx1"/>
              </a:solidFill>
            </a:ln>
          </p:spPr>
        </p:pic>
        <p:pic>
          <p:nvPicPr>
            <p:cNvPr id="7" name="Picture 6">
              <a:extLst>
                <a:ext uri="{FF2B5EF4-FFF2-40B4-BE49-F238E27FC236}">
                  <a16:creationId xmlns:a16="http://schemas.microsoft.com/office/drawing/2014/main" id="{E7835489-667E-6346-A327-1904FC7FDBA2}"/>
                </a:ext>
              </a:extLst>
            </p:cNvPr>
            <p:cNvPicPr>
              <a:picLocks noChangeAspect="1"/>
            </p:cNvPicPr>
            <p:nvPr/>
          </p:nvPicPr>
          <p:blipFill>
            <a:blip r:embed="rId4"/>
            <a:stretch>
              <a:fillRect/>
            </a:stretch>
          </p:blipFill>
          <p:spPr>
            <a:xfrm>
              <a:off x="2528695" y="3117429"/>
              <a:ext cx="753121" cy="255445"/>
            </a:xfrm>
            <a:prstGeom prst="rect">
              <a:avLst/>
            </a:prstGeom>
          </p:spPr>
        </p:pic>
        <p:pic>
          <p:nvPicPr>
            <p:cNvPr id="8" name="Picture 7">
              <a:extLst>
                <a:ext uri="{FF2B5EF4-FFF2-40B4-BE49-F238E27FC236}">
                  <a16:creationId xmlns:a16="http://schemas.microsoft.com/office/drawing/2014/main" id="{7A3CD114-365D-B60A-4814-F8090A77460F}"/>
                </a:ext>
              </a:extLst>
            </p:cNvPr>
            <p:cNvPicPr>
              <a:picLocks noChangeAspect="1"/>
            </p:cNvPicPr>
            <p:nvPr/>
          </p:nvPicPr>
          <p:blipFill>
            <a:blip r:embed="rId4"/>
            <a:stretch>
              <a:fillRect/>
            </a:stretch>
          </p:blipFill>
          <p:spPr>
            <a:xfrm>
              <a:off x="2935235" y="4102285"/>
              <a:ext cx="753121" cy="255445"/>
            </a:xfrm>
            <a:prstGeom prst="rect">
              <a:avLst/>
            </a:prstGeom>
          </p:spPr>
        </p:pic>
        <p:pic>
          <p:nvPicPr>
            <p:cNvPr id="9" name="Picture 8">
              <a:extLst>
                <a:ext uri="{FF2B5EF4-FFF2-40B4-BE49-F238E27FC236}">
                  <a16:creationId xmlns:a16="http://schemas.microsoft.com/office/drawing/2014/main" id="{17E137E0-06C4-E6BD-EBA4-258CDA444B58}"/>
                </a:ext>
              </a:extLst>
            </p:cNvPr>
            <p:cNvPicPr>
              <a:picLocks noChangeAspect="1"/>
            </p:cNvPicPr>
            <p:nvPr/>
          </p:nvPicPr>
          <p:blipFill>
            <a:blip r:embed="rId4"/>
            <a:stretch>
              <a:fillRect/>
            </a:stretch>
          </p:blipFill>
          <p:spPr>
            <a:xfrm>
              <a:off x="2618634" y="4788587"/>
              <a:ext cx="753121" cy="255445"/>
            </a:xfrm>
            <a:prstGeom prst="rect">
              <a:avLst/>
            </a:prstGeom>
          </p:spPr>
        </p:pic>
      </p:grpSp>
    </p:spTree>
    <p:extLst>
      <p:ext uri="{BB962C8B-B14F-4D97-AF65-F5344CB8AC3E}">
        <p14:creationId xmlns:p14="http://schemas.microsoft.com/office/powerpoint/2010/main" val="1299141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09599" y="30814"/>
            <a:ext cx="10972800" cy="639007"/>
          </a:xfrm>
        </p:spPr>
        <p:txBody>
          <a:bodyPr>
            <a:noAutofit/>
          </a:bodyPr>
          <a:lstStyle/>
          <a:p>
            <a:r>
              <a:rPr lang="en-US" dirty="0"/>
              <a:t>Coding</a:t>
            </a:r>
          </a:p>
        </p:txBody>
      </p:sp>
      <p:grpSp>
        <p:nvGrpSpPr>
          <p:cNvPr id="3" name="Group 2">
            <a:extLst>
              <a:ext uri="{FF2B5EF4-FFF2-40B4-BE49-F238E27FC236}">
                <a16:creationId xmlns:a16="http://schemas.microsoft.com/office/drawing/2014/main" id="{B8FFC755-6E35-9656-EE9B-A7DEEA042E6C}"/>
              </a:ext>
            </a:extLst>
          </p:cNvPr>
          <p:cNvGrpSpPr>
            <a:grpSpLocks noChangeAspect="1"/>
          </p:cNvGrpSpPr>
          <p:nvPr/>
        </p:nvGrpSpPr>
        <p:grpSpPr>
          <a:xfrm>
            <a:off x="126862" y="1106209"/>
            <a:ext cx="10785977" cy="4084769"/>
            <a:chOff x="126862" y="669821"/>
            <a:chExt cx="11938275" cy="4521157"/>
          </a:xfrm>
        </p:grpSpPr>
        <p:pic>
          <p:nvPicPr>
            <p:cNvPr id="4" name="Picture 3" descr="A screenshot of a computer&#10;&#10;Description automatically generated">
              <a:extLst>
                <a:ext uri="{FF2B5EF4-FFF2-40B4-BE49-F238E27FC236}">
                  <a16:creationId xmlns:a16="http://schemas.microsoft.com/office/drawing/2014/main" id="{24F05197-1530-B090-B8CC-D3330CB55680}"/>
                </a:ext>
              </a:extLst>
            </p:cNvPr>
            <p:cNvPicPr>
              <a:picLocks noChangeAspect="1"/>
            </p:cNvPicPr>
            <p:nvPr/>
          </p:nvPicPr>
          <p:blipFill rotWithShape="1">
            <a:blip r:embed="rId3">
              <a:extLst>
                <a:ext uri="{28A0092B-C50C-407E-A947-70E740481C1C}">
                  <a14:useLocalDpi xmlns:a14="http://schemas.microsoft.com/office/drawing/2010/main" val="0"/>
                </a:ext>
              </a:extLst>
            </a:blip>
            <a:srcRect b="28103"/>
            <a:stretch/>
          </p:blipFill>
          <p:spPr>
            <a:xfrm>
              <a:off x="126862" y="669821"/>
              <a:ext cx="11938275" cy="4521157"/>
            </a:xfrm>
            <a:prstGeom prst="rect">
              <a:avLst/>
            </a:prstGeom>
            <a:ln>
              <a:solidFill>
                <a:schemeClr val="tx1"/>
              </a:solidFill>
            </a:ln>
          </p:spPr>
        </p:pic>
        <p:pic>
          <p:nvPicPr>
            <p:cNvPr id="8" name="Picture 7">
              <a:extLst>
                <a:ext uri="{FF2B5EF4-FFF2-40B4-BE49-F238E27FC236}">
                  <a16:creationId xmlns:a16="http://schemas.microsoft.com/office/drawing/2014/main" id="{7A3CD114-365D-B60A-4814-F8090A77460F}"/>
                </a:ext>
              </a:extLst>
            </p:cNvPr>
            <p:cNvPicPr>
              <a:picLocks noChangeAspect="1"/>
            </p:cNvPicPr>
            <p:nvPr/>
          </p:nvPicPr>
          <p:blipFill>
            <a:blip r:embed="rId4"/>
            <a:stretch>
              <a:fillRect/>
            </a:stretch>
          </p:blipFill>
          <p:spPr>
            <a:xfrm>
              <a:off x="3086560" y="3665708"/>
              <a:ext cx="753121" cy="255445"/>
            </a:xfrm>
            <a:prstGeom prst="rect">
              <a:avLst/>
            </a:prstGeom>
          </p:spPr>
        </p:pic>
        <p:pic>
          <p:nvPicPr>
            <p:cNvPr id="9" name="Picture 8">
              <a:extLst>
                <a:ext uri="{FF2B5EF4-FFF2-40B4-BE49-F238E27FC236}">
                  <a16:creationId xmlns:a16="http://schemas.microsoft.com/office/drawing/2014/main" id="{17E137E0-06C4-E6BD-EBA4-258CDA444B58}"/>
                </a:ext>
              </a:extLst>
            </p:cNvPr>
            <p:cNvPicPr>
              <a:picLocks noChangeAspect="1"/>
            </p:cNvPicPr>
            <p:nvPr/>
          </p:nvPicPr>
          <p:blipFill>
            <a:blip r:embed="rId4"/>
            <a:stretch>
              <a:fillRect/>
            </a:stretch>
          </p:blipFill>
          <p:spPr>
            <a:xfrm>
              <a:off x="3086559" y="3338707"/>
              <a:ext cx="753121" cy="255445"/>
            </a:xfrm>
            <a:prstGeom prst="rect">
              <a:avLst/>
            </a:prstGeom>
          </p:spPr>
        </p:pic>
      </p:grpSp>
    </p:spTree>
    <p:extLst>
      <p:ext uri="{BB962C8B-B14F-4D97-AF65-F5344CB8AC3E}">
        <p14:creationId xmlns:p14="http://schemas.microsoft.com/office/powerpoint/2010/main" val="1057057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09599" y="30814"/>
            <a:ext cx="10972800" cy="639007"/>
          </a:xfrm>
        </p:spPr>
        <p:txBody>
          <a:bodyPr>
            <a:noAutofit/>
          </a:bodyPr>
          <a:lstStyle/>
          <a:p>
            <a:r>
              <a:rPr lang="en-US" dirty="0"/>
              <a:t>Coding</a:t>
            </a:r>
          </a:p>
        </p:txBody>
      </p:sp>
      <p:grpSp>
        <p:nvGrpSpPr>
          <p:cNvPr id="3" name="Group 2">
            <a:extLst>
              <a:ext uri="{FF2B5EF4-FFF2-40B4-BE49-F238E27FC236}">
                <a16:creationId xmlns:a16="http://schemas.microsoft.com/office/drawing/2014/main" id="{1073DB79-FFBB-9F85-3F60-2EFDCBE2EB03}"/>
              </a:ext>
            </a:extLst>
          </p:cNvPr>
          <p:cNvGrpSpPr/>
          <p:nvPr/>
        </p:nvGrpSpPr>
        <p:grpSpPr>
          <a:xfrm>
            <a:off x="160873" y="1142705"/>
            <a:ext cx="11870252" cy="2754697"/>
            <a:chOff x="160873" y="1142705"/>
            <a:chExt cx="11870252" cy="2754697"/>
          </a:xfrm>
        </p:grpSpPr>
        <p:pic>
          <p:nvPicPr>
            <p:cNvPr id="4" name="Picture 3" descr="A screenshot of a computer&#10;&#10;Description automatically generated">
              <a:extLst>
                <a:ext uri="{FF2B5EF4-FFF2-40B4-BE49-F238E27FC236}">
                  <a16:creationId xmlns:a16="http://schemas.microsoft.com/office/drawing/2014/main" id="{C4516074-C3AE-A86C-0692-3D4FAB7411D5}"/>
                </a:ext>
              </a:extLst>
            </p:cNvPr>
            <p:cNvPicPr>
              <a:picLocks noChangeAspect="1"/>
            </p:cNvPicPr>
            <p:nvPr/>
          </p:nvPicPr>
          <p:blipFill rotWithShape="1">
            <a:blip r:embed="rId3">
              <a:extLst>
                <a:ext uri="{28A0092B-C50C-407E-A947-70E740481C1C}">
                  <a14:useLocalDpi xmlns:a14="http://schemas.microsoft.com/office/drawing/2010/main" val="0"/>
                </a:ext>
              </a:extLst>
            </a:blip>
            <a:srcRect b="55696"/>
            <a:stretch/>
          </p:blipFill>
          <p:spPr>
            <a:xfrm>
              <a:off x="160873" y="1142705"/>
              <a:ext cx="11870252" cy="2754697"/>
            </a:xfrm>
            <a:prstGeom prst="rect">
              <a:avLst/>
            </a:prstGeom>
            <a:ln>
              <a:solidFill>
                <a:schemeClr val="tx1"/>
              </a:solidFill>
            </a:ln>
          </p:spPr>
        </p:pic>
        <p:pic>
          <p:nvPicPr>
            <p:cNvPr id="9" name="Picture 8">
              <a:extLst>
                <a:ext uri="{FF2B5EF4-FFF2-40B4-BE49-F238E27FC236}">
                  <a16:creationId xmlns:a16="http://schemas.microsoft.com/office/drawing/2014/main" id="{17E137E0-06C4-E6BD-EBA4-258CDA444B58}"/>
                </a:ext>
              </a:extLst>
            </p:cNvPr>
            <p:cNvPicPr>
              <a:picLocks noChangeAspect="1"/>
            </p:cNvPicPr>
            <p:nvPr/>
          </p:nvPicPr>
          <p:blipFill>
            <a:blip r:embed="rId4"/>
            <a:stretch>
              <a:fillRect/>
            </a:stretch>
          </p:blipFill>
          <p:spPr>
            <a:xfrm>
              <a:off x="3559799" y="3241616"/>
              <a:ext cx="753121" cy="255445"/>
            </a:xfrm>
            <a:prstGeom prst="rect">
              <a:avLst/>
            </a:prstGeom>
          </p:spPr>
        </p:pic>
      </p:grpSp>
    </p:spTree>
    <p:extLst>
      <p:ext uri="{BB962C8B-B14F-4D97-AF65-F5344CB8AC3E}">
        <p14:creationId xmlns:p14="http://schemas.microsoft.com/office/powerpoint/2010/main" val="1595312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8FA56F5-0585-1421-7DEA-AA9EF1394779}"/>
              </a:ext>
            </a:extLst>
          </p:cNvPr>
          <p:cNvSpPr txBox="1">
            <a:spLocks/>
          </p:cNvSpPr>
          <p:nvPr/>
        </p:nvSpPr>
        <p:spPr>
          <a:xfrm>
            <a:off x="609600" y="0"/>
            <a:ext cx="10972800" cy="639007"/>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Coding</a:t>
            </a:r>
          </a:p>
        </p:txBody>
      </p:sp>
      <p:grpSp>
        <p:nvGrpSpPr>
          <p:cNvPr id="4" name="Group 3">
            <a:extLst>
              <a:ext uri="{FF2B5EF4-FFF2-40B4-BE49-F238E27FC236}">
                <a16:creationId xmlns:a16="http://schemas.microsoft.com/office/drawing/2014/main" id="{2C561419-9CD8-93EA-E4DF-BE26FE13B4EB}"/>
              </a:ext>
            </a:extLst>
          </p:cNvPr>
          <p:cNvGrpSpPr>
            <a:grpSpLocks noChangeAspect="1"/>
          </p:cNvGrpSpPr>
          <p:nvPr/>
        </p:nvGrpSpPr>
        <p:grpSpPr>
          <a:xfrm>
            <a:off x="131955" y="1032707"/>
            <a:ext cx="10972800" cy="4522178"/>
            <a:chOff x="131954" y="639007"/>
            <a:chExt cx="11928091" cy="4915878"/>
          </a:xfrm>
        </p:grpSpPr>
        <p:pic>
          <p:nvPicPr>
            <p:cNvPr id="3" name="Picture 2" descr="A screenshot of a computer&#10;&#10;Description automatically generated">
              <a:extLst>
                <a:ext uri="{FF2B5EF4-FFF2-40B4-BE49-F238E27FC236}">
                  <a16:creationId xmlns:a16="http://schemas.microsoft.com/office/drawing/2014/main" id="{1852E688-68B4-7E3C-9970-902B362C8AF1}"/>
                </a:ext>
              </a:extLst>
            </p:cNvPr>
            <p:cNvPicPr>
              <a:picLocks noChangeAspect="1"/>
            </p:cNvPicPr>
            <p:nvPr/>
          </p:nvPicPr>
          <p:blipFill rotWithShape="1">
            <a:blip r:embed="rId3">
              <a:extLst>
                <a:ext uri="{28A0092B-C50C-407E-A947-70E740481C1C}">
                  <a14:useLocalDpi xmlns:a14="http://schemas.microsoft.com/office/drawing/2010/main" val="0"/>
                </a:ext>
              </a:extLst>
            </a:blip>
            <a:srcRect t="21541"/>
            <a:stretch/>
          </p:blipFill>
          <p:spPr>
            <a:xfrm>
              <a:off x="131954" y="639007"/>
              <a:ext cx="11928091" cy="4915878"/>
            </a:xfrm>
            <a:prstGeom prst="rect">
              <a:avLst/>
            </a:prstGeom>
            <a:ln>
              <a:solidFill>
                <a:schemeClr val="tx1"/>
              </a:solidFill>
            </a:ln>
          </p:spPr>
        </p:pic>
        <p:pic>
          <p:nvPicPr>
            <p:cNvPr id="6" name="Picture 5">
              <a:extLst>
                <a:ext uri="{FF2B5EF4-FFF2-40B4-BE49-F238E27FC236}">
                  <a16:creationId xmlns:a16="http://schemas.microsoft.com/office/drawing/2014/main" id="{29C9ABD1-1BF7-95A2-A10A-33F067115A80}"/>
                </a:ext>
              </a:extLst>
            </p:cNvPr>
            <p:cNvPicPr>
              <a:picLocks noChangeAspect="1"/>
            </p:cNvPicPr>
            <p:nvPr/>
          </p:nvPicPr>
          <p:blipFill>
            <a:blip r:embed="rId4"/>
            <a:stretch>
              <a:fillRect/>
            </a:stretch>
          </p:blipFill>
          <p:spPr>
            <a:xfrm>
              <a:off x="2904779" y="1072767"/>
              <a:ext cx="753121" cy="255445"/>
            </a:xfrm>
            <a:prstGeom prst="rect">
              <a:avLst/>
            </a:prstGeom>
          </p:spPr>
        </p:pic>
        <p:pic>
          <p:nvPicPr>
            <p:cNvPr id="10" name="Picture 9">
              <a:extLst>
                <a:ext uri="{FF2B5EF4-FFF2-40B4-BE49-F238E27FC236}">
                  <a16:creationId xmlns:a16="http://schemas.microsoft.com/office/drawing/2014/main" id="{D4FCB670-F058-EEA1-698C-AB98D47D0706}"/>
                </a:ext>
              </a:extLst>
            </p:cNvPr>
            <p:cNvPicPr>
              <a:picLocks noChangeAspect="1"/>
            </p:cNvPicPr>
            <p:nvPr/>
          </p:nvPicPr>
          <p:blipFill>
            <a:blip r:embed="rId5"/>
            <a:stretch>
              <a:fillRect/>
            </a:stretch>
          </p:blipFill>
          <p:spPr>
            <a:xfrm>
              <a:off x="4350627" y="4198792"/>
              <a:ext cx="290645" cy="639008"/>
            </a:xfrm>
            <a:prstGeom prst="rect">
              <a:avLst/>
            </a:prstGeom>
          </p:spPr>
        </p:pic>
        <p:pic>
          <p:nvPicPr>
            <p:cNvPr id="11" name="Picture 10">
              <a:extLst>
                <a:ext uri="{FF2B5EF4-FFF2-40B4-BE49-F238E27FC236}">
                  <a16:creationId xmlns:a16="http://schemas.microsoft.com/office/drawing/2014/main" id="{2D6A84E0-0DB7-C83E-ACAC-7CB4D6EC3D0B}"/>
                </a:ext>
              </a:extLst>
            </p:cNvPr>
            <p:cNvPicPr>
              <a:picLocks noChangeAspect="1"/>
            </p:cNvPicPr>
            <p:nvPr/>
          </p:nvPicPr>
          <p:blipFill>
            <a:blip r:embed="rId4"/>
            <a:stretch>
              <a:fillRect/>
            </a:stretch>
          </p:blipFill>
          <p:spPr>
            <a:xfrm>
              <a:off x="4693680" y="4339304"/>
              <a:ext cx="973734" cy="330273"/>
            </a:xfrm>
            <a:prstGeom prst="rect">
              <a:avLst/>
            </a:prstGeom>
          </p:spPr>
        </p:pic>
        <p:pic>
          <p:nvPicPr>
            <p:cNvPr id="2" name="Picture 1">
              <a:extLst>
                <a:ext uri="{FF2B5EF4-FFF2-40B4-BE49-F238E27FC236}">
                  <a16:creationId xmlns:a16="http://schemas.microsoft.com/office/drawing/2014/main" id="{48CB8002-4D74-ED57-CC39-A757CB62B110}"/>
                </a:ext>
              </a:extLst>
            </p:cNvPr>
            <p:cNvPicPr>
              <a:picLocks noChangeAspect="1"/>
            </p:cNvPicPr>
            <p:nvPr/>
          </p:nvPicPr>
          <p:blipFill>
            <a:blip r:embed="rId4"/>
            <a:stretch>
              <a:fillRect/>
            </a:stretch>
          </p:blipFill>
          <p:spPr>
            <a:xfrm>
              <a:off x="3486668" y="2084260"/>
              <a:ext cx="753121" cy="255445"/>
            </a:xfrm>
            <a:prstGeom prst="rect">
              <a:avLst/>
            </a:prstGeom>
          </p:spPr>
        </p:pic>
      </p:grpSp>
    </p:spTree>
    <p:extLst>
      <p:ext uri="{BB962C8B-B14F-4D97-AF65-F5344CB8AC3E}">
        <p14:creationId xmlns:p14="http://schemas.microsoft.com/office/powerpoint/2010/main" val="1897564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823C-E491-F40F-8ADE-60FD3F07FED0}"/>
              </a:ext>
            </a:extLst>
          </p:cNvPr>
          <p:cNvSpPr>
            <a:spLocks noGrp="1"/>
          </p:cNvSpPr>
          <p:nvPr>
            <p:ph type="title"/>
          </p:nvPr>
        </p:nvSpPr>
        <p:spPr>
          <a:xfrm>
            <a:off x="609600" y="0"/>
            <a:ext cx="10972800" cy="646331"/>
          </a:xfrm>
        </p:spPr>
        <p:txBody>
          <a:bodyPr>
            <a:noAutofit/>
          </a:bodyPr>
          <a:lstStyle/>
          <a:p>
            <a:r>
              <a:rPr lang="en-US" dirty="0"/>
              <a:t>Test it Out!</a:t>
            </a:r>
          </a:p>
        </p:txBody>
      </p:sp>
      <p:sp>
        <p:nvSpPr>
          <p:cNvPr id="11" name="TextBox 10">
            <a:extLst>
              <a:ext uri="{FF2B5EF4-FFF2-40B4-BE49-F238E27FC236}">
                <a16:creationId xmlns:a16="http://schemas.microsoft.com/office/drawing/2014/main" id="{814FCBD6-753B-8094-5AE1-55FFB69CC2A6}"/>
              </a:ext>
            </a:extLst>
          </p:cNvPr>
          <p:cNvSpPr txBox="1"/>
          <p:nvPr/>
        </p:nvSpPr>
        <p:spPr>
          <a:xfrm>
            <a:off x="237640" y="646331"/>
            <a:ext cx="11954360" cy="3554819"/>
          </a:xfrm>
          <a:prstGeom prst="rect">
            <a:avLst/>
          </a:prstGeom>
          <a:noFill/>
          <a:ln>
            <a:noFill/>
          </a:ln>
        </p:spPr>
        <p:txBody>
          <a:bodyPr wrap="square" rtlCol="0">
            <a:spAutoFit/>
          </a:bodyPr>
          <a:lstStyle/>
          <a:p>
            <a:pPr marL="285750" indent="-285750">
              <a:buFont typeface="Arial" panose="020B0604020202020204" pitchFamily="34" charset="0"/>
              <a:buChar char="•"/>
            </a:pPr>
            <a:r>
              <a:rPr lang="en-US" sz="2500" dirty="0"/>
              <a:t>Run the program</a:t>
            </a:r>
          </a:p>
          <a:p>
            <a:pPr marL="742950" lvl="1" indent="-285750">
              <a:buFont typeface="Arial" panose="020B0604020202020204" pitchFamily="34" charset="0"/>
              <a:buChar char="•"/>
            </a:pPr>
            <a:r>
              <a:rPr lang="en-US" sz="2500" dirty="0"/>
              <a:t>Click upload to send the code to the Arduino</a:t>
            </a:r>
          </a:p>
          <a:p>
            <a:pPr marL="742950" lvl="1" indent="-285750">
              <a:buFont typeface="Arial" panose="020B0604020202020204" pitchFamily="34" charset="0"/>
              <a:buChar char="•"/>
            </a:pPr>
            <a:r>
              <a:rPr lang="en-US" sz="2500" dirty="0"/>
              <a:t>Click the serial monitor to see RGB values being displayed while the TCS34725 Color Sensor is on</a:t>
            </a:r>
          </a:p>
          <a:p>
            <a:pPr marL="285750" indent="-285750">
              <a:buFont typeface="Arial" panose="020B0604020202020204" pitchFamily="34" charset="0"/>
              <a:buChar char="•"/>
            </a:pPr>
            <a:r>
              <a:rPr lang="en-US" sz="2500" dirty="0"/>
              <a:t>Change lines 77-79 in the code to the following and see how that impacts what color is being displayed on the LED.</a:t>
            </a:r>
          </a:p>
          <a:p>
            <a:pPr marL="742950" lvl="1" indent="-285750">
              <a:buFont typeface="Arial" panose="020B0604020202020204" pitchFamily="34" charset="0"/>
              <a:buChar char="•"/>
            </a:pPr>
            <a:r>
              <a:rPr lang="en-US" sz="2500" dirty="0"/>
              <a:t>Before running the code, click File&gt;Save-as&gt;Destination</a:t>
            </a:r>
          </a:p>
          <a:p>
            <a:pPr marL="742950" lvl="1" indent="-285750">
              <a:buFont typeface="Arial" panose="020B0604020202020204" pitchFamily="34" charset="0"/>
              <a:buChar char="•"/>
            </a:pPr>
            <a:r>
              <a:rPr lang="en-US" sz="2500" dirty="0"/>
              <a:t>Name the file </a:t>
            </a:r>
            <a:r>
              <a:rPr lang="en-US" sz="2500" dirty="0" err="1"/>
              <a:t>Color_Sensing_Complementary</a:t>
            </a:r>
            <a:endParaRPr lang="en-US" sz="2500" dirty="0"/>
          </a:p>
          <a:p>
            <a:pPr marL="742950" lvl="1" indent="-285750">
              <a:buFont typeface="Arial" panose="020B0604020202020204" pitchFamily="34" charset="0"/>
              <a:buChar char="•"/>
            </a:pPr>
            <a:r>
              <a:rPr lang="en-US" sz="2500" dirty="0"/>
              <a:t>This allows you to have the original script and the modified version</a:t>
            </a:r>
          </a:p>
        </p:txBody>
      </p:sp>
      <p:grpSp>
        <p:nvGrpSpPr>
          <p:cNvPr id="3" name="Group 2">
            <a:extLst>
              <a:ext uri="{FF2B5EF4-FFF2-40B4-BE49-F238E27FC236}">
                <a16:creationId xmlns:a16="http://schemas.microsoft.com/office/drawing/2014/main" id="{1D8DBC02-9BC2-887A-CFA5-4FE5981DF67C}"/>
              </a:ext>
            </a:extLst>
          </p:cNvPr>
          <p:cNvGrpSpPr/>
          <p:nvPr/>
        </p:nvGrpSpPr>
        <p:grpSpPr>
          <a:xfrm>
            <a:off x="609600" y="4198792"/>
            <a:ext cx="10431715" cy="1678079"/>
            <a:chOff x="609600" y="4198792"/>
            <a:chExt cx="10431715" cy="1678079"/>
          </a:xfrm>
        </p:grpSpPr>
        <p:pic>
          <p:nvPicPr>
            <p:cNvPr id="12" name="Picture 11" descr="A screen shot of a computer code&#10;&#10;Description automatically generated">
              <a:extLst>
                <a:ext uri="{FF2B5EF4-FFF2-40B4-BE49-F238E27FC236}">
                  <a16:creationId xmlns:a16="http://schemas.microsoft.com/office/drawing/2014/main" id="{1B4FAA2C-50B4-E786-8526-A0F5344778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4198792"/>
              <a:ext cx="10431715" cy="1512757"/>
            </a:xfrm>
            <a:prstGeom prst="rect">
              <a:avLst/>
            </a:prstGeom>
            <a:ln>
              <a:solidFill>
                <a:schemeClr val="tx1"/>
              </a:solidFill>
            </a:ln>
          </p:spPr>
        </p:pic>
        <p:pic>
          <p:nvPicPr>
            <p:cNvPr id="17" name="Picture 16">
              <a:extLst>
                <a:ext uri="{FF2B5EF4-FFF2-40B4-BE49-F238E27FC236}">
                  <a16:creationId xmlns:a16="http://schemas.microsoft.com/office/drawing/2014/main" id="{D932F9CD-41CD-D0D5-8C76-F3B6902E5744}"/>
                </a:ext>
              </a:extLst>
            </p:cNvPr>
            <p:cNvPicPr>
              <a:picLocks noChangeAspect="1"/>
            </p:cNvPicPr>
            <p:nvPr/>
          </p:nvPicPr>
          <p:blipFill>
            <a:blip r:embed="rId4"/>
            <a:stretch>
              <a:fillRect/>
            </a:stretch>
          </p:blipFill>
          <p:spPr>
            <a:xfrm>
              <a:off x="9462962" y="4750496"/>
              <a:ext cx="512318" cy="1126375"/>
            </a:xfrm>
            <a:prstGeom prst="rect">
              <a:avLst/>
            </a:prstGeom>
          </p:spPr>
        </p:pic>
        <p:pic>
          <p:nvPicPr>
            <p:cNvPr id="18" name="Picture 17">
              <a:extLst>
                <a:ext uri="{FF2B5EF4-FFF2-40B4-BE49-F238E27FC236}">
                  <a16:creationId xmlns:a16="http://schemas.microsoft.com/office/drawing/2014/main" id="{A613BEBF-263A-2097-5653-F8BBC24DF069}"/>
                </a:ext>
              </a:extLst>
            </p:cNvPr>
            <p:cNvPicPr>
              <a:picLocks noChangeAspect="1"/>
            </p:cNvPicPr>
            <p:nvPr/>
          </p:nvPicPr>
          <p:blipFill>
            <a:blip r:embed="rId5"/>
            <a:stretch>
              <a:fillRect/>
            </a:stretch>
          </p:blipFill>
          <p:spPr>
            <a:xfrm>
              <a:off x="10012161" y="5106981"/>
              <a:ext cx="973734" cy="330273"/>
            </a:xfrm>
            <a:prstGeom prst="rect">
              <a:avLst/>
            </a:prstGeom>
          </p:spPr>
        </p:pic>
      </p:grpSp>
    </p:spTree>
    <p:extLst>
      <p:ext uri="{BB962C8B-B14F-4D97-AF65-F5344CB8AC3E}">
        <p14:creationId xmlns:p14="http://schemas.microsoft.com/office/powerpoint/2010/main" val="3752585391"/>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wyo_powerpoint_template1 [Read-Only]" id="{4B645B48-1D4D-4A7E-A227-940AAC3A88AC}" vid="{38082606-69BA-4892-877D-46BB1B9206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931</TotalTime>
  <Words>624</Words>
  <Application>Microsoft Office PowerPoint</Application>
  <PresentationFormat>Widescreen</PresentationFormat>
  <Paragraphs>104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Cambria Math</vt:lpstr>
      <vt:lpstr>Custom Design</vt:lpstr>
      <vt:lpstr>Color Sensing LED</vt:lpstr>
      <vt:lpstr>Goals</vt:lpstr>
      <vt:lpstr>Introduction to Color</vt:lpstr>
      <vt:lpstr>What is a Color Sensor?</vt:lpstr>
      <vt:lpstr>Components of the Color Sensor</vt:lpstr>
      <vt:lpstr>What is an RGB LED?</vt:lpstr>
      <vt:lpstr>Circuit Diagram</vt:lpstr>
      <vt:lpstr>Installing Necessary Libraries</vt:lpstr>
      <vt:lpstr>Installing Necessary Libraries</vt:lpstr>
      <vt:lpstr>Installing Necessary Libraries</vt:lpstr>
      <vt:lpstr>Installing Necessary Libraries</vt:lpstr>
      <vt:lpstr>Coding</vt:lpstr>
      <vt:lpstr>Coding</vt:lpstr>
      <vt:lpstr>Coding</vt:lpstr>
      <vt:lpstr>PowerPoint Presentation</vt:lpstr>
      <vt:lpstr>Test it Out!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Laser Tripwire with Alarm Raspberry Pi with Python</dc:title>
  <dc:creator>Sully Fagan</dc:creator>
  <cp:lastModifiedBy>Quinn Kwiatkowski</cp:lastModifiedBy>
  <cp:revision>158</cp:revision>
  <dcterms:created xsi:type="dcterms:W3CDTF">2024-06-14T21:00:22Z</dcterms:created>
  <dcterms:modified xsi:type="dcterms:W3CDTF">2024-07-08T15:39:34Z</dcterms:modified>
</cp:coreProperties>
</file>