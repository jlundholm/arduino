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63.xml" ContentType="application/vnd.openxmlformats-officedocument.presentationml.notesSlide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slideMasters/slideMaster5.xml" ContentType="application/vnd.openxmlformats-officedocument.presentationml.slideMaster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slideLayouts/slideLayout37.xml" ContentType="application/vnd.openxmlformats-officedocument.presentationml.slideLayout+xml"/>
  <Override PartName="/ppt/notesSlides/notesSlide48.xml" ContentType="application/vnd.openxmlformats-officedocument.presentationml.notesSlid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notesSlides/notesSlide60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docProps/core.xml" ContentType="application/vnd.openxmlformats-package.core-properties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notesSlides/notesSlide80.xml" ContentType="application/vnd.openxmlformats-officedocument.presentationml.notesSlid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slides/slide23.xml" ContentType="application/vnd.openxmlformats-officedocument.presentationml.slide+xml"/>
  <Override PartName="/ppt/slideLayouts/slideLayout1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6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64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notesSlides/notesSlide65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Masters/slideMaster3.xml" ContentType="application/vnd.openxmlformats-officedocument.presentationml.slideMaster+xml"/>
  <Override PartName="/ppt/notesSlides/notesSlide6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Masters/slideMaster4.xml" ContentType="application/vnd.openxmlformats-officedocument.presentationml.slideMaster+xml"/>
  <Override PartName="/ppt/notesSlides/notesSlide6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3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3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9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40.xml" ContentType="application/vnd.openxmlformats-officedocument.presentationml.slideLayout+xml"/>
  <Override PartName="/ppt/notesSlides/notesSlide27.xml" ContentType="application/vnd.openxmlformats-officedocument.presentationml.notesSlide+xml"/>
  <Override PartName="/ppt/slideLayouts/slideLayout41.xml" ContentType="application/vnd.openxmlformats-officedocument.presentationml.slideLayout+xml"/>
  <Override PartName="/ppt/notesSlides/notesSlide24.xml" ContentType="application/vnd.openxmlformats-officedocument.presentationml.notesSlide+xml"/>
  <Override PartName="/ppt/slideLayouts/slideLayout42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Layouts/slideLayout4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4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Layouts/slideLayout45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46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36.xml" ContentType="application/vnd.openxmlformats-officedocument.presentationml.notesSlide+xml"/>
  <Override PartName="/ppt/slideLayouts/slideLayout50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Layouts/slideLayout51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69.xml" ContentType="application/vnd.openxmlformats-officedocument.presentationml.slide+xml"/>
  <Override PartName="/ppt/slideLayouts/slideLayout52.xml" ContentType="application/vnd.openxmlformats-officedocument.presentationml.slideLayout+xml"/>
  <Override PartName="/ppt/notesSlides/notesSlide35.xml" ContentType="application/vnd.openxmlformats-officedocument.presentationml.notesSlide+xml"/>
  <Override PartName="/ppt/slides/slide68.xml" ContentType="application/vnd.openxmlformats-officedocument.presentationml.slide+xml"/>
  <Override PartName="/ppt/slideLayouts/slideLayout53.xml" ContentType="application/vnd.openxmlformats-officedocument.presentationml.slideLayout+xml"/>
  <Override PartName="/ppt/notesSlides/notesSlide32.xml" ContentType="application/vnd.openxmlformats-officedocument.presentationml.notesSlide+xml"/>
  <Override PartName="/ppt/slideLayouts/slideLayout54.xml" ContentType="application/vnd.openxmlformats-officedocument.presentationml.slideLayout+xml"/>
  <Override PartName="/ppt/notesSlides/notesSlide33.xml" ContentType="application/vnd.openxmlformats-officedocument.presentationml.notesSlide+xml"/>
  <Override PartName="/ppt/slideLayouts/slideLayout55.xml" ContentType="application/vnd.openxmlformats-officedocument.presentationml.slideLayout+xml"/>
  <Override PartName="/ppt/notesSlides/notesSlide30.xml" ContentType="application/vnd.openxmlformats-officedocument.presentationml.notesSlide+xml"/>
  <Override PartName="/ppt/slideLayouts/slideLayout56.xml" ContentType="application/vnd.openxmlformats-officedocument.presentationml.slideLayout+xml"/>
  <Override PartName="/ppt/notesSlides/notesSlide31.xml" ContentType="application/vnd.openxmlformats-officedocument.presentationml.notesSlide+xml"/>
  <Override PartName="/ppt/slideLayouts/slideLayout57.xml" ContentType="application/vnd.openxmlformats-officedocument.presentationml.slideLayout+xml"/>
  <Override PartName="/ppt/slides/slide63.xml" ContentType="application/vnd.openxmlformats-officedocument.presentationml.slide+xml"/>
  <Override PartName="/ppt/slideLayouts/slideLayout58.xml" ContentType="application/vnd.openxmlformats-officedocument.presentationml.slideLayout+xml"/>
  <Override PartName="/ppt/slides/slide62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95"/>
  </p:notesMasterIdLst>
  <p:handoutMasterIdLst>
    <p:handoutMasterId r:id="rId96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</p:sldIdLst>
  <p:sldSz cx="9144000" cy="6858000" type="screen4x3"/>
  <p:notesSz cx="7010400" cy="92964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59" d="100"/>
          <a:sy n="59" d="100"/>
        </p:scale>
        <p:origin x="1428" y="7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theme" Target="theme/theme1.xml"/><Relationship Id="rId8" Type="http://schemas.openxmlformats.org/officeDocument/2006/relationships/theme" Target="theme/theme2.xml"/><Relationship Id="rId9" Type="http://schemas.openxmlformats.org/officeDocument/2006/relationships/theme" Target="theme/theme3.xml"/><Relationship Id="rId10" Type="http://schemas.openxmlformats.org/officeDocument/2006/relationships/theme" Target="theme/theme4.xml"/><Relationship Id="rId11" Type="http://schemas.openxmlformats.org/officeDocument/2006/relationships/theme" Target="theme/theme5.xml"/><Relationship Id="rId12" Type="http://schemas.openxmlformats.org/officeDocument/2006/relationships/theme" Target="theme/theme6.xml"/><Relationship Id="rId13" Type="http://schemas.openxmlformats.org/officeDocument/2006/relationships/theme" Target="theme/theme7.xml"/><Relationship Id="rId14" Type="http://schemas.openxmlformats.org/officeDocument/2006/relationships/theme" Target="theme/them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notesMaster" Target="notesMasters/notesMaster1.xml"/><Relationship Id="rId96" Type="http://schemas.openxmlformats.org/officeDocument/2006/relationships/handoutMaster" Target="handoutMasters/handoutMaster1.xml"/><Relationship Id="rId97" Type="http://schemas.openxmlformats.org/officeDocument/2006/relationships/presProps" Target="presProps.xml" /><Relationship Id="rId98" Type="http://schemas.openxmlformats.org/officeDocument/2006/relationships/tableStyles" Target="tableStyles.xml" /><Relationship Id="rId99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9484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0513748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E7ACC01D-6635-46F0-9EEB-3DFF757712A2}" type="datetimeFigureOut">
              <a:rPr lang="en-US"/>
              <a:t>7/1/2025</a:t>
            </a:fld>
            <a:endParaRPr lang="en-US"/>
          </a:p>
        </p:txBody>
      </p:sp>
      <p:sp>
        <p:nvSpPr>
          <p:cNvPr id="1951251018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6469287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9BCE8162-ACB7-4703-9694-372A3FE176A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1780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42623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499E9FBE-7BE8-4DEE-8580-EB551673694B}" type="datetimeFigureOut">
              <a:rPr lang="en-US"/>
              <a:t>7/1/2025</a:t>
            </a:fld>
            <a:endParaRPr lang="en-US"/>
          </a:p>
        </p:txBody>
      </p:sp>
      <p:sp>
        <p:nvSpPr>
          <p:cNvPr id="13352898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455530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58874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875752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0318E271-496A-42FE-8D60-15B7B28CB68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 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 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 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 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 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 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 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 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 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274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28212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552555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E591A0A-5AC7-15C8-05B9-19E2A6429B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2145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22121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775189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5679C13-CED7-8222-E65D-B0E444A0F7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8293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51209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59915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8C792C9-A879-280C-33B7-C186F8B2C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3984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03982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123588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6ED019D-4BCC-D778-4520-9F7E4A10D46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010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84320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73253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8C390AA-7101-AD29-6DCB-4033E6A46E2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95592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37978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65892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E0E3532-E1D7-9785-328B-2F1E19A07D0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82644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79304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541491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8685601-C159-C5A4-8718-24FA2015A4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321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7886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549216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376F834-15FF-C83C-5AA1-0E8CAE7AE23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216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2863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7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1128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47142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26718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4153465-EBB3-634C-05A2-28AF3AB825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94261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64489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286495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A8F87FB-9871-6A9D-8829-A6D2067CC72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79252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97830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803705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2E83387-E21C-63C1-2247-6437EEEAFE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155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623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4352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03412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1677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0195945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AD90C2A-8818-1C6A-3DE9-CE8A564CF7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9871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33314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83824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BE62787-45A0-9069-1346-09AE6B8CACE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982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60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7669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5002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99999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445936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4B80C83-25E6-7EFF-9943-E527662980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2128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6375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053232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92E8C04-A1F0-736B-45C7-EDDDD9AD5F8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448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953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 are many solutions</a:t>
            </a:r>
            <a:endParaRPr/>
          </a:p>
          <a:p>
            <a:pPr>
              <a:defRPr/>
            </a:pPr>
            <a:r>
              <a:rPr lang="en-US"/>
              <a:t>Suppose we start with:</a:t>
            </a:r>
            <a:endParaRPr/>
          </a:p>
          <a:p>
            <a:pPr>
              <a:defRPr/>
            </a:pPr>
            <a:r>
              <a:rPr lang="en-US"/>
              <a:t>int</a:t>
            </a:r>
            <a:r>
              <a:rPr lang="en-US"/>
              <a:t> Left = </a:t>
            </a:r>
            <a:r>
              <a:rPr lang="en-US"/>
              <a:t>digitalRead</a:t>
            </a:r>
            <a:r>
              <a:rPr lang="en-US"/>
              <a:t>(</a:t>
            </a:r>
            <a:r>
              <a:rPr lang="en-US"/>
              <a:t>LeftSwitch</a:t>
            </a:r>
            <a:r>
              <a:rPr lang="en-US"/>
              <a:t>);  </a:t>
            </a:r>
            <a:endParaRPr/>
          </a:p>
          <a:p>
            <a:pPr>
              <a:defRPr/>
            </a:pPr>
            <a:r>
              <a:rPr lang="en-US"/>
              <a:t>int</a:t>
            </a:r>
            <a:r>
              <a:rPr lang="en-US"/>
              <a:t> Right = </a:t>
            </a:r>
            <a:r>
              <a:rPr lang="en-US"/>
              <a:t>digitalRead</a:t>
            </a:r>
            <a:r>
              <a:rPr lang="en-US"/>
              <a:t>(</a:t>
            </a:r>
            <a:r>
              <a:rPr lang="en-US"/>
              <a:t>RightSwitch</a:t>
            </a:r>
            <a:r>
              <a:rPr lang="en-US"/>
              <a:t>);</a:t>
            </a:r>
            <a:endParaRPr/>
          </a:p>
          <a:p>
            <a:pPr>
              <a:defRPr/>
            </a:pPr>
            <a:r>
              <a:rPr lang="en-US"/>
              <a:t>Exclusive OR can be done like this:</a:t>
            </a:r>
            <a:endParaRPr/>
          </a:p>
          <a:p>
            <a:pPr>
              <a:defRPr/>
            </a:pPr>
            <a:r>
              <a:rPr lang="en-US"/>
              <a:t>If (Left==LOW &amp;&amp; Right==HIGH) </a:t>
            </a:r>
            <a:r>
              <a:rPr lang="en-US"/>
              <a:t>digitalWrite</a:t>
            </a:r>
            <a:r>
              <a:rPr lang="en-US"/>
              <a:t>(</a:t>
            </a:r>
            <a:r>
              <a:rPr lang="en-US"/>
              <a:t>pin,HIGH</a:t>
            </a:r>
            <a:r>
              <a:rPr lang="en-US"/>
              <a:t>);</a:t>
            </a:r>
            <a:endParaRPr/>
          </a:p>
          <a:p>
            <a:pPr>
              <a:defRPr/>
            </a:pPr>
            <a:r>
              <a:rPr lang="en-US"/>
              <a:t>Else if (Right==LOW &amp;&amp; Left==HIGH) </a:t>
            </a:r>
            <a:r>
              <a:rPr lang="en-US"/>
              <a:t>digitalWrite</a:t>
            </a:r>
            <a:r>
              <a:rPr lang="en-US"/>
              <a:t>(</a:t>
            </a:r>
            <a:r>
              <a:rPr lang="en-US"/>
              <a:t>pin,HIGH</a:t>
            </a:r>
            <a:r>
              <a:rPr lang="en-US"/>
              <a:t>);</a:t>
            </a:r>
            <a:endParaRPr/>
          </a:p>
          <a:p>
            <a:pPr>
              <a:defRPr/>
            </a:pPr>
            <a:r>
              <a:rPr lang="en-US"/>
              <a:t>Or like this:</a:t>
            </a:r>
            <a:endParaRPr/>
          </a:p>
          <a:p>
            <a:pPr>
              <a:defRPr/>
            </a:pPr>
            <a:r>
              <a:rPr lang="en-US"/>
              <a:t>If (Left==LOW &amp;&amp; Right==HIGH  ||  Right==LOW&amp;&amp;Left==HIGH) </a:t>
            </a:r>
            <a:r>
              <a:rPr lang="en-US"/>
              <a:t>digitalWrite</a:t>
            </a:r>
            <a:r>
              <a:rPr lang="en-US"/>
              <a:t>(</a:t>
            </a:r>
            <a:r>
              <a:rPr lang="en-US"/>
              <a:t>pin,HIGH</a:t>
            </a:r>
            <a:r>
              <a:rPr lang="en-US"/>
              <a:t>);</a:t>
            </a:r>
            <a:endParaRPr/>
          </a:p>
          <a:p>
            <a:pPr>
              <a:defRPr/>
            </a:pPr>
            <a:r>
              <a:rPr lang="en-US"/>
              <a:t>Or simplest: if (Left != Right) </a:t>
            </a:r>
            <a:r>
              <a:rPr lang="en-US"/>
              <a:t>digitalWrite</a:t>
            </a:r>
            <a:r>
              <a:rPr lang="en-US"/>
              <a:t>(</a:t>
            </a:r>
            <a:r>
              <a:rPr lang="en-US"/>
              <a:t>pin,HIGH</a:t>
            </a:r>
            <a:r>
              <a:rPr lang="en-US"/>
              <a:t>);  else </a:t>
            </a:r>
            <a:r>
              <a:rPr lang="en-US"/>
              <a:t>digitalWrite</a:t>
            </a:r>
            <a:r>
              <a:rPr lang="en-US"/>
              <a:t>(</a:t>
            </a:r>
            <a:r>
              <a:rPr lang="en-US"/>
              <a:t>pin,LOW</a:t>
            </a:r>
            <a:r>
              <a:rPr lang="en-US"/>
              <a:t>);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717984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8735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4094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434454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5989FE6-3DDD-2A9D-0616-BBF06BDA1EB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84263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63282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10308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A183C3D-CF0E-357F-803C-95F6476D6E8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8208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20815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76432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B8CF3B6-EA4E-FCB1-38F4-BB774EA5718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73602" name="Google Shape;635;p19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9293656" name="Google Shape;636;p1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751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99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77046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34688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41121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303506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DC3BC5C-D4E3-F49F-7A14-7C05EC6B11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473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2168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527109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6940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10442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754409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DD36EE9-079E-2460-08DA-9DE3668A28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1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170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441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832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86950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65570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1047975-C0EB-5D40-D53F-D44E646113F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68376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7607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832567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6BC1972-919A-0D21-486B-7B83379638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75242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17195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76266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51D5C7D-C802-6C77-AB11-53CBE80C297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854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57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5190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602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1313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forExample.ino</a:t>
            </a:r>
            <a:endParaRPr lang="en-US"/>
          </a:p>
        </p:txBody>
      </p:sp>
      <p:sp>
        <p:nvSpPr>
          <p:cNvPr id="657120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753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3573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64389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34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49703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32205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56677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931ADB1-9B01-31AE-F64E-99BB32DF0A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077214" name="Google Shape;383;p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601034" name="Google Shape;384;p5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39131530" name="Google Shape;385;p5:notes"/>
          <p:cNvSpPr txBox="1">
            <a:spLocks noGrp="1"/>
          </p:cNvSpPr>
          <p:nvPr>
            <p:ph type="sldNum" idx="12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fld id="{00000000-1234-1234-1234-123412341234}" type="slidenum">
              <a:rPr lang="en-US"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rPr>
              <a:t>36</a:t>
            </a:fld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658798" name="Google Shape;409;p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002226" name="Google Shape;410;p6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94827786" name="Google Shape;411;p6:notes"/>
          <p:cNvSpPr txBox="1">
            <a:spLocks noGrp="1"/>
          </p:cNvSpPr>
          <p:nvPr>
            <p:ph type="sldNum" idx="12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fld id="{00000000-1234-1234-1234-123412341234}" type="slidenum">
              <a:rPr lang="en-US"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rPr>
              <a:t>37</a:t>
            </a:fld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8821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1897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825178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7E094B3-9C35-6AA0-F049-E0D367363BE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528406" name="Google Shape;444;p8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71068094" name="Google Shape;445;p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8286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97786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340442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DA82D66-6CE0-6C54-C8DE-E9F8E49888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71960" name="Google Shape;494;p10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8147722" name="Google Shape;495;p1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861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316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316737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682579" name="Google Shape;526;p13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12441030" name="Google Shape;527;p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902854" name="Google Shape;537;p1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3317583" name="Google Shape;538;p14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1666255" name="Google Shape;539;p14:notes"/>
          <p:cNvSpPr txBox="1">
            <a:spLocks noGrp="1"/>
          </p:cNvSpPr>
          <p:nvPr>
            <p:ph type="sldNum" idx="12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603558" name="Google Shape;591;p18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46213341" name="Google Shape;592;p1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16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683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8582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46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9227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74085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279181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775A2D7-7A0E-42C1-FD75-342811970F8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238879" name="Google Shape;623;p2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81099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9888796" name="Google Shape;624;p20:notes"/>
          <p:cNvSpPr txBox="1">
            <a:spLocks noGrp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39832360" name="Google Shape;625;p20:notes"/>
          <p:cNvSpPr txBox="1">
            <a:spLocks noGrp="1"/>
          </p:cNvSpPr>
          <p:nvPr>
            <p:ph type="sldNum" idx="12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fld id="{00000000-1234-1234-1234-123412341234}" type="slidenum">
              <a:rPr lang="en-US"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rPr>
              <a:t>48</a:t>
            </a:fld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17084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0319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318485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0DF95B0-E7B1-6727-291F-69ED001684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231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1199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012454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9864F30-3E14-284A-E126-45715878B5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962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60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483988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51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78483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14950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208083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19EC371-7C30-DC75-AC1D-89A2DF7DAF7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1319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652810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389718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63C372F-7AE7-D0FF-7CA4-EB15E7CB08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3022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26167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454568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C62E778-7413-ED13-6748-EC88961837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26032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21683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2654232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2ADE2A0-9F3E-E5C6-BB94-97C6691A295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56704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66693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457206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2A9D7F3-CEC6-D336-F97B-A03BF601279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13327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07139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237399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3019B7E-497D-BB62-14F2-3AEE390D91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10075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6533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22017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E3567E5-53ED-0EE7-45F5-78999C0D86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935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1171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767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335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107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7524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666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94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18187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61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591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878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8582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62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574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4835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29711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63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381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049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86595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543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771534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013763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D7DF125-E8CE-D101-A5EA-7487DAA2E49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5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304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87671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260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5370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0080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40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8098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1587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68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387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988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115969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69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860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04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99897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70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28663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6227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146249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08F4BBA-F490-D582-291E-1F31C262FE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086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142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11995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72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90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227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01540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73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6163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02491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21036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E127329-4D56-92A5-239C-14B2F22BE7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280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968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08862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18E271-496A-42FE-8D60-15B7B28CB68D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75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9696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37538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43329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03F2AC8-0FAD-5B8B-BB59-D76E6C7016E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904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055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991794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318E271-496A-42FE-8D60-15B7B28CB68D}" type="slidenum">
              <a:rPr lang="en-US"/>
              <a:t>77</a:t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6173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7763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188646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BCE4607-511F-52BA-84CB-BD93BC6B62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6672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257140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841070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CD3822B-18AC-D291-B9E0-F92C63D740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5419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49270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199038" name="Slide Number Placeholder 6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811AE9E-FF1B-9D38-27DE-32F3194897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21926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482155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728537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1B6237-FA48-4707-83C6-18CA1EB5F815}" type="datetime1">
              <a:rPr lang="en-US"/>
              <a:t>7/1/2025</a:t>
            </a:fld>
            <a:endParaRPr lang="en-US"/>
          </a:p>
        </p:txBody>
      </p:sp>
      <p:sp>
        <p:nvSpPr>
          <p:cNvPr id="6890252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17013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33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874579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99733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A4779ED-06FA-4FCE-9AE4-9F245D6DA23C}" type="datetime1">
              <a:rPr lang="en-US"/>
              <a:t>7/1/2025</a:t>
            </a:fld>
            <a:endParaRPr lang="en-US"/>
          </a:p>
        </p:txBody>
      </p:sp>
      <p:sp>
        <p:nvSpPr>
          <p:cNvPr id="15454487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7533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7661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85370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393931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32932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1193B6-D19E-468C-BE86-5B30EF77E99B}" type="datetime1">
              <a:rPr lang="en-US"/>
              <a:t>7/1/2025</a:t>
            </a:fld>
            <a:endParaRPr lang="en-US"/>
          </a:p>
        </p:txBody>
      </p:sp>
      <p:sp>
        <p:nvSpPr>
          <p:cNvPr id="14866867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64306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176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878839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70936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901647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278757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2761998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C20264-0841-4AFA-9182-1D1D884F8AC3}" type="datetime1">
              <a:rPr lang="en-US"/>
              <a:t>7/1/2025</a:t>
            </a:fld>
            <a:endParaRPr lang="en-US"/>
          </a:p>
        </p:txBody>
      </p:sp>
      <p:sp>
        <p:nvSpPr>
          <p:cNvPr id="17308162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96624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6723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920857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6C867-3289-4CED-B1B3-C81DC702AF18}" type="datetime1">
              <a:rPr lang="en-US"/>
              <a:t>7/1/2025</a:t>
            </a:fld>
            <a:endParaRPr lang="en-US"/>
          </a:p>
        </p:txBody>
      </p:sp>
      <p:sp>
        <p:nvSpPr>
          <p:cNvPr id="11015149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70867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468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77194E-C648-4614-B7BC-17EA6D6B025D}" type="datetime1">
              <a:rPr lang="en-US"/>
              <a:t>7/1/2025</a:t>
            </a:fld>
            <a:endParaRPr lang="en-US"/>
          </a:p>
        </p:txBody>
      </p:sp>
      <p:sp>
        <p:nvSpPr>
          <p:cNvPr id="2479449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52647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14329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202082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702062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73765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AFA0C8D-EFB0-47ED-9C0C-A4AA306AB050}" type="datetime1">
              <a:rPr lang="en-US"/>
              <a:t>7/1/2025</a:t>
            </a:fld>
            <a:endParaRPr lang="en-US"/>
          </a:p>
        </p:txBody>
      </p:sp>
      <p:sp>
        <p:nvSpPr>
          <p:cNvPr id="636528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75343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62048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7670049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080947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91904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4199641-E1EB-4DA9-BA6A-C543F7D46D44}" type="datetime1">
              <a:rPr lang="en-US"/>
              <a:t>7/1/2025</a:t>
            </a:fld>
            <a:endParaRPr lang="en-US"/>
          </a:p>
        </p:txBody>
      </p:sp>
      <p:sp>
        <p:nvSpPr>
          <p:cNvPr id="18785588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26188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7289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6720162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725841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0DEA56F-A8B3-48E1-9988-224BB69E2148}" type="datetime1">
              <a:rPr lang="en-US"/>
              <a:t>7/1/2025</a:t>
            </a:fld>
            <a:endParaRPr lang="en-US"/>
          </a:p>
        </p:txBody>
      </p:sp>
      <p:sp>
        <p:nvSpPr>
          <p:cNvPr id="5835392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81966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2857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0031382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260251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A39222-E6B8-466F-AB65-31C5915B87AF}" type="datetime1">
              <a:rPr lang="en-US"/>
              <a:t>7/1/2025</a:t>
            </a:fld>
            <a:endParaRPr lang="en-US"/>
          </a:p>
        </p:txBody>
      </p:sp>
      <p:sp>
        <p:nvSpPr>
          <p:cNvPr id="16963326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4557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61443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167518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7919371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AED613E-2E18-4FF0-AC18-2B9298051CB8}" type="datetime1">
              <a:rPr lang="en-US"/>
              <a:t>7/1/2025</a:t>
            </a:fld>
            <a:endParaRPr lang="en-US"/>
          </a:p>
        </p:txBody>
      </p:sp>
      <p:sp>
        <p:nvSpPr>
          <p:cNvPr id="6297917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19809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6367" name="Title 1"/>
          <p:cNvSpPr>
            <a:spLocks noGrp="1"/>
          </p:cNvSpPr>
          <p:nvPr>
            <p:ph type="title"/>
          </p:nvPr>
        </p:nvSpPr>
        <p:spPr bwMode="auto">
          <a:xfrm>
            <a:off x="457200" y="247983"/>
            <a:ext cx="8229600" cy="70955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29914264" name="Content Placeholder 2"/>
          <p:cNvSpPr>
            <a:spLocks noGrp="1"/>
          </p:cNvSpPr>
          <p:nvPr>
            <p:ph idx="1"/>
          </p:nvPr>
        </p:nvSpPr>
        <p:spPr bwMode="auto">
          <a:xfrm>
            <a:off x="267419" y="1181818"/>
            <a:ext cx="8583283" cy="4611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72400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781730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5852756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730D42-12D7-4B4E-8770-5ACA128C8363}" type="datetime1">
              <a:rPr lang="en-US"/>
              <a:t>7/1/2025</a:t>
            </a:fld>
            <a:endParaRPr lang="en-US"/>
          </a:p>
        </p:txBody>
      </p:sp>
      <p:sp>
        <p:nvSpPr>
          <p:cNvPr id="5482268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92498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478094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000179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38546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5720714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B89627-2533-4F78-8CC2-804227094817}" type="datetime1">
              <a:rPr lang="en-US"/>
              <a:t>7/1/2025</a:t>
            </a:fld>
            <a:endParaRPr lang="en-US"/>
          </a:p>
        </p:txBody>
      </p:sp>
      <p:sp>
        <p:nvSpPr>
          <p:cNvPr id="174706476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199326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001488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388561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5581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8475867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252543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45076360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8E77C8F-C192-4507-AC0A-E226D1D7147C}" type="datetime1">
              <a:rPr lang="en-US"/>
              <a:t>7/1/2025</a:t>
            </a:fld>
            <a:endParaRPr lang="en-US"/>
          </a:p>
        </p:txBody>
      </p:sp>
      <p:sp>
        <p:nvSpPr>
          <p:cNvPr id="2061933897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1976254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763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2246240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4064E37-DA65-4F80-8EE6-087D3C4EEA77}" type="datetime1">
              <a:rPr lang="en-US"/>
              <a:t>7/1/2025</a:t>
            </a:fld>
            <a:endParaRPr lang="en-US"/>
          </a:p>
        </p:txBody>
      </p:sp>
      <p:sp>
        <p:nvSpPr>
          <p:cNvPr id="1988569194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2351483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469760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E0BAF2B-ACDB-467B-8143-FAA9C35E4807}" type="datetime1">
              <a:rPr lang="en-US"/>
              <a:t>7/1/2025</a:t>
            </a:fld>
            <a:endParaRPr lang="en-US"/>
          </a:p>
        </p:txBody>
      </p:sp>
      <p:sp>
        <p:nvSpPr>
          <p:cNvPr id="74090616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133991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48821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922453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200360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6809877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D1E594B-1C3E-4FB2-86AF-A48EBA672CDA}" type="datetime1">
              <a:rPr lang="en-US"/>
              <a:t>7/1/2025</a:t>
            </a:fld>
            <a:endParaRPr lang="en-US"/>
          </a:p>
        </p:txBody>
      </p:sp>
      <p:sp>
        <p:nvSpPr>
          <p:cNvPr id="130217343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507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96953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726626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367966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7536692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275853-81DC-4B24-BB0A-F8BCA7BB4355}" type="datetime1">
              <a:rPr lang="en-US"/>
              <a:t>7/1/2025</a:t>
            </a:fld>
            <a:endParaRPr lang="en-US"/>
          </a:p>
        </p:txBody>
      </p:sp>
      <p:sp>
        <p:nvSpPr>
          <p:cNvPr id="147646411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590100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629474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9226675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763958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6362781-8026-4313-811C-BBEDC4B18F49}" type="datetime1">
              <a:rPr lang="en-US"/>
              <a:t>7/1/2025</a:t>
            </a:fld>
            <a:endParaRPr lang="en-US"/>
          </a:p>
        </p:txBody>
      </p:sp>
      <p:sp>
        <p:nvSpPr>
          <p:cNvPr id="106970466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97376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168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275735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66352566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C732300-8F2D-4BD1-A3AF-E4BA408DAC90}" type="datetime1">
              <a:rPr lang="en-US"/>
              <a:t>7/1/2025</a:t>
            </a:fld>
            <a:endParaRPr lang="en-US"/>
          </a:p>
        </p:txBody>
      </p:sp>
      <p:sp>
        <p:nvSpPr>
          <p:cNvPr id="164147122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92220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24020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33002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13074529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48988394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616771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481839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80748392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600202"/>
            <a:ext cx="8229600" cy="4193547"/>
          </a:xfrm>
          <a:prstGeom prst="rect">
            <a:avLst/>
          </a:prstGeom>
        </p:spPr>
        <p:txBody>
          <a:bodyPr/>
          <a:lstStyle>
            <a:lvl1pPr marL="257175" indent="-257175">
              <a:buFont typeface="Wingdings"/>
              <a:buChar char="Ø"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marL="557213" indent="-214313">
              <a:buFont typeface="Courier New"/>
              <a:buChar char="o"/>
              <a:defRPr/>
            </a:lvl2pPr>
            <a:lvl3pPr marL="857250" indent="-171450">
              <a:buFont typeface="Wingdings"/>
              <a:buChar char="§"/>
              <a:defRPr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03139207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98623302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22802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041257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791009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25529577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109729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342297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340932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294882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9248213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94433428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79373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575339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408956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78148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92531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645940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49161058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333936293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456404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379680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0279638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286784363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3819043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73156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442693210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74159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011371" name="Title 1"/>
          <p:cNvSpPr>
            <a:spLocks noGrp="1"/>
          </p:cNvSpPr>
          <p:nvPr>
            <p:ph type="title"/>
          </p:nvPr>
        </p:nvSpPr>
        <p:spPr bwMode="auto"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1882495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8028199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958251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213815139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21832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11393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4599994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4587139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639927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26683462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846675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054710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281646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8798135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31371980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55845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1742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668432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2987188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ABBED5C-281E-D04B-A242-DC7B480DDB43}" type="datetimeFigureOut">
              <a:rPr lang="en-US"/>
              <a:t>7/1/2025</a:t>
            </a:fld>
            <a:endParaRPr lang="en-US"/>
          </a:p>
        </p:txBody>
      </p:sp>
      <p:sp>
        <p:nvSpPr>
          <p:cNvPr id="199330934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81073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126638" name="Google Shape;83;p84"/>
          <p:cNvSpPr txBox="1">
            <a:spLocks noGrp="1"/>
          </p:cNvSpPr>
          <p:nvPr>
            <p:ph type="title"/>
          </p:nvPr>
        </p:nvSpPr>
        <p:spPr bwMode="auto">
          <a:xfrm>
            <a:off x="457200" y="142290"/>
            <a:ext cx="8229600" cy="78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62762952" name="Google Shape;84;p84"/>
          <p:cNvSpPr txBox="1">
            <a:spLocks noGrp="1"/>
          </p:cNvSpPr>
          <p:nvPr>
            <p:ph type="body" idx="1"/>
          </p:nvPr>
        </p:nvSpPr>
        <p:spPr bwMode="auto">
          <a:xfrm>
            <a:off x="180474" y="1179096"/>
            <a:ext cx="8746958" cy="477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4F6128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366092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338628" name="Google Shape;86;p88"/>
          <p:cNvSpPr txBox="1">
            <a:spLocks noGrp="1"/>
          </p:cNvSpPr>
          <p:nvPr>
            <p:ph type="title"/>
          </p:nvPr>
        </p:nvSpPr>
        <p:spPr bwMode="auto">
          <a:xfrm>
            <a:off x="457200" y="208736"/>
            <a:ext cx="8229600" cy="779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690927" name="Google Shape;88;p9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81261544" name="Google Shape;89;p9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9290548" name="Google Shape;90;p9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099514" name="Google Shape;92;p104"/>
          <p:cNvSpPr txBox="1"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77440432" name="Google Shape;93;p104"/>
          <p:cNvSpPr txBox="1"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02920879" name="Google Shape;94;p104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81478476" name="Google Shape;95;p104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7014055" name="Google Shape;96;p104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108581" name="Google Shape;98;p105"/>
          <p:cNvSpPr txBox="1"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903391372" name="Google Shape;99;p105"/>
          <p:cNvSpPr txBox="1"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56967255" name="Google Shape;100;p105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13847727" name="Google Shape;101;p105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03012684" name="Google Shape;102;p105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93649" name="Google Shape;104;p106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621639642" name="Google Shape;105;p106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98390488" name="Google Shape;106;p106"/>
          <p:cNvSpPr txBox="1">
            <a:spLocks noGrp="1"/>
          </p:cNvSpPr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72775305" name="Google Shape;107;p106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82461253" name="Google Shape;108;p106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44700798" name="Google Shape;109;p106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8831" name="Google Shape;111;p107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211716015" name="Google Shape;112;p107"/>
          <p:cNvSpPr txBox="1"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84325154" name="Google Shape;113;p107"/>
          <p:cNvSpPr txBox="1">
            <a:spLocks noGrp="1"/>
          </p:cNvSpPr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05789272" name="Google Shape;114;p107"/>
          <p:cNvSpPr txBox="1">
            <a:spLocks noGrp="1"/>
          </p:cNvSpPr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25141810" name="Google Shape;115;p107"/>
          <p:cNvSpPr txBox="1">
            <a:spLocks noGrp="1"/>
          </p:cNvSpPr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94837112" name="Google Shape;116;p107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59493653" name="Google Shape;117;p107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47512676" name="Google Shape;118;p107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536529" name="Google Shape;120;p108"/>
          <p:cNvSpPr txBox="1"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61317992" name="Google Shape;121;p108"/>
          <p:cNvSpPr txBox="1">
            <a:spLocks noGrp="1"/>
          </p:cNvSpPr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7936742" name="Google Shape;122;p108"/>
          <p:cNvSpPr txBox="1">
            <a:spLocks noGrp="1"/>
          </p:cNvSpPr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14323060" name="Google Shape;123;p108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46792411" name="Google Shape;124;p108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26952586" name="Google Shape;125;p108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923684" name="Google Shape;127;p109"/>
          <p:cNvSpPr txBox="1"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308831260" name="Google Shape;128;p109"/>
          <p:cNvSpPr>
            <a:spLocks noGrp="1"/>
          </p:cNvSpPr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5459787" name="Google Shape;129;p109"/>
          <p:cNvSpPr txBox="1">
            <a:spLocks noGrp="1"/>
          </p:cNvSpPr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16922130" name="Google Shape;130;p109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41168417" name="Google Shape;131;p109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19029928" name="Google Shape;132;p109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170063" name="Google Shape;134;p110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27168517" name="Google Shape;135;p110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09707529" name="Google Shape;136;p110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86026191" name="Google Shape;137;p110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24737344" name="Google Shape;138;p110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77951" name="Google Shape;140;p111"/>
          <p:cNvSpPr txBox="1">
            <a:spLocks noGrp="1"/>
          </p:cNvSpPr>
          <p:nvPr>
            <p:ph type="title"/>
          </p:nvPr>
        </p:nvSpPr>
        <p:spPr bwMode="auto"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251404834" name="Google Shape;141;p1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45250375" name="Google Shape;142;p11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5745562" name="Google Shape;143;p11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81140097" name="Google Shape;144;p11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5221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lang="en-US"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060995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77898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896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82359740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210962"/>
            <a:ext cx="8229600" cy="45827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07242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lang="en-US"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71932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568385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lang="en-US"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2197713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3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5994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lang="en-US" sz="28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20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510703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lang="en-US"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840387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82214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B050"/>
                </a:solidFill>
              </a:defRPr>
            </a:lvl1pPr>
            <a:lvl2pPr>
              <a:defRPr sz="20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400137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416222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 marL="342900" indent="-342900">
              <a:defRPr lang="en-US" sz="24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defRPr lang="en-US" sz="20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lang="en-US" sz="18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l" defTabSz="457200" rtl="0">
              <a:spcBef>
                <a:spcPts val="0"/>
              </a:spcBef>
              <a:buFont typeface="Arial"/>
              <a:buChar char="•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 algn="l" defTabSz="457200" rtl="0">
              <a:spcBef>
                <a:spcPts val="0"/>
              </a:spcBef>
              <a:buFont typeface="Arial"/>
              <a:buChar char="–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 algn="l" defTabSz="457200" rtl="0">
              <a:spcBef>
                <a:spcPts val="0"/>
              </a:spcBef>
              <a:buFont typeface="Arial"/>
              <a:buChar char="•"/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889876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lang="en-US"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84582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7622114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lang="en-US" sz="36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  <a:lvl2pPr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5664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41225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1106143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237119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954636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42140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4343426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6362781-8026-4313-811C-BBEDC4B18F49}" type="datetime1">
              <a:rPr lang="en-US"/>
              <a:t>7/1/2025</a:t>
            </a:fld>
            <a:endParaRPr lang="en-US"/>
          </a:p>
        </p:txBody>
      </p:sp>
      <p:sp>
        <p:nvSpPr>
          <p:cNvPr id="101837151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604393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94378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181791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384534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C732300-8F2D-4BD1-A3AF-E4BA408DAC90}" type="datetime1">
              <a:rPr lang="en-US"/>
              <a:t>7/1/2025</a:t>
            </a:fld>
            <a:endParaRPr lang="en-US"/>
          </a:p>
        </p:txBody>
      </p:sp>
      <p:sp>
        <p:nvSpPr>
          <p:cNvPr id="26014955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435897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97343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363905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1490146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AED613E-2E18-4FF0-AC18-2B9298051CB8}" type="datetime1">
              <a:rPr lang="en-US"/>
              <a:t>7/1/2025</a:t>
            </a:fld>
            <a:endParaRPr lang="en-US"/>
          </a:p>
        </p:txBody>
      </p:sp>
      <p:sp>
        <p:nvSpPr>
          <p:cNvPr id="83373108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597313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127099" name="Title 1"/>
          <p:cNvSpPr>
            <a:spLocks noGrp="1"/>
          </p:cNvSpPr>
          <p:nvPr>
            <p:ph type="title"/>
          </p:nvPr>
        </p:nvSpPr>
        <p:spPr bwMode="auto">
          <a:xfrm>
            <a:off x="457200" y="136524"/>
            <a:ext cx="8229600" cy="762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42713241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250831"/>
            <a:ext cx="8229600" cy="45429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69287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02392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690056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730D42-12D7-4B4E-8770-5ACA128C8363}" type="datetime1">
              <a:rPr lang="en-US"/>
              <a:t>7/1/2025</a:t>
            </a:fld>
            <a:endParaRPr lang="en-US"/>
          </a:p>
        </p:txBody>
      </p:sp>
      <p:sp>
        <p:nvSpPr>
          <p:cNvPr id="127677354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173901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412573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217369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355601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8225445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B89627-2533-4F78-8CC2-804227094817}" type="datetime1">
              <a:rPr lang="en-US"/>
              <a:t>7/1/2025</a:t>
            </a:fld>
            <a:endParaRPr lang="en-US"/>
          </a:p>
        </p:txBody>
      </p:sp>
      <p:sp>
        <p:nvSpPr>
          <p:cNvPr id="40661871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828189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998819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400822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09694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088078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0056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36551289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8E77C8F-C192-4507-AC0A-E226D1D7147C}" type="datetime1">
              <a:rPr lang="en-US"/>
              <a:t>7/1/2025</a:t>
            </a:fld>
            <a:endParaRPr lang="en-US"/>
          </a:p>
        </p:txBody>
      </p:sp>
      <p:sp>
        <p:nvSpPr>
          <p:cNvPr id="107869548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2547245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478785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4059531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4064E37-DA65-4F80-8EE6-087D3C4EEA77}" type="datetime1">
              <a:rPr lang="en-US"/>
              <a:t>7/1/2025</a:t>
            </a:fld>
            <a:endParaRPr lang="en-US"/>
          </a:p>
        </p:txBody>
      </p:sp>
      <p:sp>
        <p:nvSpPr>
          <p:cNvPr id="394154608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9220435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49393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E0BAF2B-ACDB-467B-8143-FAA9C35E4807}" type="datetime1">
              <a:rPr lang="en-US"/>
              <a:t>7/1/2025</a:t>
            </a:fld>
            <a:endParaRPr lang="en-US"/>
          </a:p>
        </p:txBody>
      </p:sp>
      <p:sp>
        <p:nvSpPr>
          <p:cNvPr id="1336778279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3727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197316" name="Title 1"/>
          <p:cNvSpPr>
            <a:spLocks noGrp="1"/>
          </p:cNvSpPr>
          <p:nvPr>
            <p:ph type="title"/>
          </p:nvPr>
        </p:nvSpPr>
        <p:spPr bwMode="auto"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9816025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21824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825836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D1E594B-1C3E-4FB2-86AF-A48EBA672CDA}" type="datetime1">
              <a:rPr lang="en-US"/>
              <a:t>7/1/2025</a:t>
            </a:fld>
            <a:endParaRPr lang="en-US"/>
          </a:p>
        </p:txBody>
      </p:sp>
      <p:sp>
        <p:nvSpPr>
          <p:cNvPr id="75058043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671396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8249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325785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61962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899685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275853-81DC-4B24-BB0A-F8BCA7BB4355}" type="datetime1">
              <a:rPr lang="en-US"/>
              <a:t>7/1/2025</a:t>
            </a:fld>
            <a:endParaRPr lang="en-US"/>
          </a:p>
        </p:txBody>
      </p:sp>
      <p:sp>
        <p:nvSpPr>
          <p:cNvPr id="159809512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19661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005864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339865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93010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6362781-8026-4313-811C-BBEDC4B18F49}" type="datetime1">
              <a:rPr lang="en-US"/>
              <a:t>7/1/2025</a:t>
            </a:fld>
            <a:endParaRPr lang="en-US"/>
          </a:p>
        </p:txBody>
      </p:sp>
      <p:sp>
        <p:nvSpPr>
          <p:cNvPr id="128275125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032540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8332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616078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8776597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C732300-8F2D-4BD1-A3AF-E4BA408DAC90}" type="datetime1">
              <a:rPr lang="en-US"/>
              <a:t>7/1/2025</a:t>
            </a:fld>
            <a:endParaRPr lang="en-US"/>
          </a:p>
        </p:txBody>
      </p:sp>
      <p:sp>
        <p:nvSpPr>
          <p:cNvPr id="53469558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291796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E5A0CD-5DB2-A448-9B00-A28E358BAB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3.png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68805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96763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4579744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0CB65CA-0B7F-4BD9-8B7E-1411572223AF}" type="datetime1">
              <a:rPr lang="en-US"/>
              <a:t>7/1/2025</a:t>
            </a:fld>
            <a:endParaRPr lang="en-US"/>
          </a:p>
        </p:txBody>
      </p:sp>
      <p:sp>
        <p:nvSpPr>
          <p:cNvPr id="11243835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56892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FB0374-A2EC-B245-84D0-2DC6DF66F661}" type="slidenum">
              <a:rPr lang="en-US"/>
              <a:t>‹#›</a:t>
            </a:fld>
            <a:endParaRPr lang="en-US"/>
          </a:p>
        </p:txBody>
      </p:sp>
      <p:pic>
        <p:nvPicPr>
          <p:cNvPr id="143023137" name="Picture 8" descr="BrandBar_New_flag_only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-413265" y="5666007"/>
            <a:ext cx="9960737" cy="1553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0086279" name="Picture 6" descr="powerpoint_template_interior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0" y="6077712"/>
            <a:ext cx="9144000" cy="7802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7592208" name="Picture 6" descr="powerpoint_template_interior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0" y="6077712"/>
            <a:ext cx="9144000" cy="7802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342900" rtl="0"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>
        <a:spcBef>
          <a:spcPts val="0"/>
        </a:spcBef>
        <a:buFont typeface="Arial"/>
        <a:buChar char="–"/>
        <a:defRPr sz="21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>
        <a:spcBef>
          <a:spcPts val="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>
        <a:spcBef>
          <a:spcPts val="0"/>
        </a:spcBef>
        <a:buFont typeface="Arial"/>
        <a:buChar char="–"/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>
        <a:spcBef>
          <a:spcPts val="0"/>
        </a:spcBef>
        <a:buFont typeface="Arial"/>
        <a:buChar char="»"/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0043679" name="Google Shape;81;p83" descr="powerpoint_template_interior.png"/>
          <p:cNvPicPr/>
          <p:nvPr/>
        </p:nvPicPr>
        <p:blipFill rotWithShape="1">
          <a:blip r:embed="rId13">
            <a:alphaModFix/>
          </a:blip>
          <a:stretch/>
        </p:blipFill>
        <p:spPr bwMode="auto">
          <a:xfrm>
            <a:off x="0" y="6077712"/>
            <a:ext cx="9144000" cy="7802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9035438" name="Picture 6" descr="powerpoint_template_interior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0" y="6077712"/>
            <a:ext cx="9144000" cy="7802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dt="0" ftr="0" hdr="0" sldNum="0"/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5454894" name="Picture 6" descr="powerpoint_template_interior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0" y="6077712"/>
            <a:ext cx="9144000" cy="7802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dt="0" ftr="0" hdr="0" sldNum="0"/>
  <p:txStyles>
    <p:titleStyle>
      <a:lvl1pPr algn="ctr" defTabSz="342900" rtl="0"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>
        <a:spcBef>
          <a:spcPts val="0"/>
        </a:spcBef>
        <a:buFont typeface="Arial"/>
        <a:buChar char="–"/>
        <a:defRPr sz="21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>
        <a:spcBef>
          <a:spcPts val="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>
        <a:spcBef>
          <a:spcPts val="0"/>
        </a:spcBef>
        <a:buFont typeface="Arial"/>
        <a:buChar char="–"/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>
        <a:spcBef>
          <a:spcPts val="0"/>
        </a:spcBef>
        <a:buFont typeface="Arial"/>
        <a:buChar char="»"/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1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6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7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9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4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6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7.jp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9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0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243927" name="Title 3"/>
          <p:cNvSpPr>
            <a:spLocks noGrp="1"/>
          </p:cNvSpPr>
          <p:nvPr>
            <p:ph type="ctrTitle"/>
          </p:nvPr>
        </p:nvSpPr>
        <p:spPr bwMode="auto">
          <a:xfrm>
            <a:off x="938463" y="1493754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Arduino Programming using C</a:t>
            </a:r>
            <a:endParaRPr/>
          </a:p>
        </p:txBody>
      </p:sp>
      <p:sp>
        <p:nvSpPr>
          <p:cNvPr id="1276007838" name="Subtitle 4"/>
          <p:cNvSpPr>
            <a:spLocks noGrp="1"/>
          </p:cNvSpPr>
          <p:nvPr>
            <p:ph type="subTitle" idx="1"/>
          </p:nvPr>
        </p:nvSpPr>
        <p:spPr bwMode="auto">
          <a:xfrm>
            <a:off x="251209" y="3145134"/>
            <a:ext cx="8459653" cy="2256042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/>
              <a:t>Digital inputs and outputs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/>
              <a:t>Analog inputs and outputs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/>
              <a:t>Making decisions with ‘if’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/>
              <a:t>Loops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 b="1"/>
              <a:t>Goal: learn enough to understand </a:t>
            </a:r>
            <a:br>
              <a:rPr lang="en-US" b="1"/>
            </a:br>
            <a:r>
              <a:rPr lang="en-US" b="1"/>
              <a:t>the modules and get you started on writing your own C programs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550298" name="Title 1"/>
          <p:cNvSpPr>
            <a:spLocks noGrp="1"/>
          </p:cNvSpPr>
          <p:nvPr>
            <p:ph type="title"/>
          </p:nvPr>
        </p:nvSpPr>
        <p:spPr bwMode="auto">
          <a:xfrm>
            <a:off x="457200" y="120402"/>
            <a:ext cx="8229600" cy="749931"/>
          </a:xfrm>
        </p:spPr>
        <p:txBody>
          <a:bodyPr/>
          <a:lstStyle/>
          <a:p>
            <a:pPr>
              <a:defRPr/>
            </a:pPr>
            <a:r>
              <a:rPr lang="en-US"/>
              <a:t>digitalRead</a:t>
            </a:r>
            <a:r>
              <a:rPr lang="en-US"/>
              <a:t> and </a:t>
            </a:r>
            <a:r>
              <a:rPr lang="en-US"/>
              <a:t>digitalWrite</a:t>
            </a:r>
            <a:endParaRPr lang="en-US"/>
          </a:p>
        </p:txBody>
      </p:sp>
      <p:sp>
        <p:nvSpPr>
          <p:cNvPr id="1274814411" name="Content Placeholder 2"/>
          <p:cNvSpPr>
            <a:spLocks noGrp="1"/>
          </p:cNvSpPr>
          <p:nvPr>
            <p:ph idx="1"/>
          </p:nvPr>
        </p:nvSpPr>
        <p:spPr bwMode="auto">
          <a:xfrm>
            <a:off x="0" y="1132679"/>
            <a:ext cx="9119937" cy="4800600"/>
          </a:xfrm>
        </p:spPr>
        <p:txBody>
          <a:bodyPr/>
          <a:lstStyle/>
          <a:p>
            <a:pPr>
              <a:defRPr/>
            </a:pPr>
            <a:r>
              <a:rPr lang="en-US" sz="2800"/>
              <a:t>Suppose we want to turn on LED connected to pin 8</a:t>
            </a:r>
            <a:endParaRPr/>
          </a:p>
          <a:p>
            <a:pPr marL="857250" lvl="2" indent="0">
              <a:buNone/>
              <a:defRPr/>
            </a:pPr>
            <a:r>
              <a:rPr lang="en-US"/>
              <a:t>digitalWrite</a:t>
            </a:r>
            <a:r>
              <a:rPr lang="en-US"/>
              <a:t>(8,HIGH); </a:t>
            </a:r>
            <a:r>
              <a:rPr lang="en-US">
                <a:solidFill>
                  <a:srgbClr val="00B050"/>
                </a:solidFill>
              </a:rPr>
              <a:t>//sets pin 8 to 5V</a:t>
            </a:r>
            <a:r>
              <a:rPr lang="en-US"/>
              <a:t> </a:t>
            </a:r>
            <a:endParaRPr/>
          </a:p>
          <a:p>
            <a:pPr marL="857250" lvl="2" indent="0">
              <a:buNone/>
              <a:defRPr/>
            </a:pPr>
            <a:r>
              <a:rPr lang="en-US"/>
              <a:t>digitalWrite</a:t>
            </a:r>
            <a:r>
              <a:rPr lang="en-US"/>
              <a:t>(8,LOW); </a:t>
            </a:r>
            <a:r>
              <a:rPr lang="en-US">
                <a:solidFill>
                  <a:srgbClr val="00B050"/>
                </a:solidFill>
              </a:rPr>
              <a:t>//sets pin 8 to 0V</a:t>
            </a:r>
            <a:endParaRPr/>
          </a:p>
          <a:p>
            <a:pPr marL="857250" lvl="2" indent="0">
              <a:buNone/>
              <a:defRPr/>
            </a:pPr>
            <a:endParaRPr lang="en-US" sz="2000">
              <a:solidFill>
                <a:srgbClr val="00B050"/>
              </a:solidFill>
            </a:endParaRPr>
          </a:p>
          <a:p>
            <a:pPr marL="857250" lvl="2" indent="0">
              <a:buNone/>
              <a:defRPr/>
            </a:pPr>
            <a:endParaRPr lang="en-US" sz="2000"/>
          </a:p>
          <a:p>
            <a:pPr>
              <a:defRPr/>
            </a:pPr>
            <a:r>
              <a:rPr lang="en-US" sz="2800"/>
              <a:t>Now suppose we want to </a:t>
            </a:r>
            <a:r>
              <a:rPr lang="en-US" sz="2800" u="sng"/>
              <a:t>read</a:t>
            </a:r>
            <a:r>
              <a:rPr lang="en-US" sz="2800"/>
              <a:t> the voltage present on pin 9</a:t>
            </a:r>
            <a:endParaRPr/>
          </a:p>
          <a:p>
            <a:pPr marL="914400" lvl="2" indent="0">
              <a:buNone/>
              <a:defRPr/>
            </a:pPr>
            <a:r>
              <a:rPr lang="en-US"/>
              <a:t>int</a:t>
            </a:r>
            <a:r>
              <a:rPr lang="en-US"/>
              <a:t> x = </a:t>
            </a:r>
            <a:r>
              <a:rPr lang="en-US"/>
              <a:t>digitalRead</a:t>
            </a:r>
            <a:r>
              <a:rPr lang="en-US"/>
              <a:t>(9);</a:t>
            </a:r>
            <a:endParaRPr/>
          </a:p>
          <a:p>
            <a:pPr lvl="1">
              <a:defRPr/>
            </a:pPr>
            <a:r>
              <a:rPr lang="en-US" sz="2400"/>
              <a:t>Declares variable x to be an integer type</a:t>
            </a:r>
            <a:endParaRPr/>
          </a:p>
          <a:p>
            <a:pPr lvl="1">
              <a:defRPr/>
            </a:pPr>
            <a:r>
              <a:rPr lang="en-US" sz="2400"/>
              <a:t>Reads pin 9 voltage</a:t>
            </a:r>
            <a:endParaRPr/>
          </a:p>
          <a:p>
            <a:pPr lvl="1">
              <a:defRPr/>
            </a:pPr>
            <a:r>
              <a:rPr lang="en-US" sz="2400"/>
              <a:t>Stores either LOW or HIGH into x</a:t>
            </a:r>
            <a:endParaRPr/>
          </a:p>
          <a:p>
            <a:pPr lvl="2">
              <a:defRPr/>
            </a:pPr>
            <a:r>
              <a:rPr lang="en-US" sz="2000"/>
              <a:t>Actual values stored is either 0 or 1</a:t>
            </a:r>
            <a:endParaRPr/>
          </a:p>
        </p:txBody>
      </p:sp>
      <p:sp>
        <p:nvSpPr>
          <p:cNvPr id="537178000" name="Rectangle 3"/>
          <p:cNvSpPr/>
          <p:nvPr/>
        </p:nvSpPr>
        <p:spPr bwMode="auto">
          <a:xfrm>
            <a:off x="6382750" y="4250546"/>
            <a:ext cx="1725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defRPr/>
            </a:pPr>
            <a:r>
              <a:rPr lang="en-US" sz="5400" b="1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</a:rPr>
              <a:t>Input</a:t>
            </a:r>
            <a:endParaRPr/>
          </a:p>
        </p:txBody>
      </p:sp>
      <p:sp>
        <p:nvSpPr>
          <p:cNvPr id="739683245" name="Rectangle 4"/>
          <p:cNvSpPr/>
          <p:nvPr/>
        </p:nvSpPr>
        <p:spPr bwMode="auto">
          <a:xfrm>
            <a:off x="6257292" y="1735710"/>
            <a:ext cx="22493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defRPr/>
            </a:pPr>
            <a:r>
              <a:rPr lang="en-US" sz="5400" b="1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</a:rPr>
              <a:t>Output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420576" name="Title 1"/>
          <p:cNvSpPr>
            <a:spLocks noGrp="1"/>
          </p:cNvSpPr>
          <p:nvPr>
            <p:ph type="title"/>
          </p:nvPr>
        </p:nvSpPr>
        <p:spPr bwMode="auto">
          <a:xfrm>
            <a:off x="457200" y="87351"/>
            <a:ext cx="8229600" cy="719633"/>
          </a:xfrm>
        </p:spPr>
        <p:txBody>
          <a:bodyPr/>
          <a:lstStyle/>
          <a:p>
            <a:pPr>
              <a:defRPr/>
            </a:pPr>
            <a:r>
              <a:rPr lang="en-US"/>
              <a:t>Meaning of LOW and HIGH</a:t>
            </a:r>
            <a:endParaRPr/>
          </a:p>
        </p:txBody>
      </p:sp>
      <p:sp>
        <p:nvSpPr>
          <p:cNvPr id="1063516664" name="Content Placeholder 2"/>
          <p:cNvSpPr>
            <a:spLocks noGrp="1"/>
          </p:cNvSpPr>
          <p:nvPr>
            <p:ph idx="1"/>
          </p:nvPr>
        </p:nvSpPr>
        <p:spPr bwMode="auto">
          <a:xfrm>
            <a:off x="545335" y="994271"/>
            <a:ext cx="8229600" cy="4913234"/>
          </a:xfrm>
        </p:spPr>
        <p:txBody>
          <a:bodyPr/>
          <a:lstStyle/>
          <a:p>
            <a:pPr>
              <a:defRPr/>
            </a:pPr>
            <a:r>
              <a:rPr lang="en-US" sz="2800"/>
              <a:t>Suppose we want to read a digital input on pin 6</a:t>
            </a:r>
            <a:endParaRPr/>
          </a:p>
          <a:p>
            <a:pPr marL="0" indent="0">
              <a:buNone/>
              <a:defRPr/>
            </a:pPr>
            <a:r>
              <a:rPr lang="en-US" sz="2800"/>
              <a:t>	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X =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digitalRead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(6);  </a:t>
            </a:r>
            <a:endParaRPr/>
          </a:p>
          <a:p>
            <a:pPr lvl="1">
              <a:defRPr/>
            </a:pPr>
            <a:r>
              <a:rPr lang="en-US" sz="2000"/>
              <a:t>In the real world, voltages are noisy</a:t>
            </a:r>
            <a:endParaRPr/>
          </a:p>
          <a:p>
            <a:pPr lvl="1">
              <a:defRPr/>
            </a:pPr>
            <a:r>
              <a:rPr lang="en-US" sz="2000"/>
              <a:t>The actual voltage may range anywhere from below 0 V to over 5 V.</a:t>
            </a:r>
            <a:endParaRPr/>
          </a:p>
          <a:p>
            <a:pPr lvl="1">
              <a:defRPr/>
            </a:pPr>
            <a:r>
              <a:rPr lang="en-US" sz="2000"/>
              <a:t>How is this converted into a binary result?</a:t>
            </a:r>
            <a:endParaRPr/>
          </a:p>
          <a:p>
            <a:pPr>
              <a:defRPr/>
            </a:pPr>
            <a:r>
              <a:rPr lang="en-US" sz="2800"/>
              <a:t>Arduino electronics make this happen:</a:t>
            </a:r>
            <a:endParaRPr/>
          </a:p>
          <a:p>
            <a:pPr lvl="1">
              <a:defRPr/>
            </a:pPr>
            <a:r>
              <a:rPr lang="en-US" sz="2400"/>
              <a:t>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0≤</m:t>
                      </m:r>
                      <m:sSub>
                        <m:sSubPr>
                          <m:ctrlPr>
                            <a:rPr lang="en-US" sz="2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m:rPr/>
                            <a:rPr lang="en-US" sz="2400" b="0" i="1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m:rPr/>
                        <a:rPr lang="en-US" sz="2400" b="0" i="1">
                          <a:latin typeface="Cambria Math"/>
                        </a:rPr>
                        <m:t>≤3.0 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volts then X = LOW ( stored as 0)</a:t>
            </a:r>
            <a:endParaRPr/>
          </a:p>
          <a:p>
            <a:pPr lvl="1">
              <a:defRPr/>
            </a:pPr>
            <a:r>
              <a:rPr lang="en-US" sz="2400"/>
              <a:t>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m:rPr/>
                            <a:rPr lang="en-US" sz="2400" b="0" i="1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m:rPr/>
                        <a:rPr lang="en-US" sz="2400" b="0" i="1">
                          <a:latin typeface="Cambria Math"/>
                        </a:rPr>
                        <m:t>&gt;3.0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 volts then X = HIGH (stored as 1)</a:t>
            </a:r>
            <a:endParaRPr/>
          </a:p>
          <a:p>
            <a:pPr lvl="1">
              <a:defRPr/>
            </a:pPr>
            <a:endParaRPr lang="en-US" sz="2400"/>
          </a:p>
          <a:p>
            <a:pPr>
              <a:defRPr/>
            </a:pPr>
            <a:r>
              <a:rPr lang="en-US" sz="2800"/>
              <a:t>Now we can use </a:t>
            </a:r>
            <a:r>
              <a:rPr lang="en-US" sz="2800"/>
              <a:t>digitalRead</a:t>
            </a:r>
            <a:r>
              <a:rPr lang="en-US" sz="2800"/>
              <a:t> to sense a pushbutton!</a:t>
            </a:r>
            <a:endParaRPr/>
          </a:p>
          <a:p>
            <a:pPr lvl="1">
              <a:defRPr/>
            </a:pPr>
            <a:r>
              <a:rPr lang="en-US" sz="2400"/>
              <a:t>A small amount of noise won’t bother us</a:t>
            </a:r>
            <a:endParaRPr/>
          </a:p>
          <a:p>
            <a:pPr>
              <a:defRPr/>
            </a:pPr>
            <a:endParaRPr lang="en-US" sz="2800"/>
          </a:p>
        </p:txBody>
      </p:sp>
      <p:grpSp>
        <p:nvGrpSpPr>
          <p:cNvPr id="457887789" name="Group 18"/>
          <p:cNvGrpSpPr/>
          <p:nvPr/>
        </p:nvGrpSpPr>
        <p:grpSpPr bwMode="auto">
          <a:xfrm>
            <a:off x="7326419" y="1575205"/>
            <a:ext cx="1206111" cy="688633"/>
            <a:chOff x="7326419" y="1575205"/>
            <a:chExt cx="1206111" cy="688633"/>
          </a:xfrm>
        </p:grpSpPr>
        <p:sp>
          <p:nvSpPr>
            <p:cNvPr id="4" name="Freeform: Shape 3"/>
            <p:cNvSpPr/>
            <p:nvPr/>
          </p:nvSpPr>
          <p:spPr bwMode="auto">
            <a:xfrm>
              <a:off x="7640569" y="1581968"/>
              <a:ext cx="891961" cy="555372"/>
            </a:xfrm>
            <a:custGeom>
              <a:avLst/>
              <a:gdLst>
                <a:gd name="connsiteX0" fmla="*/ 0 w 891961"/>
                <a:gd name="connsiteY0" fmla="*/ 0 h 555372"/>
                <a:gd name="connsiteX1" fmla="*/ 0 w 891961"/>
                <a:gd name="connsiteY1" fmla="*/ 555372 h 555372"/>
                <a:gd name="connsiteX2" fmla="*/ 891961 w 891961"/>
                <a:gd name="connsiteY2" fmla="*/ 555372 h 55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961" h="555372" fill="norm" stroke="1" extrusionOk="0">
                  <a:moveTo>
                    <a:pt x="0" y="0"/>
                  </a:moveTo>
                  <a:lnTo>
                    <a:pt x="0" y="555372"/>
                  </a:lnTo>
                  <a:lnTo>
                    <a:pt x="891961" y="555372"/>
                  </a:lnTo>
                </a:path>
              </a:pathLst>
            </a:cu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 bwMode="auto">
            <a:xfrm>
              <a:off x="7640569" y="1856849"/>
              <a:ext cx="72366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 bwMode="auto">
            <a:xfrm>
              <a:off x="7326419" y="1718348"/>
              <a:ext cx="521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/>
                <a:t>5V</a:t>
              </a:r>
              <a:endParaRPr/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7663008" y="1575205"/>
              <a:ext cx="7853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/>
                <a:t>No noise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7326419" y="1986839"/>
              <a:ext cx="521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/>
                <a:t>0V</a:t>
              </a:r>
              <a:endParaRPr/>
            </a:p>
          </p:txBody>
        </p:sp>
      </p:grpSp>
      <p:grpSp>
        <p:nvGrpSpPr>
          <p:cNvPr id="306296960" name="Group 17"/>
          <p:cNvGrpSpPr/>
          <p:nvPr/>
        </p:nvGrpSpPr>
        <p:grpSpPr bwMode="auto">
          <a:xfrm>
            <a:off x="7326419" y="2868755"/>
            <a:ext cx="1206111" cy="701020"/>
            <a:chOff x="7326419" y="2868755"/>
            <a:chExt cx="1206111" cy="701020"/>
          </a:xfrm>
        </p:grpSpPr>
        <p:sp>
          <p:nvSpPr>
            <p:cNvPr id="9" name="Freeform: Shape 8"/>
            <p:cNvSpPr/>
            <p:nvPr/>
          </p:nvSpPr>
          <p:spPr bwMode="auto">
            <a:xfrm>
              <a:off x="7640569" y="2911299"/>
              <a:ext cx="891961" cy="555372"/>
            </a:xfrm>
            <a:custGeom>
              <a:avLst/>
              <a:gdLst>
                <a:gd name="connsiteX0" fmla="*/ 0 w 891961"/>
                <a:gd name="connsiteY0" fmla="*/ 0 h 555372"/>
                <a:gd name="connsiteX1" fmla="*/ 0 w 891961"/>
                <a:gd name="connsiteY1" fmla="*/ 555372 h 555372"/>
                <a:gd name="connsiteX2" fmla="*/ 891961 w 891961"/>
                <a:gd name="connsiteY2" fmla="*/ 555372 h 55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961" h="555372" fill="norm" stroke="1" extrusionOk="0">
                  <a:moveTo>
                    <a:pt x="0" y="0"/>
                  </a:moveTo>
                  <a:lnTo>
                    <a:pt x="0" y="555372"/>
                  </a:lnTo>
                  <a:lnTo>
                    <a:pt x="891961" y="555372"/>
                  </a:lnTo>
                </a:path>
              </a:pathLst>
            </a:cu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>
              <a:off x="7640569" y="3186180"/>
              <a:ext cx="723667" cy="0"/>
            </a:xfrm>
            <a:prstGeom prst="line">
              <a:avLst/>
            </a:prstGeom>
            <a:ln w="635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/>
            <p:cNvSpPr/>
            <p:nvPr/>
          </p:nvSpPr>
          <p:spPr bwMode="auto">
            <a:xfrm>
              <a:off x="7640569" y="3105329"/>
              <a:ext cx="790984" cy="206977"/>
            </a:xfrm>
            <a:custGeom>
              <a:avLst/>
              <a:gdLst>
                <a:gd name="connsiteX0" fmla="*/ 0 w 790984"/>
                <a:gd name="connsiteY0" fmla="*/ 92071 h 206977"/>
                <a:gd name="connsiteX1" fmla="*/ 33659 w 790984"/>
                <a:gd name="connsiteY1" fmla="*/ 103291 h 206977"/>
                <a:gd name="connsiteX2" fmla="*/ 56098 w 790984"/>
                <a:gd name="connsiteY2" fmla="*/ 125730 h 206977"/>
                <a:gd name="connsiteX3" fmla="*/ 78538 w 790984"/>
                <a:gd name="connsiteY3" fmla="*/ 136949 h 206977"/>
                <a:gd name="connsiteX4" fmla="*/ 84148 w 790984"/>
                <a:gd name="connsiteY4" fmla="*/ 86461 h 206977"/>
                <a:gd name="connsiteX5" fmla="*/ 89757 w 790984"/>
                <a:gd name="connsiteY5" fmla="*/ 2314 h 206977"/>
                <a:gd name="connsiteX6" fmla="*/ 112197 w 790984"/>
                <a:gd name="connsiteY6" fmla="*/ 30363 h 206977"/>
                <a:gd name="connsiteX7" fmla="*/ 123416 w 790984"/>
                <a:gd name="connsiteY7" fmla="*/ 69632 h 206977"/>
                <a:gd name="connsiteX8" fmla="*/ 134636 w 790984"/>
                <a:gd name="connsiteY8" fmla="*/ 92071 h 206977"/>
                <a:gd name="connsiteX9" fmla="*/ 145856 w 790984"/>
                <a:gd name="connsiteY9" fmla="*/ 131340 h 206977"/>
                <a:gd name="connsiteX10" fmla="*/ 162685 w 790984"/>
                <a:gd name="connsiteY10" fmla="*/ 86461 h 206977"/>
                <a:gd name="connsiteX11" fmla="*/ 168295 w 790984"/>
                <a:gd name="connsiteY11" fmla="*/ 69632 h 206977"/>
                <a:gd name="connsiteX12" fmla="*/ 179514 w 790984"/>
                <a:gd name="connsiteY12" fmla="*/ 41583 h 206977"/>
                <a:gd name="connsiteX13" fmla="*/ 263662 w 790984"/>
                <a:gd name="connsiteY13" fmla="*/ 103291 h 206977"/>
                <a:gd name="connsiteX14" fmla="*/ 274881 w 790984"/>
                <a:gd name="connsiteY14" fmla="*/ 125730 h 206977"/>
                <a:gd name="connsiteX15" fmla="*/ 280491 w 790984"/>
                <a:gd name="connsiteY15" fmla="*/ 170608 h 206977"/>
                <a:gd name="connsiteX16" fmla="*/ 297321 w 790984"/>
                <a:gd name="connsiteY16" fmla="*/ 204267 h 206977"/>
                <a:gd name="connsiteX17" fmla="*/ 291711 w 790984"/>
                <a:gd name="connsiteY17" fmla="*/ 41583 h 206977"/>
                <a:gd name="connsiteX18" fmla="*/ 286101 w 790984"/>
                <a:gd name="connsiteY18" fmla="*/ 19143 h 206977"/>
                <a:gd name="connsiteX19" fmla="*/ 302930 w 790984"/>
                <a:gd name="connsiteY19" fmla="*/ 30363 h 206977"/>
                <a:gd name="connsiteX20" fmla="*/ 308540 w 790984"/>
                <a:gd name="connsiteY20" fmla="*/ 47192 h 206977"/>
                <a:gd name="connsiteX21" fmla="*/ 336589 w 790984"/>
                <a:gd name="connsiteY21" fmla="*/ 153779 h 206977"/>
                <a:gd name="connsiteX22" fmla="*/ 342199 w 790984"/>
                <a:gd name="connsiteY22" fmla="*/ 125730 h 206977"/>
                <a:gd name="connsiteX23" fmla="*/ 353419 w 790984"/>
                <a:gd name="connsiteY23" fmla="*/ 80851 h 206977"/>
                <a:gd name="connsiteX24" fmla="*/ 370248 w 790984"/>
                <a:gd name="connsiteY24" fmla="*/ 7924 h 206977"/>
                <a:gd name="connsiteX25" fmla="*/ 409517 w 790984"/>
                <a:gd name="connsiteY25" fmla="*/ 58412 h 206977"/>
                <a:gd name="connsiteX26" fmla="*/ 415127 w 790984"/>
                <a:gd name="connsiteY26" fmla="*/ 80851 h 206977"/>
                <a:gd name="connsiteX27" fmla="*/ 448786 w 790984"/>
                <a:gd name="connsiteY27" fmla="*/ 181828 h 206977"/>
                <a:gd name="connsiteX28" fmla="*/ 454395 w 790984"/>
                <a:gd name="connsiteY28" fmla="*/ 114510 h 206977"/>
                <a:gd name="connsiteX29" fmla="*/ 460005 w 790984"/>
                <a:gd name="connsiteY29" fmla="*/ 86461 h 206977"/>
                <a:gd name="connsiteX30" fmla="*/ 465615 w 790984"/>
                <a:gd name="connsiteY30" fmla="*/ 114510 h 206977"/>
                <a:gd name="connsiteX31" fmla="*/ 476835 w 790984"/>
                <a:gd name="connsiteY31" fmla="*/ 136949 h 206977"/>
                <a:gd name="connsiteX32" fmla="*/ 499274 w 790984"/>
                <a:gd name="connsiteY32" fmla="*/ 114510 h 206977"/>
                <a:gd name="connsiteX33" fmla="*/ 510494 w 790984"/>
                <a:gd name="connsiteY33" fmla="*/ 97681 h 206977"/>
                <a:gd name="connsiteX34" fmla="*/ 532933 w 790984"/>
                <a:gd name="connsiteY34" fmla="*/ 92071 h 206977"/>
                <a:gd name="connsiteX35" fmla="*/ 544152 w 790984"/>
                <a:gd name="connsiteY35" fmla="*/ 69632 h 206977"/>
                <a:gd name="connsiteX36" fmla="*/ 560982 w 790984"/>
                <a:gd name="connsiteY36" fmla="*/ 58412 h 206977"/>
                <a:gd name="connsiteX37" fmla="*/ 572202 w 790984"/>
                <a:gd name="connsiteY37" fmla="*/ 41583 h 206977"/>
                <a:gd name="connsiteX38" fmla="*/ 605860 w 790984"/>
                <a:gd name="connsiteY38" fmla="*/ 52802 h 206977"/>
                <a:gd name="connsiteX39" fmla="*/ 617080 w 790984"/>
                <a:gd name="connsiteY39" fmla="*/ 114510 h 206977"/>
                <a:gd name="connsiteX40" fmla="*/ 622690 w 790984"/>
                <a:gd name="connsiteY40" fmla="*/ 75242 h 206977"/>
                <a:gd name="connsiteX41" fmla="*/ 645129 w 790984"/>
                <a:gd name="connsiteY41" fmla="*/ 86461 h 206977"/>
                <a:gd name="connsiteX42" fmla="*/ 667568 w 790984"/>
                <a:gd name="connsiteY42" fmla="*/ 108900 h 206977"/>
                <a:gd name="connsiteX43" fmla="*/ 695618 w 790984"/>
                <a:gd name="connsiteY43" fmla="*/ 58412 h 206977"/>
                <a:gd name="connsiteX44" fmla="*/ 701227 w 790984"/>
                <a:gd name="connsiteY44" fmla="*/ 24753 h 206977"/>
                <a:gd name="connsiteX45" fmla="*/ 723667 w 790984"/>
                <a:gd name="connsiteY45" fmla="*/ 58412 h 206977"/>
                <a:gd name="connsiteX46" fmla="*/ 762935 w 790984"/>
                <a:gd name="connsiteY46" fmla="*/ 92071 h 206977"/>
                <a:gd name="connsiteX47" fmla="*/ 790984 w 790984"/>
                <a:gd name="connsiteY47" fmla="*/ 75242 h 20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90984" h="206977" fill="norm" stroke="1" extrusionOk="0">
                  <a:moveTo>
                    <a:pt x="0" y="92071"/>
                  </a:moveTo>
                  <a:cubicBezTo>
                    <a:pt x="11220" y="95811"/>
                    <a:pt x="23518" y="97206"/>
                    <a:pt x="33659" y="103291"/>
                  </a:cubicBezTo>
                  <a:cubicBezTo>
                    <a:pt x="42729" y="108733"/>
                    <a:pt x="47636" y="119383"/>
                    <a:pt x="56098" y="125730"/>
                  </a:cubicBezTo>
                  <a:cubicBezTo>
                    <a:pt x="62788" y="130748"/>
                    <a:pt x="71058" y="133209"/>
                    <a:pt x="78538" y="136949"/>
                  </a:cubicBezTo>
                  <a:cubicBezTo>
                    <a:pt x="80408" y="120120"/>
                    <a:pt x="82742" y="103335"/>
                    <a:pt x="84148" y="86461"/>
                  </a:cubicBezTo>
                  <a:cubicBezTo>
                    <a:pt x="86482" y="58447"/>
                    <a:pt x="77185" y="27457"/>
                    <a:pt x="89757" y="2314"/>
                  </a:cubicBezTo>
                  <a:cubicBezTo>
                    <a:pt x="95112" y="-8395"/>
                    <a:pt x="104717" y="21013"/>
                    <a:pt x="112197" y="30363"/>
                  </a:cubicBezTo>
                  <a:cubicBezTo>
                    <a:pt x="115937" y="43453"/>
                    <a:pt x="118764" y="56838"/>
                    <a:pt x="123416" y="69632"/>
                  </a:cubicBezTo>
                  <a:cubicBezTo>
                    <a:pt x="126274" y="77491"/>
                    <a:pt x="131778" y="84212"/>
                    <a:pt x="134636" y="92071"/>
                  </a:cubicBezTo>
                  <a:cubicBezTo>
                    <a:pt x="139288" y="104865"/>
                    <a:pt x="142116" y="118250"/>
                    <a:pt x="145856" y="131340"/>
                  </a:cubicBezTo>
                  <a:cubicBezTo>
                    <a:pt x="156677" y="77229"/>
                    <a:pt x="143426" y="124979"/>
                    <a:pt x="162685" y="86461"/>
                  </a:cubicBezTo>
                  <a:cubicBezTo>
                    <a:pt x="165330" y="81172"/>
                    <a:pt x="166219" y="75169"/>
                    <a:pt x="168295" y="69632"/>
                  </a:cubicBezTo>
                  <a:cubicBezTo>
                    <a:pt x="171831" y="60203"/>
                    <a:pt x="175774" y="50933"/>
                    <a:pt x="179514" y="41583"/>
                  </a:cubicBezTo>
                  <a:cubicBezTo>
                    <a:pt x="231283" y="71781"/>
                    <a:pt x="239748" y="65029"/>
                    <a:pt x="263662" y="103291"/>
                  </a:cubicBezTo>
                  <a:cubicBezTo>
                    <a:pt x="268094" y="110382"/>
                    <a:pt x="271141" y="118250"/>
                    <a:pt x="274881" y="125730"/>
                  </a:cubicBezTo>
                  <a:cubicBezTo>
                    <a:pt x="276751" y="140689"/>
                    <a:pt x="276349" y="156112"/>
                    <a:pt x="280491" y="170608"/>
                  </a:cubicBezTo>
                  <a:cubicBezTo>
                    <a:pt x="283937" y="182669"/>
                    <a:pt x="296234" y="216764"/>
                    <a:pt x="297321" y="204267"/>
                  </a:cubicBezTo>
                  <a:cubicBezTo>
                    <a:pt x="302022" y="150211"/>
                    <a:pt x="294994" y="95744"/>
                    <a:pt x="291711" y="41583"/>
                  </a:cubicBezTo>
                  <a:cubicBezTo>
                    <a:pt x="291245" y="33887"/>
                    <a:pt x="280649" y="24595"/>
                    <a:pt x="286101" y="19143"/>
                  </a:cubicBezTo>
                  <a:cubicBezTo>
                    <a:pt x="290868" y="14375"/>
                    <a:pt x="297320" y="26623"/>
                    <a:pt x="302930" y="30363"/>
                  </a:cubicBezTo>
                  <a:cubicBezTo>
                    <a:pt x="304800" y="35973"/>
                    <a:pt x="306841" y="41528"/>
                    <a:pt x="308540" y="47192"/>
                  </a:cubicBezTo>
                  <a:cubicBezTo>
                    <a:pt x="321722" y="91129"/>
                    <a:pt x="323922" y="103109"/>
                    <a:pt x="336589" y="153779"/>
                  </a:cubicBezTo>
                  <a:cubicBezTo>
                    <a:pt x="338459" y="144429"/>
                    <a:pt x="340055" y="135021"/>
                    <a:pt x="342199" y="125730"/>
                  </a:cubicBezTo>
                  <a:cubicBezTo>
                    <a:pt x="345666" y="110705"/>
                    <a:pt x="350739" y="96036"/>
                    <a:pt x="353419" y="80851"/>
                  </a:cubicBezTo>
                  <a:cubicBezTo>
                    <a:pt x="365892" y="10172"/>
                    <a:pt x="348523" y="51375"/>
                    <a:pt x="370248" y="7924"/>
                  </a:cubicBezTo>
                  <a:cubicBezTo>
                    <a:pt x="390314" y="27990"/>
                    <a:pt x="397639" y="31687"/>
                    <a:pt x="409517" y="58412"/>
                  </a:cubicBezTo>
                  <a:cubicBezTo>
                    <a:pt x="412648" y="65457"/>
                    <a:pt x="412789" y="73504"/>
                    <a:pt x="415127" y="80851"/>
                  </a:cubicBezTo>
                  <a:cubicBezTo>
                    <a:pt x="425885" y="114661"/>
                    <a:pt x="448786" y="181828"/>
                    <a:pt x="448786" y="181828"/>
                  </a:cubicBezTo>
                  <a:cubicBezTo>
                    <a:pt x="450656" y="159389"/>
                    <a:pt x="451764" y="136873"/>
                    <a:pt x="454395" y="114510"/>
                  </a:cubicBezTo>
                  <a:cubicBezTo>
                    <a:pt x="455509" y="105040"/>
                    <a:pt x="450470" y="86461"/>
                    <a:pt x="460005" y="86461"/>
                  </a:cubicBezTo>
                  <a:cubicBezTo>
                    <a:pt x="469540" y="86461"/>
                    <a:pt x="462600" y="105464"/>
                    <a:pt x="465615" y="114510"/>
                  </a:cubicBezTo>
                  <a:cubicBezTo>
                    <a:pt x="468260" y="122443"/>
                    <a:pt x="473095" y="129469"/>
                    <a:pt x="476835" y="136949"/>
                  </a:cubicBezTo>
                  <a:cubicBezTo>
                    <a:pt x="484315" y="129469"/>
                    <a:pt x="492390" y="122541"/>
                    <a:pt x="499274" y="114510"/>
                  </a:cubicBezTo>
                  <a:cubicBezTo>
                    <a:pt x="503662" y="109391"/>
                    <a:pt x="504884" y="101421"/>
                    <a:pt x="510494" y="97681"/>
                  </a:cubicBezTo>
                  <a:cubicBezTo>
                    <a:pt x="516909" y="93404"/>
                    <a:pt x="525453" y="93941"/>
                    <a:pt x="532933" y="92071"/>
                  </a:cubicBezTo>
                  <a:cubicBezTo>
                    <a:pt x="536673" y="84591"/>
                    <a:pt x="538799" y="76056"/>
                    <a:pt x="544152" y="69632"/>
                  </a:cubicBezTo>
                  <a:cubicBezTo>
                    <a:pt x="548468" y="64452"/>
                    <a:pt x="556214" y="63179"/>
                    <a:pt x="560982" y="58412"/>
                  </a:cubicBezTo>
                  <a:cubicBezTo>
                    <a:pt x="565749" y="53645"/>
                    <a:pt x="568462" y="47193"/>
                    <a:pt x="572202" y="41583"/>
                  </a:cubicBezTo>
                  <a:cubicBezTo>
                    <a:pt x="578486" y="22728"/>
                    <a:pt x="581469" y="-2949"/>
                    <a:pt x="605860" y="52802"/>
                  </a:cubicBezTo>
                  <a:cubicBezTo>
                    <a:pt x="614240" y="71956"/>
                    <a:pt x="613340" y="93941"/>
                    <a:pt x="617080" y="114510"/>
                  </a:cubicBezTo>
                  <a:cubicBezTo>
                    <a:pt x="618950" y="101421"/>
                    <a:pt x="613340" y="84592"/>
                    <a:pt x="622690" y="75242"/>
                  </a:cubicBezTo>
                  <a:cubicBezTo>
                    <a:pt x="628603" y="69329"/>
                    <a:pt x="638439" y="81444"/>
                    <a:pt x="645129" y="86461"/>
                  </a:cubicBezTo>
                  <a:cubicBezTo>
                    <a:pt x="653591" y="92808"/>
                    <a:pt x="660088" y="101420"/>
                    <a:pt x="667568" y="108900"/>
                  </a:cubicBezTo>
                  <a:cubicBezTo>
                    <a:pt x="676918" y="92071"/>
                    <a:pt x="688468" y="76287"/>
                    <a:pt x="695618" y="58412"/>
                  </a:cubicBezTo>
                  <a:cubicBezTo>
                    <a:pt x="699842" y="47851"/>
                    <a:pt x="689853" y="24753"/>
                    <a:pt x="701227" y="24753"/>
                  </a:cubicBezTo>
                  <a:cubicBezTo>
                    <a:pt x="714711" y="24753"/>
                    <a:pt x="714132" y="48877"/>
                    <a:pt x="723667" y="58412"/>
                  </a:cubicBezTo>
                  <a:cubicBezTo>
                    <a:pt x="750873" y="85618"/>
                    <a:pt x="737305" y="74983"/>
                    <a:pt x="762935" y="92071"/>
                  </a:cubicBezTo>
                  <a:cubicBezTo>
                    <a:pt x="786871" y="74120"/>
                    <a:pt x="776025" y="75242"/>
                    <a:pt x="790984" y="75242"/>
                  </a:cubicBezTo>
                </a:path>
              </a:pathLst>
            </a:cu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7326419" y="3047680"/>
              <a:ext cx="521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/>
                <a:t>5V</a:t>
              </a:r>
              <a:endParaRPr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7663008" y="2868755"/>
              <a:ext cx="7853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/>
                <a:t>Noisy</a:t>
              </a:r>
              <a:endParaRPr/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7326419" y="3292776"/>
              <a:ext cx="521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/>
                <a:t>0V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708808" name="Picture 2" descr="Related imag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306572" y="749577"/>
            <a:ext cx="3810000" cy="3810000"/>
          </a:xfrm>
          <a:prstGeom prst="rect">
            <a:avLst/>
          </a:prstGeom>
          <a:noFill/>
        </p:spPr>
      </p:pic>
      <p:sp>
        <p:nvSpPr>
          <p:cNvPr id="16356528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Push Button Switch</a:t>
            </a:r>
            <a:endParaRPr/>
          </a:p>
        </p:txBody>
      </p:sp>
      <p:sp>
        <p:nvSpPr>
          <p:cNvPr id="1188897062" name="Content Placeholder 2"/>
          <p:cNvSpPr>
            <a:spLocks noGrp="1"/>
          </p:cNvSpPr>
          <p:nvPr>
            <p:ph idx="1"/>
          </p:nvPr>
        </p:nvSpPr>
        <p:spPr bwMode="auto">
          <a:xfrm>
            <a:off x="306571" y="4768702"/>
            <a:ext cx="8837425" cy="1142998"/>
          </a:xfrm>
        </p:spPr>
        <p:txBody>
          <a:bodyPr/>
          <a:lstStyle/>
          <a:p>
            <a:pPr>
              <a:defRPr/>
            </a:pPr>
            <a:r>
              <a:rPr lang="en-US"/>
              <a:t>Pushing button connects left 2 pins to right 2 pins</a:t>
            </a:r>
            <a:endParaRPr/>
          </a:p>
        </p:txBody>
      </p:sp>
      <p:pic>
        <p:nvPicPr>
          <p:cNvPr id="2046691383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81649" y="2121177"/>
            <a:ext cx="1474602" cy="1906556"/>
          </a:xfrm>
          <a:prstGeom prst="rect">
            <a:avLst/>
          </a:prstGeom>
        </p:spPr>
      </p:pic>
      <p:grpSp>
        <p:nvGrpSpPr>
          <p:cNvPr id="496384989" name="Group 8"/>
          <p:cNvGrpSpPr/>
          <p:nvPr/>
        </p:nvGrpSpPr>
        <p:grpSpPr bwMode="auto">
          <a:xfrm>
            <a:off x="6943060" y="2371060"/>
            <a:ext cx="1020726" cy="1371600"/>
            <a:chOff x="6943060" y="2371060"/>
            <a:chExt cx="1020726" cy="1371600"/>
          </a:xfrm>
        </p:grpSpPr>
        <p:sp>
          <p:nvSpPr>
            <p:cNvPr id="5" name="Freeform: Shape 4"/>
            <p:cNvSpPr/>
            <p:nvPr/>
          </p:nvSpPr>
          <p:spPr bwMode="auto">
            <a:xfrm>
              <a:off x="6943060" y="2371060"/>
              <a:ext cx="0" cy="1371600"/>
            </a:xfrm>
            <a:custGeom>
              <a:avLst/>
              <a:gdLst>
                <a:gd name="connsiteX0" fmla="*/ 0 w 0"/>
                <a:gd name="connsiteY0" fmla="*/ 0 h 1371600"/>
                <a:gd name="connsiteX1" fmla="*/ 0 w 0"/>
                <a:gd name="connsiteY1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371600" fill="norm" stroke="1" extrusionOk="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Freeform: Shape 6"/>
            <p:cNvSpPr/>
            <p:nvPr/>
          </p:nvSpPr>
          <p:spPr bwMode="auto">
            <a:xfrm>
              <a:off x="7953153" y="2371060"/>
              <a:ext cx="0" cy="1371600"/>
            </a:xfrm>
            <a:custGeom>
              <a:avLst/>
              <a:gdLst>
                <a:gd name="connsiteX0" fmla="*/ 0 w 0"/>
                <a:gd name="connsiteY0" fmla="*/ 0 h 1371600"/>
                <a:gd name="connsiteX1" fmla="*/ 0 w 0"/>
                <a:gd name="connsiteY1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371600" fill="norm" stroke="1" extrusionOk="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Freeform: Shape 5"/>
            <p:cNvSpPr/>
            <p:nvPr/>
          </p:nvSpPr>
          <p:spPr bwMode="auto">
            <a:xfrm>
              <a:off x="6943060" y="2796363"/>
              <a:ext cx="616689" cy="265814"/>
            </a:xfrm>
            <a:custGeom>
              <a:avLst/>
              <a:gdLst>
                <a:gd name="connsiteX0" fmla="*/ 0 w 616689"/>
                <a:gd name="connsiteY0" fmla="*/ 265814 h 265814"/>
                <a:gd name="connsiteX1" fmla="*/ 350875 w 616689"/>
                <a:gd name="connsiteY1" fmla="*/ 265814 h 265814"/>
                <a:gd name="connsiteX2" fmla="*/ 616689 w 616689"/>
                <a:gd name="connsiteY2" fmla="*/ 0 h 265814"/>
                <a:gd name="connsiteX3" fmla="*/ 595424 w 616689"/>
                <a:gd name="connsiteY3" fmla="*/ 21265 h 26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689" h="265814" fill="norm" stroke="1" extrusionOk="0">
                  <a:moveTo>
                    <a:pt x="0" y="265814"/>
                  </a:moveTo>
                  <a:lnTo>
                    <a:pt x="350875" y="265814"/>
                  </a:lnTo>
                  <a:lnTo>
                    <a:pt x="616689" y="0"/>
                  </a:lnTo>
                  <a:lnTo>
                    <a:pt x="595424" y="21265"/>
                  </a:lnTo>
                </a:path>
              </a:pathLst>
            </a:custGeom>
            <a:noFill/>
            <a:ln w="381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Freeform: Shape 7"/>
            <p:cNvSpPr/>
            <p:nvPr/>
          </p:nvSpPr>
          <p:spPr bwMode="auto">
            <a:xfrm>
              <a:off x="7570381" y="3062177"/>
              <a:ext cx="393405" cy="0"/>
            </a:xfrm>
            <a:custGeom>
              <a:avLst/>
              <a:gdLst>
                <a:gd name="connsiteX0" fmla="*/ 0 w 393405"/>
                <a:gd name="connsiteY0" fmla="*/ 0 h 0"/>
                <a:gd name="connsiteX1" fmla="*/ 393405 w 39340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3405" fill="norm" stroke="1" extrusionOk="0">
                  <a:moveTo>
                    <a:pt x="0" y="0"/>
                  </a:moveTo>
                  <a:lnTo>
                    <a:pt x="393405" y="0"/>
                  </a:lnTo>
                </a:path>
              </a:pathLst>
            </a:custGeom>
            <a:noFill/>
            <a:ln w="381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/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57550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How to use a Push Button switch</a:t>
            </a:r>
            <a:br>
              <a:rPr lang="en-US"/>
            </a:br>
            <a:r>
              <a:rPr lang="en-US" sz="3600" i="1">
                <a:solidFill>
                  <a:srgbClr val="00B050"/>
                </a:solidFill>
              </a:rPr>
              <a:t>A difficulty:</a:t>
            </a:r>
            <a:endParaRPr lang="en-US" i="1">
              <a:solidFill>
                <a:srgbClr val="00B050"/>
              </a:solidFill>
            </a:endParaRPr>
          </a:p>
        </p:txBody>
      </p:sp>
      <p:sp>
        <p:nvSpPr>
          <p:cNvPr id="1321241931" name="Content Placeholder 2"/>
          <p:cNvSpPr>
            <a:spLocks noGrp="1"/>
          </p:cNvSpPr>
          <p:nvPr>
            <p:ph idx="1"/>
          </p:nvPr>
        </p:nvSpPr>
        <p:spPr bwMode="auto">
          <a:xfrm>
            <a:off x="2407702" y="1607419"/>
            <a:ext cx="6583899" cy="41962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7030A0"/>
                </a:solidFill>
              </a:rPr>
              <a:t>If you push the button</a:t>
            </a:r>
            <a:r>
              <a:rPr lang="en-US"/>
              <a:t>:</a:t>
            </a:r>
            <a:endParaRPr/>
          </a:p>
          <a:p>
            <a:pPr lvl="1">
              <a:defRPr/>
            </a:pPr>
            <a:r>
              <a:rPr lang="en-US"/>
              <a:t>Voltage on Pin 3: V</a:t>
            </a:r>
            <a:r>
              <a:rPr lang="en-US" baseline="-25000"/>
              <a:t>3</a:t>
            </a:r>
            <a:r>
              <a:rPr lang="en-US"/>
              <a:t>= 0 = LOW</a:t>
            </a:r>
            <a:endParaRPr lang="en-US" b="1"/>
          </a:p>
          <a:p>
            <a:pPr>
              <a:defRPr/>
            </a:pPr>
            <a:r>
              <a:rPr lang="en-US">
                <a:solidFill>
                  <a:srgbClr val="7030A0"/>
                </a:solidFill>
              </a:rPr>
              <a:t>If you don’t push the Button</a:t>
            </a:r>
            <a:r>
              <a:rPr lang="en-US"/>
              <a:t>:</a:t>
            </a:r>
            <a:endParaRPr/>
          </a:p>
          <a:p>
            <a:pPr lvl="1">
              <a:defRPr/>
            </a:pPr>
            <a:r>
              <a:rPr lang="en-US"/>
              <a:t>V</a:t>
            </a:r>
            <a:r>
              <a:rPr lang="en-US" baseline="-25000"/>
              <a:t>3 </a:t>
            </a:r>
            <a:r>
              <a:rPr lang="en-US"/>
              <a:t>is not defined</a:t>
            </a:r>
            <a:endParaRPr/>
          </a:p>
          <a:p>
            <a:pPr lvl="1">
              <a:defRPr/>
            </a:pPr>
            <a:r>
              <a:rPr lang="en-US"/>
              <a:t>This is called a “</a:t>
            </a:r>
            <a:r>
              <a:rPr lang="en-US">
                <a:solidFill>
                  <a:srgbClr val="FF0000"/>
                </a:solidFill>
              </a:rPr>
              <a:t>floating input</a:t>
            </a:r>
            <a:r>
              <a:rPr lang="en-US"/>
              <a:t>”</a:t>
            </a:r>
            <a:endParaRPr/>
          </a:p>
          <a:p>
            <a:pPr lvl="1">
              <a:defRPr/>
            </a:pPr>
            <a:r>
              <a:rPr lang="en-US"/>
              <a:t>Gives random results. </a:t>
            </a:r>
            <a:endParaRPr/>
          </a:p>
          <a:p>
            <a:pPr lvl="2">
              <a:defRPr/>
            </a:pPr>
            <a:r>
              <a:rPr lang="en-US"/>
              <a:t>Sometimes HIGH, sometimes LOW</a:t>
            </a:r>
            <a:endParaRPr/>
          </a:p>
          <a:p>
            <a:pPr lvl="2">
              <a:defRPr/>
            </a:pPr>
            <a:r>
              <a:rPr lang="en-US"/>
              <a:t>This is Bad.</a:t>
            </a:r>
            <a:endParaRPr/>
          </a:p>
        </p:txBody>
      </p:sp>
      <p:grpSp>
        <p:nvGrpSpPr>
          <p:cNvPr id="1608992143" name="Group 17"/>
          <p:cNvGrpSpPr/>
          <p:nvPr/>
        </p:nvGrpSpPr>
        <p:grpSpPr bwMode="auto">
          <a:xfrm>
            <a:off x="385011" y="1876926"/>
            <a:ext cx="1520790" cy="2333362"/>
            <a:chOff x="385011" y="1876926"/>
            <a:chExt cx="1520790" cy="2333362"/>
          </a:xfrm>
        </p:grpSpPr>
        <p:sp>
          <p:nvSpPr>
            <p:cNvPr id="6" name="TextBox 5"/>
            <p:cNvSpPr txBox="1"/>
            <p:nvPr/>
          </p:nvSpPr>
          <p:spPr bwMode="auto">
            <a:xfrm>
              <a:off x="385011" y="1876926"/>
              <a:ext cx="64793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/>
                <a:t>Pin 3</a:t>
              </a:r>
              <a:endParaRPr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385011" y="3840956"/>
              <a:ext cx="64793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/>
                <a:t>Gnd</a:t>
              </a: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1029903" y="2059806"/>
              <a:ext cx="875898" cy="1020278"/>
            </a:xfrm>
            <a:custGeom>
              <a:avLst/>
              <a:gdLst>
                <a:gd name="connsiteX0" fmla="*/ 0 w 875898"/>
                <a:gd name="connsiteY0" fmla="*/ 0 h 1020278"/>
                <a:gd name="connsiteX1" fmla="*/ 596766 w 875898"/>
                <a:gd name="connsiteY1" fmla="*/ 0 h 1020278"/>
                <a:gd name="connsiteX2" fmla="*/ 596766 w 875898"/>
                <a:gd name="connsiteY2" fmla="*/ 741146 h 1020278"/>
                <a:gd name="connsiteX3" fmla="*/ 875898 w 875898"/>
                <a:gd name="connsiteY3" fmla="*/ 1020278 h 102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5898" h="1020278" fill="norm" stroke="1" extrusionOk="0">
                  <a:moveTo>
                    <a:pt x="0" y="0"/>
                  </a:moveTo>
                  <a:lnTo>
                    <a:pt x="596766" y="0"/>
                  </a:lnTo>
                  <a:lnTo>
                    <a:pt x="596766" y="741146"/>
                  </a:lnTo>
                  <a:lnTo>
                    <a:pt x="875898" y="1020278"/>
                  </a:lnTo>
                </a:path>
              </a:pathLst>
            </a:cu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1029903" y="3108960"/>
              <a:ext cx="596766" cy="904775"/>
            </a:xfrm>
            <a:custGeom>
              <a:avLst/>
              <a:gdLst>
                <a:gd name="connsiteX0" fmla="*/ 0 w 596766"/>
                <a:gd name="connsiteY0" fmla="*/ 904775 h 904775"/>
                <a:gd name="connsiteX1" fmla="*/ 596766 w 596766"/>
                <a:gd name="connsiteY1" fmla="*/ 904775 h 904775"/>
                <a:gd name="connsiteX2" fmla="*/ 596766 w 596766"/>
                <a:gd name="connsiteY2" fmla="*/ 0 h 9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766" h="904775" fill="norm" stroke="1" extrusionOk="0">
                  <a:moveTo>
                    <a:pt x="0" y="904775"/>
                  </a:moveTo>
                  <a:lnTo>
                    <a:pt x="596766" y="904775"/>
                  </a:lnTo>
                  <a:lnTo>
                    <a:pt x="596766" y="0"/>
                  </a:lnTo>
                </a:path>
              </a:pathLst>
            </a:cu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528002" y="2791084"/>
              <a:ext cx="8703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/>
                <a:t>Switch</a:t>
              </a:r>
              <a:endParaRPr/>
            </a:p>
          </p:txBody>
        </p:sp>
      </p:grpSp>
      <p:sp>
        <p:nvSpPr>
          <p:cNvPr id="16054135" name="TextBox 3"/>
          <p:cNvSpPr txBox="1"/>
          <p:nvPr/>
        </p:nvSpPr>
        <p:spPr bwMode="auto">
          <a:xfrm>
            <a:off x="1398305" y="1690474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V</a:t>
            </a:r>
            <a:r>
              <a:rPr lang="en-US" baseline="-25000"/>
              <a:t>3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612519" name="Title 1"/>
          <p:cNvSpPr>
            <a:spLocks noGrp="1"/>
          </p:cNvSpPr>
          <p:nvPr>
            <p:ph type="title"/>
          </p:nvPr>
        </p:nvSpPr>
        <p:spPr bwMode="auto">
          <a:xfrm>
            <a:off x="457200" y="230575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Solution: Use a “</a:t>
            </a:r>
            <a:r>
              <a:rPr lang="en-US" b="1"/>
              <a:t>Pull-up</a:t>
            </a:r>
            <a:r>
              <a:rPr lang="en-US"/>
              <a:t>” resistor  </a:t>
            </a:r>
            <a:endParaRPr/>
          </a:p>
        </p:txBody>
      </p:sp>
      <p:sp>
        <p:nvSpPr>
          <p:cNvPr id="1759806864" name="TextBox 9"/>
          <p:cNvSpPr txBox="1"/>
          <p:nvPr/>
        </p:nvSpPr>
        <p:spPr bwMode="auto">
          <a:xfrm>
            <a:off x="2586866" y="1310411"/>
            <a:ext cx="64926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en-US" sz="2800">
                <a:solidFill>
                  <a:srgbClr val="7030A0"/>
                </a:solidFill>
              </a:rPr>
              <a:t>Now, if you don’t push the button:</a:t>
            </a:r>
            <a:endParaRPr/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V is “pulled up” </a:t>
            </a:r>
            <a:r>
              <a:rPr lang="en-US" sz="2400" i="1">
                <a:solidFill>
                  <a:schemeClr val="accent1">
                    <a:lumMod val="75000"/>
                  </a:schemeClr>
                </a:solidFill>
              </a:rPr>
              <a:t>toward</a:t>
            </a:r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 +5V (HIGH)</a:t>
            </a:r>
            <a:endParaRPr/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It’s not quite 5V but close enough</a:t>
            </a:r>
            <a:endParaRPr/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2400" i="1">
                <a:solidFill>
                  <a:schemeClr val="accent1">
                    <a:lumMod val="75000"/>
                  </a:schemeClr>
                </a:solidFill>
              </a:rPr>
              <a:t>The input is no longer floating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 sz="2800">
                <a:solidFill>
                  <a:srgbClr val="7030A0"/>
                </a:solidFill>
              </a:rPr>
              <a:t>If you do push the button:  </a:t>
            </a:r>
            <a:endParaRPr/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V = 0 (LOW)</a:t>
            </a:r>
            <a:endParaRPr/>
          </a:p>
          <a:p>
            <a:pPr marL="457200" indent="-457200">
              <a:buFont typeface="Courier New"/>
              <a:buChar char="o"/>
              <a:defRPr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Nothing is floating - Problem is solved!!!!</a:t>
            </a:r>
            <a:endParaRPr/>
          </a:p>
        </p:txBody>
      </p:sp>
      <p:grpSp>
        <p:nvGrpSpPr>
          <p:cNvPr id="1815010679" name="Group 21"/>
          <p:cNvGrpSpPr/>
          <p:nvPr/>
        </p:nvGrpSpPr>
        <p:grpSpPr bwMode="auto">
          <a:xfrm>
            <a:off x="84864" y="1257406"/>
            <a:ext cx="2384713" cy="3795922"/>
            <a:chOff x="84864" y="1257406"/>
            <a:chExt cx="2384713" cy="3795922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84864" y="1980253"/>
              <a:ext cx="20038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/>
                <a:t>Pull-up Resistor R</a:t>
              </a:r>
              <a:endParaRPr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2110183" y="2731789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V</a:t>
              </a:r>
              <a:endParaRPr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1956377" y="1866856"/>
              <a:ext cx="257175" cy="695325"/>
            </a:xfrm>
            <a:prstGeom prst="rect">
              <a:avLst/>
            </a:prstGeom>
          </p:spPr>
        </p:pic>
        <p:grpSp>
          <p:nvGrpSpPr>
            <p:cNvPr id="14" name="Group 13"/>
            <p:cNvGrpSpPr/>
            <p:nvPr/>
          </p:nvGrpSpPr>
          <p:grpSpPr bwMode="auto">
            <a:xfrm>
              <a:off x="506378" y="2593289"/>
              <a:ext cx="1857719" cy="2460039"/>
              <a:chOff x="48082" y="1750249"/>
              <a:chExt cx="1857719" cy="2460039"/>
            </a:xfrm>
          </p:grpSpPr>
          <p:sp>
            <p:nvSpPr>
              <p:cNvPr id="15" name="TextBox 14"/>
              <p:cNvSpPr txBox="1"/>
              <p:nvPr/>
            </p:nvSpPr>
            <p:spPr bwMode="auto">
              <a:xfrm>
                <a:off x="48082" y="1750249"/>
                <a:ext cx="1021111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/>
                  <a:t>Arduino pin</a:t>
                </a:r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385011" y="3840956"/>
                <a:ext cx="647934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Gnd</a:t>
                </a:r>
                <a:endParaRPr lang="en-US"/>
              </a:p>
            </p:txBody>
          </p:sp>
          <p:sp>
            <p:nvSpPr>
              <p:cNvPr id="17" name="Freeform: Shape 16"/>
              <p:cNvSpPr/>
              <p:nvPr/>
            </p:nvSpPr>
            <p:spPr bwMode="auto">
              <a:xfrm>
                <a:off x="1029903" y="2059806"/>
                <a:ext cx="875898" cy="1020278"/>
              </a:xfrm>
              <a:custGeom>
                <a:avLst/>
                <a:gdLst>
                  <a:gd name="connsiteX0" fmla="*/ 0 w 875898"/>
                  <a:gd name="connsiteY0" fmla="*/ 0 h 1020278"/>
                  <a:gd name="connsiteX1" fmla="*/ 596766 w 875898"/>
                  <a:gd name="connsiteY1" fmla="*/ 0 h 1020278"/>
                  <a:gd name="connsiteX2" fmla="*/ 596766 w 875898"/>
                  <a:gd name="connsiteY2" fmla="*/ 741146 h 1020278"/>
                  <a:gd name="connsiteX3" fmla="*/ 875898 w 875898"/>
                  <a:gd name="connsiteY3" fmla="*/ 1020278 h 102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5898" h="1020278" fill="norm" stroke="1" extrusionOk="0">
                    <a:moveTo>
                      <a:pt x="0" y="0"/>
                    </a:moveTo>
                    <a:lnTo>
                      <a:pt x="596766" y="0"/>
                    </a:lnTo>
                    <a:lnTo>
                      <a:pt x="596766" y="741146"/>
                    </a:lnTo>
                    <a:lnTo>
                      <a:pt x="875898" y="1020278"/>
                    </a:lnTo>
                  </a:path>
                </a:pathLst>
              </a:cu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" name="Freeform: Shape 17"/>
              <p:cNvSpPr/>
              <p:nvPr/>
            </p:nvSpPr>
            <p:spPr bwMode="auto">
              <a:xfrm>
                <a:off x="1029903" y="3108960"/>
                <a:ext cx="596766" cy="904775"/>
              </a:xfrm>
              <a:custGeom>
                <a:avLst/>
                <a:gdLst>
                  <a:gd name="connsiteX0" fmla="*/ 0 w 596766"/>
                  <a:gd name="connsiteY0" fmla="*/ 904775 h 904775"/>
                  <a:gd name="connsiteX1" fmla="*/ 596766 w 596766"/>
                  <a:gd name="connsiteY1" fmla="*/ 904775 h 904775"/>
                  <a:gd name="connsiteX2" fmla="*/ 596766 w 596766"/>
                  <a:gd name="connsiteY2" fmla="*/ 0 h 9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6766" h="904775" fill="norm" stroke="1" extrusionOk="0">
                    <a:moveTo>
                      <a:pt x="0" y="904775"/>
                    </a:moveTo>
                    <a:lnTo>
                      <a:pt x="596766" y="904775"/>
                    </a:lnTo>
                    <a:lnTo>
                      <a:pt x="596766" y="0"/>
                    </a:lnTo>
                  </a:path>
                </a:pathLst>
              </a:cu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 bwMode="auto">
              <a:xfrm>
                <a:off x="528002" y="2791084"/>
                <a:ext cx="8002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Switch</a:t>
                </a:r>
                <a:endParaRPr/>
              </a:p>
            </p:txBody>
          </p:sp>
        </p:grpSp>
        <p:sp>
          <p:nvSpPr>
            <p:cNvPr id="20" name="TextBox 19"/>
            <p:cNvSpPr txBox="1"/>
            <p:nvPr/>
          </p:nvSpPr>
          <p:spPr bwMode="auto">
            <a:xfrm>
              <a:off x="849890" y="1257406"/>
              <a:ext cx="64793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/>
                <a:t>+5 V</a:t>
              </a:r>
              <a:endParaRPr/>
            </a:p>
          </p:txBody>
        </p:sp>
        <p:sp>
          <p:nvSpPr>
            <p:cNvPr id="11" name="Freeform: Shape 10"/>
            <p:cNvSpPr/>
            <p:nvPr/>
          </p:nvSpPr>
          <p:spPr bwMode="auto">
            <a:xfrm>
              <a:off x="1511166" y="1443789"/>
              <a:ext cx="577516" cy="462013"/>
            </a:xfrm>
            <a:custGeom>
              <a:avLst/>
              <a:gdLst>
                <a:gd name="connsiteX0" fmla="*/ 0 w 577516"/>
                <a:gd name="connsiteY0" fmla="*/ 0 h 462013"/>
                <a:gd name="connsiteX1" fmla="*/ 577516 w 577516"/>
                <a:gd name="connsiteY1" fmla="*/ 0 h 462013"/>
                <a:gd name="connsiteX2" fmla="*/ 577516 w 577516"/>
                <a:gd name="connsiteY2" fmla="*/ 462013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7516" h="462013" fill="norm" stroke="1" extrusionOk="0">
                  <a:moveTo>
                    <a:pt x="0" y="0"/>
                  </a:moveTo>
                  <a:lnTo>
                    <a:pt x="577516" y="0"/>
                  </a:lnTo>
                  <a:lnTo>
                    <a:pt x="577516" y="462013"/>
                  </a:lnTo>
                </a:path>
              </a:pathLst>
            </a:cu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2079057" y="2550695"/>
              <a:ext cx="0" cy="365760"/>
            </a:xfrm>
            <a:custGeom>
              <a:avLst/>
              <a:gdLst>
                <a:gd name="connsiteX0" fmla="*/ 0 w 0"/>
                <a:gd name="connsiteY0" fmla="*/ 365760 h 365760"/>
                <a:gd name="connsiteX1" fmla="*/ 0 w 0"/>
                <a:gd name="connsiteY1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65760" fill="norm" stroke="1" extrusionOk="0">
                  <a:moveTo>
                    <a:pt x="0" y="365760"/>
                  </a:moveTo>
                  <a:lnTo>
                    <a:pt x="0" y="0"/>
                  </a:lnTo>
                </a:path>
              </a:pathLst>
            </a:cu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411377637" name="TextBox 1"/>
          <p:cNvSpPr txBox="1"/>
          <p:nvPr/>
        </p:nvSpPr>
        <p:spPr bwMode="auto">
          <a:xfrm>
            <a:off x="2872925" y="4431319"/>
            <a:ext cx="5138073" cy="1488613"/>
          </a:xfrm>
          <a:custGeom>
            <a:avLst/>
            <a:gdLst>
              <a:gd name="connsiteX0" fmla="*/ 0 w 5138073"/>
              <a:gd name="connsiteY0" fmla="*/ 0 h 1488613"/>
              <a:gd name="connsiteX1" fmla="*/ 468136 w 5138073"/>
              <a:gd name="connsiteY1" fmla="*/ 0 h 1488613"/>
              <a:gd name="connsiteX2" fmla="*/ 1090413 w 5138073"/>
              <a:gd name="connsiteY2" fmla="*/ 0 h 1488613"/>
              <a:gd name="connsiteX3" fmla="*/ 1507168 w 5138073"/>
              <a:gd name="connsiteY3" fmla="*/ 0 h 1488613"/>
              <a:gd name="connsiteX4" fmla="*/ 1923923 w 5138073"/>
              <a:gd name="connsiteY4" fmla="*/ 0 h 1488613"/>
              <a:gd name="connsiteX5" fmla="*/ 2597581 w 5138073"/>
              <a:gd name="connsiteY5" fmla="*/ 0 h 1488613"/>
              <a:gd name="connsiteX6" fmla="*/ 3271240 w 5138073"/>
              <a:gd name="connsiteY6" fmla="*/ 0 h 1488613"/>
              <a:gd name="connsiteX7" fmla="*/ 3893518 w 5138073"/>
              <a:gd name="connsiteY7" fmla="*/ 0 h 1488613"/>
              <a:gd name="connsiteX8" fmla="*/ 4464415 w 5138073"/>
              <a:gd name="connsiteY8" fmla="*/ 0 h 1488613"/>
              <a:gd name="connsiteX9" fmla="*/ 5138073 w 5138073"/>
              <a:gd name="connsiteY9" fmla="*/ 0 h 1488613"/>
              <a:gd name="connsiteX10" fmla="*/ 5138073 w 5138073"/>
              <a:gd name="connsiteY10" fmla="*/ 496204 h 1488613"/>
              <a:gd name="connsiteX11" fmla="*/ 5138073 w 5138073"/>
              <a:gd name="connsiteY11" fmla="*/ 992409 h 1488613"/>
              <a:gd name="connsiteX12" fmla="*/ 5138073 w 5138073"/>
              <a:gd name="connsiteY12" fmla="*/ 1488613 h 1488613"/>
              <a:gd name="connsiteX13" fmla="*/ 4669937 w 5138073"/>
              <a:gd name="connsiteY13" fmla="*/ 1488613 h 1488613"/>
              <a:gd name="connsiteX14" fmla="*/ 4253183 w 5138073"/>
              <a:gd name="connsiteY14" fmla="*/ 1488613 h 1488613"/>
              <a:gd name="connsiteX15" fmla="*/ 3630905 w 5138073"/>
              <a:gd name="connsiteY15" fmla="*/ 1488613 h 1488613"/>
              <a:gd name="connsiteX16" fmla="*/ 3060008 w 5138073"/>
              <a:gd name="connsiteY16" fmla="*/ 1488613 h 1488613"/>
              <a:gd name="connsiteX17" fmla="*/ 2540492 w 5138073"/>
              <a:gd name="connsiteY17" fmla="*/ 1488613 h 1488613"/>
              <a:gd name="connsiteX18" fmla="*/ 2123737 w 5138073"/>
              <a:gd name="connsiteY18" fmla="*/ 1488613 h 1488613"/>
              <a:gd name="connsiteX19" fmla="*/ 1552840 w 5138073"/>
              <a:gd name="connsiteY19" fmla="*/ 1488613 h 1488613"/>
              <a:gd name="connsiteX20" fmla="*/ 1136085 w 5138073"/>
              <a:gd name="connsiteY20" fmla="*/ 1488613 h 1488613"/>
              <a:gd name="connsiteX21" fmla="*/ 719330 w 5138073"/>
              <a:gd name="connsiteY21" fmla="*/ 1488613 h 1488613"/>
              <a:gd name="connsiteX22" fmla="*/ 0 w 5138073"/>
              <a:gd name="connsiteY22" fmla="*/ 1488613 h 1488613"/>
              <a:gd name="connsiteX23" fmla="*/ 0 w 5138073"/>
              <a:gd name="connsiteY23" fmla="*/ 977523 h 1488613"/>
              <a:gd name="connsiteX24" fmla="*/ 0 w 5138073"/>
              <a:gd name="connsiteY24" fmla="*/ 451546 h 1488613"/>
              <a:gd name="connsiteX25" fmla="*/ 0 w 5138073"/>
              <a:gd name="connsiteY25" fmla="*/ 0 h 148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38073" h="1488613" fill="none" stroke="1" extrusionOk="0">
                <a:moveTo>
                  <a:pt x="0" y="0"/>
                </a:moveTo>
                <a:cubicBezTo>
                  <a:pt x="126078" y="-19573"/>
                  <a:pt x="333721" y="44448"/>
                  <a:pt x="468136" y="0"/>
                </a:cubicBezTo>
                <a:cubicBezTo>
                  <a:pt x="602551" y="-44448"/>
                  <a:pt x="848581" y="58826"/>
                  <a:pt x="1090413" y="0"/>
                </a:cubicBezTo>
                <a:cubicBezTo>
                  <a:pt x="1332245" y="-58826"/>
                  <a:pt x="1346054" y="341"/>
                  <a:pt x="1507168" y="0"/>
                </a:cubicBezTo>
                <a:cubicBezTo>
                  <a:pt x="1668282" y="-341"/>
                  <a:pt x="1821908" y="44245"/>
                  <a:pt x="1923923" y="0"/>
                </a:cubicBezTo>
                <a:cubicBezTo>
                  <a:pt x="2025938" y="-44245"/>
                  <a:pt x="2283812" y="64285"/>
                  <a:pt x="2597581" y="0"/>
                </a:cubicBezTo>
                <a:cubicBezTo>
                  <a:pt x="2911350" y="-64285"/>
                  <a:pt x="2984965" y="20730"/>
                  <a:pt x="3271240" y="0"/>
                </a:cubicBezTo>
                <a:cubicBezTo>
                  <a:pt x="3557515" y="-20730"/>
                  <a:pt x="3754646" y="787"/>
                  <a:pt x="3893518" y="0"/>
                </a:cubicBezTo>
                <a:cubicBezTo>
                  <a:pt x="4032390" y="-787"/>
                  <a:pt x="4189784" y="4552"/>
                  <a:pt x="4464415" y="0"/>
                </a:cubicBezTo>
                <a:cubicBezTo>
                  <a:pt x="4739046" y="-4552"/>
                  <a:pt x="4806646" y="80761"/>
                  <a:pt x="5138073" y="0"/>
                </a:cubicBezTo>
                <a:cubicBezTo>
                  <a:pt x="5193318" y="212000"/>
                  <a:pt x="5124366" y="314438"/>
                  <a:pt x="5138073" y="496204"/>
                </a:cubicBezTo>
                <a:cubicBezTo>
                  <a:pt x="5151780" y="677970"/>
                  <a:pt x="5120486" y="760010"/>
                  <a:pt x="5138073" y="992409"/>
                </a:cubicBezTo>
                <a:cubicBezTo>
                  <a:pt x="5155660" y="1224808"/>
                  <a:pt x="5101718" y="1352609"/>
                  <a:pt x="5138073" y="1488613"/>
                </a:cubicBezTo>
                <a:cubicBezTo>
                  <a:pt x="5023525" y="1537008"/>
                  <a:pt x="4817538" y="1486820"/>
                  <a:pt x="4669937" y="1488613"/>
                </a:cubicBezTo>
                <a:cubicBezTo>
                  <a:pt x="4522336" y="1490406"/>
                  <a:pt x="4366821" y="1456655"/>
                  <a:pt x="4253183" y="1488613"/>
                </a:cubicBezTo>
                <a:cubicBezTo>
                  <a:pt x="4139545" y="1520571"/>
                  <a:pt x="3815949" y="1478266"/>
                  <a:pt x="3630905" y="1488613"/>
                </a:cubicBezTo>
                <a:cubicBezTo>
                  <a:pt x="3445861" y="1498960"/>
                  <a:pt x="3335920" y="1441569"/>
                  <a:pt x="3060008" y="1488613"/>
                </a:cubicBezTo>
                <a:cubicBezTo>
                  <a:pt x="2784096" y="1535657"/>
                  <a:pt x="2708096" y="1474761"/>
                  <a:pt x="2540492" y="1488613"/>
                </a:cubicBezTo>
                <a:cubicBezTo>
                  <a:pt x="2372888" y="1502465"/>
                  <a:pt x="2270759" y="1453155"/>
                  <a:pt x="2123737" y="1488613"/>
                </a:cubicBezTo>
                <a:cubicBezTo>
                  <a:pt x="1976716" y="1524071"/>
                  <a:pt x="1702651" y="1476661"/>
                  <a:pt x="1552840" y="1488613"/>
                </a:cubicBezTo>
                <a:cubicBezTo>
                  <a:pt x="1403029" y="1500565"/>
                  <a:pt x="1342339" y="1488513"/>
                  <a:pt x="1136085" y="1488613"/>
                </a:cubicBezTo>
                <a:cubicBezTo>
                  <a:pt x="929832" y="1488713"/>
                  <a:pt x="927457" y="1444809"/>
                  <a:pt x="719330" y="1488613"/>
                </a:cubicBezTo>
                <a:cubicBezTo>
                  <a:pt x="511203" y="1532417"/>
                  <a:pt x="159391" y="1431882"/>
                  <a:pt x="0" y="1488613"/>
                </a:cubicBezTo>
                <a:cubicBezTo>
                  <a:pt x="-55636" y="1254334"/>
                  <a:pt x="39484" y="1224728"/>
                  <a:pt x="0" y="977523"/>
                </a:cubicBezTo>
                <a:cubicBezTo>
                  <a:pt x="-39484" y="730318"/>
                  <a:pt x="15600" y="584519"/>
                  <a:pt x="0" y="451546"/>
                </a:cubicBezTo>
                <a:cubicBezTo>
                  <a:pt x="-15600" y="318573"/>
                  <a:pt x="34380" y="184475"/>
                  <a:pt x="0" y="0"/>
                </a:cubicBezTo>
                <a:close/>
              </a:path>
              <a:path w="5138073" h="1488613" fill="norm" stroke="0" extrusionOk="0">
                <a:moveTo>
                  <a:pt x="0" y="0"/>
                </a:moveTo>
                <a:cubicBezTo>
                  <a:pt x="191219" y="-28279"/>
                  <a:pt x="297785" y="641"/>
                  <a:pt x="570897" y="0"/>
                </a:cubicBezTo>
                <a:cubicBezTo>
                  <a:pt x="844009" y="-641"/>
                  <a:pt x="807002" y="33302"/>
                  <a:pt x="1039033" y="0"/>
                </a:cubicBezTo>
                <a:cubicBezTo>
                  <a:pt x="1271064" y="-33302"/>
                  <a:pt x="1555163" y="62609"/>
                  <a:pt x="1712691" y="0"/>
                </a:cubicBezTo>
                <a:cubicBezTo>
                  <a:pt x="1870219" y="-62609"/>
                  <a:pt x="2146451" y="52369"/>
                  <a:pt x="2283588" y="0"/>
                </a:cubicBezTo>
                <a:cubicBezTo>
                  <a:pt x="2420725" y="-52369"/>
                  <a:pt x="2748134" y="56588"/>
                  <a:pt x="2957246" y="0"/>
                </a:cubicBezTo>
                <a:cubicBezTo>
                  <a:pt x="3166358" y="-56588"/>
                  <a:pt x="3281561" y="10534"/>
                  <a:pt x="3425382" y="0"/>
                </a:cubicBezTo>
                <a:cubicBezTo>
                  <a:pt x="3569203" y="-10534"/>
                  <a:pt x="3692111" y="18797"/>
                  <a:pt x="3944898" y="0"/>
                </a:cubicBezTo>
                <a:cubicBezTo>
                  <a:pt x="4197685" y="-18797"/>
                  <a:pt x="4335468" y="5768"/>
                  <a:pt x="4464415" y="0"/>
                </a:cubicBezTo>
                <a:cubicBezTo>
                  <a:pt x="4593362" y="-5768"/>
                  <a:pt x="4991355" y="30138"/>
                  <a:pt x="5138073" y="0"/>
                </a:cubicBezTo>
                <a:cubicBezTo>
                  <a:pt x="5144867" y="229852"/>
                  <a:pt x="5106481" y="335032"/>
                  <a:pt x="5138073" y="466432"/>
                </a:cubicBezTo>
                <a:cubicBezTo>
                  <a:pt x="5169665" y="597832"/>
                  <a:pt x="5085539" y="815009"/>
                  <a:pt x="5138073" y="992409"/>
                </a:cubicBezTo>
                <a:cubicBezTo>
                  <a:pt x="5190607" y="1169809"/>
                  <a:pt x="5095393" y="1283137"/>
                  <a:pt x="5138073" y="1488613"/>
                </a:cubicBezTo>
                <a:cubicBezTo>
                  <a:pt x="4982665" y="1529176"/>
                  <a:pt x="4779256" y="1470913"/>
                  <a:pt x="4515795" y="1488613"/>
                </a:cubicBezTo>
                <a:cubicBezTo>
                  <a:pt x="4252334" y="1506313"/>
                  <a:pt x="4108056" y="1461180"/>
                  <a:pt x="3996279" y="1488613"/>
                </a:cubicBezTo>
                <a:cubicBezTo>
                  <a:pt x="3884502" y="1516046"/>
                  <a:pt x="3761390" y="1453917"/>
                  <a:pt x="3528143" y="1488613"/>
                </a:cubicBezTo>
                <a:cubicBezTo>
                  <a:pt x="3294896" y="1523309"/>
                  <a:pt x="3196347" y="1466296"/>
                  <a:pt x="3008627" y="1488613"/>
                </a:cubicBezTo>
                <a:cubicBezTo>
                  <a:pt x="2820907" y="1510930"/>
                  <a:pt x="2683046" y="1435291"/>
                  <a:pt x="2540492" y="1488613"/>
                </a:cubicBezTo>
                <a:cubicBezTo>
                  <a:pt x="2397939" y="1541935"/>
                  <a:pt x="2269942" y="1479258"/>
                  <a:pt x="2072356" y="1488613"/>
                </a:cubicBezTo>
                <a:cubicBezTo>
                  <a:pt x="1874770" y="1497968"/>
                  <a:pt x="1666076" y="1465238"/>
                  <a:pt x="1552840" y="1488613"/>
                </a:cubicBezTo>
                <a:cubicBezTo>
                  <a:pt x="1439604" y="1511988"/>
                  <a:pt x="1170752" y="1437907"/>
                  <a:pt x="879181" y="1488613"/>
                </a:cubicBezTo>
                <a:cubicBezTo>
                  <a:pt x="587610" y="1539319"/>
                  <a:pt x="235826" y="1430519"/>
                  <a:pt x="0" y="1488613"/>
                </a:cubicBezTo>
                <a:cubicBezTo>
                  <a:pt x="-47910" y="1276050"/>
                  <a:pt x="23681" y="1185695"/>
                  <a:pt x="0" y="1037067"/>
                </a:cubicBezTo>
                <a:cubicBezTo>
                  <a:pt x="-23681" y="888439"/>
                  <a:pt x="44772" y="670710"/>
                  <a:pt x="0" y="540863"/>
                </a:cubicBezTo>
                <a:cubicBezTo>
                  <a:pt x="-44772" y="411016"/>
                  <a:pt x="43639" y="242025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>
                <a:solidFill>
                  <a:srgbClr val="7030A0"/>
                </a:solidFill>
              </a:rPr>
              <a:t>Could we just use a jumper instead of a resistor </a:t>
            </a:r>
            <a:br>
              <a:rPr lang="en-US">
                <a:solidFill>
                  <a:srgbClr val="7030A0"/>
                </a:solidFill>
              </a:rPr>
            </a:br>
            <a:r>
              <a:rPr lang="en-US">
                <a:solidFill>
                  <a:srgbClr val="7030A0"/>
                </a:solidFill>
              </a:rPr>
              <a:t>(i.e., R=0)?     NO!</a:t>
            </a:r>
            <a:endParaRPr/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Pushing the button shorts +5V to GND</a:t>
            </a:r>
            <a:endParaRPr/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Excessive current: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𝐼</m:t>
                      </m:r>
                      <m:r>
                        <m:rPr/>
                        <a:rPr lang="en-US" sz="1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num>
                        <m:den>
                          <m:r>
                            <m:rPr/>
                            <a:rPr lang="en-US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𝑅</m:t>
                          </m:r>
                        </m:den>
                      </m:f>
                      <m:r>
                        <m:rPr/>
                        <a:rPr lang="en-US" sz="1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num>
                        <m:den>
                          <m:r>
                            <m:rPr/>
                            <a:rPr lang="en-US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den>
                      </m:f>
                      <m:r>
                        <m:rPr/>
                        <a:rPr lang="en-US" sz="1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m:rPr/>
                        <a:rPr lang="en-US" sz="1600" b="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𝐵𝐼𝐺</m:t>
                      </m:r>
                    </m:oMath>
                  </m:oMathPara>
                </a14:m>
              </mc:Choice>
              <mc:Fallback/>
            </mc:AlternateContent>
            <a:endParaRPr lang="en-US" sz="1600" b="0">
              <a:solidFill>
                <a:schemeClr val="accent1">
                  <a:lumMod val="75000"/>
                </a:schemeClr>
              </a:solidFill>
            </a:endParaRPr>
          </a:p>
          <a:p>
            <a:pPr marL="914400" lvl="1" indent="-457200">
              <a:buFont typeface="Courier New"/>
              <a:buChar char="o"/>
              <a:defRPr/>
            </a:pPr>
            <a:r>
              <a:rPr lang="en-US" sz="1600">
                <a:solidFill>
                  <a:schemeClr val="accent1">
                    <a:lumMod val="75000"/>
                  </a:schemeClr>
                </a:solidFill>
              </a:rPr>
              <a:t>This would damage the Arduino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202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Built-In Pull-up Resistor</a:t>
            </a:r>
            <a:endParaRPr/>
          </a:p>
        </p:txBody>
      </p:sp>
      <p:sp>
        <p:nvSpPr>
          <p:cNvPr id="2107470764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417638"/>
            <a:ext cx="8229600" cy="4416632"/>
          </a:xfrm>
        </p:spPr>
        <p:txBody>
          <a:bodyPr/>
          <a:lstStyle/>
          <a:p>
            <a:pPr>
              <a:defRPr/>
            </a:pPr>
            <a:r>
              <a:rPr lang="en-US"/>
              <a:t>Arduino has built-in pull-up resistors</a:t>
            </a:r>
            <a:endParaRPr/>
          </a:p>
          <a:p>
            <a:pPr lvl="1">
              <a:defRPr/>
            </a:pPr>
            <a:r>
              <a:rPr lang="en-US"/>
              <a:t>So we don’t need to put one into our circuit</a:t>
            </a:r>
            <a:endParaRPr/>
          </a:p>
          <a:p>
            <a:pPr>
              <a:defRPr/>
            </a:pPr>
            <a:r>
              <a:rPr lang="en-US"/>
              <a:t>They are optional. Activate using:</a:t>
            </a:r>
            <a:endParaRPr/>
          </a:p>
          <a:p>
            <a:pPr lvl="1">
              <a:defRPr/>
            </a:pPr>
            <a:r>
              <a:rPr lang="en-US" i="1">
                <a:solidFill>
                  <a:srgbClr val="00B0F0"/>
                </a:solidFill>
              </a:rPr>
              <a:t>pinMode</a:t>
            </a:r>
            <a:r>
              <a:rPr lang="en-US" i="1">
                <a:solidFill>
                  <a:srgbClr val="00B0F0"/>
                </a:solidFill>
              </a:rPr>
              <a:t>(</a:t>
            </a:r>
            <a:r>
              <a:rPr lang="en-US" i="1">
                <a:solidFill>
                  <a:srgbClr val="00B0F0"/>
                </a:solidFill>
              </a:rPr>
              <a:t>PinNumber</a:t>
            </a:r>
            <a:r>
              <a:rPr lang="en-US" i="1">
                <a:solidFill>
                  <a:srgbClr val="00B0F0"/>
                </a:solidFill>
              </a:rPr>
              <a:t>, INPUT_PULLUP);</a:t>
            </a:r>
            <a:endParaRPr/>
          </a:p>
          <a:p>
            <a:pPr>
              <a:defRPr/>
            </a:pPr>
            <a:r>
              <a:rPr lang="en-US"/>
              <a:t>Just remember:</a:t>
            </a:r>
            <a:endParaRPr/>
          </a:p>
          <a:p>
            <a:pPr lvl="1">
              <a:defRPr/>
            </a:pPr>
            <a:r>
              <a:rPr lang="en-US"/>
              <a:t>Button pushed:  </a:t>
            </a:r>
            <a:r>
              <a:rPr lang="en-US"/>
              <a:t>digitalRead</a:t>
            </a:r>
            <a:r>
              <a:rPr lang="en-US"/>
              <a:t> is LOW</a:t>
            </a:r>
            <a:endParaRPr/>
          </a:p>
          <a:p>
            <a:pPr lvl="1">
              <a:defRPr/>
            </a:pPr>
            <a:r>
              <a:rPr lang="en-US"/>
              <a:t>Button not pushed: </a:t>
            </a:r>
            <a:r>
              <a:rPr lang="en-US"/>
              <a:t>digitalRead</a:t>
            </a:r>
            <a:r>
              <a:rPr lang="en-US"/>
              <a:t> is HIGH</a:t>
            </a:r>
            <a:endParaRPr/>
          </a:p>
        </p:txBody>
      </p:sp>
      <p:sp>
        <p:nvSpPr>
          <p:cNvPr id="1369833568" name="Oval 3"/>
          <p:cNvSpPr/>
          <p:nvPr/>
        </p:nvSpPr>
        <p:spPr bwMode="auto">
          <a:xfrm>
            <a:off x="373625" y="3645620"/>
            <a:ext cx="7914968" cy="2188650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033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Getting Help</a:t>
            </a:r>
            <a:endParaRPr/>
          </a:p>
        </p:txBody>
      </p:sp>
      <p:sp>
        <p:nvSpPr>
          <p:cNvPr id="1078232872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304364"/>
            <a:ext cx="8229600" cy="591671"/>
          </a:xfrm>
        </p:spPr>
        <p:txBody>
          <a:bodyPr/>
          <a:lstStyle/>
          <a:p>
            <a:pPr>
              <a:defRPr/>
            </a:pPr>
            <a:r>
              <a:rPr lang="en-US"/>
              <a:t>Use Help-&gt;Reference</a:t>
            </a:r>
            <a:endParaRPr/>
          </a:p>
        </p:txBody>
      </p:sp>
      <p:pic>
        <p:nvPicPr>
          <p:cNvPr id="6991567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51696" y="1896035"/>
            <a:ext cx="5563243" cy="4362543"/>
          </a:xfrm>
          <a:prstGeom prst="rect">
            <a:avLst/>
          </a:prstGeom>
        </p:spPr>
      </p:pic>
      <p:sp>
        <p:nvSpPr>
          <p:cNvPr id="619822309" name="Left Arrow 7"/>
          <p:cNvSpPr/>
          <p:nvPr/>
        </p:nvSpPr>
        <p:spPr bwMode="auto">
          <a:xfrm>
            <a:off x="4125094" y="2689412"/>
            <a:ext cx="2689845" cy="793376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Click Here for all terms</a:t>
            </a:r>
            <a:endParaRPr/>
          </a:p>
        </p:txBody>
      </p:sp>
      <p:sp>
        <p:nvSpPr>
          <p:cNvPr id="1268008231" name="Left Arrow 7"/>
          <p:cNvSpPr/>
          <p:nvPr/>
        </p:nvSpPr>
        <p:spPr bwMode="auto">
          <a:xfrm>
            <a:off x="4111850" y="4565278"/>
            <a:ext cx="3780454" cy="793376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or Highlight term and click here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384930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if</a:t>
            </a:r>
            <a:r>
              <a:rPr lang="en-US"/>
              <a:t> statement</a:t>
            </a:r>
            <a:endParaRPr/>
          </a:p>
        </p:txBody>
      </p:sp>
      <p:sp>
        <p:nvSpPr>
          <p:cNvPr id="2024447044" name="Content Placeholder 4"/>
          <p:cNvSpPr>
            <a:spLocks noGrp="1"/>
          </p:cNvSpPr>
          <p:nvPr>
            <p:ph idx="1"/>
          </p:nvPr>
        </p:nvSpPr>
        <p:spPr bwMode="auto">
          <a:xfrm>
            <a:off x="327547" y="1286300"/>
            <a:ext cx="8557146" cy="2172517"/>
          </a:xfrm>
        </p:spPr>
        <p:txBody>
          <a:bodyPr/>
          <a:lstStyle/>
          <a:p>
            <a:pPr>
              <a:defRPr/>
            </a:pPr>
            <a:r>
              <a:rPr lang="en-US"/>
              <a:t>This is how computers make decisions</a:t>
            </a:r>
            <a:endParaRPr/>
          </a:p>
          <a:p>
            <a:pPr lvl="1">
              <a:defRPr/>
            </a:pPr>
            <a:r>
              <a:rPr lang="en-US"/>
              <a:t>E.g., is a sensor value above a certain number? </a:t>
            </a:r>
            <a:endParaRPr/>
          </a:p>
          <a:p>
            <a:pPr>
              <a:defRPr/>
            </a:pPr>
            <a:r>
              <a:rPr lang="en-US"/>
              <a:t>The format for an if test is:</a:t>
            </a:r>
            <a:endParaRPr/>
          </a:p>
          <a:p>
            <a:pPr marL="1371600" lvl="3" indent="0">
              <a:buNone/>
              <a:defRPr/>
            </a:pPr>
            <a:endParaRPr lang="en-US"/>
          </a:p>
        </p:txBody>
      </p:sp>
      <p:sp>
        <p:nvSpPr>
          <p:cNvPr id="538554951" name="TextBox 1"/>
          <p:cNvSpPr txBox="1"/>
          <p:nvPr/>
        </p:nvSpPr>
        <p:spPr bwMode="auto">
          <a:xfrm>
            <a:off x="4437110" y="3843760"/>
            <a:ext cx="3647024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if (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someVariable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 &gt; 50)</a:t>
            </a:r>
            <a:endParaRPr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{</a:t>
            </a:r>
            <a:endParaRPr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digitalWrite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LEDpin,HIGH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);</a:t>
            </a:r>
            <a:endParaRPr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}</a:t>
            </a:r>
            <a:endParaRPr/>
          </a:p>
        </p:txBody>
      </p:sp>
      <p:sp>
        <p:nvSpPr>
          <p:cNvPr id="969642379" name="TextBox 5"/>
          <p:cNvSpPr txBox="1"/>
          <p:nvPr/>
        </p:nvSpPr>
        <p:spPr bwMode="auto">
          <a:xfrm>
            <a:off x="948476" y="3852117"/>
            <a:ext cx="2445028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if (Condition True)</a:t>
            </a:r>
            <a:endParaRPr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{</a:t>
            </a:r>
            <a:endParaRPr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  statements</a:t>
            </a:r>
            <a:endParaRPr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}</a:t>
            </a:r>
            <a:endParaRPr/>
          </a:p>
        </p:txBody>
      </p:sp>
      <p:sp>
        <p:nvSpPr>
          <p:cNvPr id="1242029806" name="TextBox 2"/>
          <p:cNvSpPr txBox="1"/>
          <p:nvPr/>
        </p:nvSpPr>
        <p:spPr bwMode="auto">
          <a:xfrm>
            <a:off x="5460842" y="3375044"/>
            <a:ext cx="1415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Example</a:t>
            </a:r>
            <a:endParaRPr/>
          </a:p>
        </p:txBody>
      </p:sp>
      <p:sp>
        <p:nvSpPr>
          <p:cNvPr id="1353678637" name="TextBox 6"/>
          <p:cNvSpPr txBox="1"/>
          <p:nvPr/>
        </p:nvSpPr>
        <p:spPr bwMode="auto">
          <a:xfrm>
            <a:off x="1463135" y="3289932"/>
            <a:ext cx="1234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Format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9429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if</a:t>
            </a:r>
            <a:r>
              <a:rPr lang="en-US"/>
              <a:t> details</a:t>
            </a:r>
            <a:endParaRPr/>
          </a:p>
        </p:txBody>
      </p:sp>
      <p:sp>
        <p:nvSpPr>
          <p:cNvPr id="1632189951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223158"/>
            <a:ext cx="8229600" cy="475456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General form of “if statement”: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FF0000"/>
                </a:solidFill>
              </a:rPr>
              <a:t>if (Boolean expression) {bunch of statements}</a:t>
            </a:r>
            <a:endParaRPr/>
          </a:p>
          <a:p>
            <a:pPr>
              <a:defRPr/>
            </a:pPr>
            <a:r>
              <a:rPr lang="en-US"/>
              <a:t>“</a:t>
            </a:r>
            <a:r>
              <a:rPr lang="en-US" b="1"/>
              <a:t>Boolean</a:t>
            </a:r>
            <a:r>
              <a:rPr lang="en-US"/>
              <a:t>”</a:t>
            </a:r>
            <a:r>
              <a:rPr lang="en-US"/>
              <a:t>means</a:t>
            </a:r>
            <a:r>
              <a:rPr lang="en-US"/>
              <a:t> its</a:t>
            </a:r>
            <a:r>
              <a:rPr lang="en-US"/>
              <a:t> value is true or false</a:t>
            </a:r>
            <a:endParaRPr/>
          </a:p>
          <a:p>
            <a:pPr>
              <a:defRPr/>
            </a:pPr>
            <a:r>
              <a:rPr lang="en-US"/>
              <a:t>Examples of Boolean expressions: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X==Y       meaning:  X equals Y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X!=Y	     meaning: X not equal to Y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X&gt;=Y       meaning: X greater or equal to Y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X==Y &amp;&amp; W==3     meaning:  “&amp;&amp;” is AND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X&gt;Y || X==5           meaning:  “||” is 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41779" name="Content Placeholder 4"/>
          <p:cNvSpPr>
            <a:spLocks noGrp="1"/>
          </p:cNvSpPr>
          <p:nvPr>
            <p:ph idx="1"/>
          </p:nvPr>
        </p:nvSpPr>
        <p:spPr bwMode="auto">
          <a:xfrm>
            <a:off x="267419" y="1788607"/>
            <a:ext cx="8583283" cy="4005141"/>
          </a:xfrm>
          <a:prstGeom prst="rect">
            <a:avLst/>
          </a:prstGeom>
          <a:solidFill>
            <a:srgbClr val="EAEAEA"/>
          </a:solidFill>
        </p:spPr>
        <p:txBody>
          <a:bodyPr/>
          <a:lstStyle/>
          <a:p>
            <a:pPr>
              <a:defRPr/>
            </a:pPr>
            <a:r>
              <a:rPr lang="en-US"/>
              <a:t>Objective: Learn about IF statements</a:t>
            </a:r>
            <a:endParaRPr/>
          </a:p>
          <a:p>
            <a:pPr lvl="1">
              <a:defRPr/>
            </a:pPr>
            <a:r>
              <a:rPr lang="en-US"/>
              <a:t>Build simple circuit with switches and LEDs</a:t>
            </a:r>
            <a:endParaRPr/>
          </a:p>
          <a:p>
            <a:pPr lvl="1">
              <a:defRPr/>
            </a:pPr>
            <a:r>
              <a:rPr lang="en-US"/>
              <a:t>Experiment with different uses of “if” statement</a:t>
            </a:r>
            <a:endParaRPr/>
          </a:p>
        </p:txBody>
      </p:sp>
      <p:sp>
        <p:nvSpPr>
          <p:cNvPr id="1822622061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 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318694" name="Title 3"/>
          <p:cNvSpPr>
            <a:spLocks noGrp="1"/>
          </p:cNvSpPr>
          <p:nvPr>
            <p:ph type="title"/>
          </p:nvPr>
        </p:nvSpPr>
        <p:spPr bwMode="auto">
          <a:xfrm>
            <a:off x="5640404" y="553741"/>
            <a:ext cx="3046395" cy="1646848"/>
          </a:xfrm>
        </p:spPr>
        <p:txBody>
          <a:bodyPr/>
          <a:lstStyle/>
          <a:p>
            <a:pPr>
              <a:defRPr/>
            </a:pPr>
            <a:r>
              <a:rPr lang="en-US" sz="4000"/>
              <a:t>Build This Circuit</a:t>
            </a:r>
            <a:endParaRPr/>
          </a:p>
        </p:txBody>
      </p:sp>
      <p:sp>
        <p:nvSpPr>
          <p:cNvPr id="1618554722" name="TextBox 2"/>
          <p:cNvSpPr txBox="1"/>
          <p:nvPr/>
        </p:nvSpPr>
        <p:spPr bwMode="auto">
          <a:xfrm>
            <a:off x="5575882" y="2521059"/>
            <a:ext cx="35908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/>
              <a:t>Pin 5 – left LED</a:t>
            </a:r>
            <a:endParaRPr/>
          </a:p>
          <a:p>
            <a:pPr>
              <a:defRPr/>
            </a:pPr>
            <a:r>
              <a:rPr lang="en-US" sz="2800"/>
              <a:t>Pin 4 – left button</a:t>
            </a:r>
            <a:endParaRPr/>
          </a:p>
          <a:p>
            <a:pPr>
              <a:defRPr/>
            </a:pPr>
            <a:r>
              <a:rPr lang="en-US" sz="2800"/>
              <a:t>Pin 3 – right button</a:t>
            </a:r>
            <a:endParaRPr/>
          </a:p>
          <a:p>
            <a:pPr>
              <a:defRPr/>
            </a:pPr>
            <a:r>
              <a:rPr lang="en-US" sz="2800"/>
              <a:t>Pin 2 – right LED</a:t>
            </a:r>
            <a:endParaRPr/>
          </a:p>
        </p:txBody>
      </p:sp>
      <p:sp>
        <p:nvSpPr>
          <p:cNvPr id="1515276510" name="Rectangle 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pic>
        <p:nvPicPr>
          <p:cNvPr id="299848113" name="Pictur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6982" y="1184565"/>
            <a:ext cx="4029637" cy="3753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5768786" name="Picture 2"/>
          <p:cNvPicPr>
            <a:picLocks noChangeAspect="1"/>
          </p:cNvPicPr>
          <p:nvPr/>
        </p:nvPicPr>
        <p:blipFill rotWithShape="1">
          <a:blip r:embed="rId3"/>
          <a:srcRect l="0" t="17853" r="39245" b="3769"/>
          <a:stretch/>
        </p:blipFill>
        <p:spPr bwMode="auto">
          <a:xfrm>
            <a:off x="0" y="435492"/>
            <a:ext cx="4530903" cy="6186679"/>
          </a:xfrm>
          <a:prstGeom prst="rect">
            <a:avLst/>
          </a:prstGeom>
        </p:spPr>
      </p:pic>
      <p:sp>
        <p:nvSpPr>
          <p:cNvPr id="573471167" name="Title 1"/>
          <p:cNvSpPr>
            <a:spLocks noGrp="1"/>
          </p:cNvSpPr>
          <p:nvPr>
            <p:ph type="title"/>
          </p:nvPr>
        </p:nvSpPr>
        <p:spPr bwMode="auto">
          <a:xfrm>
            <a:off x="4613099" y="1017383"/>
            <a:ext cx="4199814" cy="699397"/>
          </a:xfrm>
        </p:spPr>
        <p:txBody>
          <a:bodyPr/>
          <a:lstStyle/>
          <a:p>
            <a:pPr>
              <a:defRPr/>
            </a:pPr>
            <a:r>
              <a:rPr lang="en-US"/>
              <a:t>Your Assignment:</a:t>
            </a:r>
            <a:endParaRPr/>
          </a:p>
        </p:txBody>
      </p:sp>
      <p:sp>
        <p:nvSpPr>
          <p:cNvPr id="411746533" name="TextBox 4"/>
          <p:cNvSpPr txBox="1"/>
          <p:nvPr/>
        </p:nvSpPr>
        <p:spPr bwMode="auto">
          <a:xfrm>
            <a:off x="4784073" y="1905506"/>
            <a:ext cx="4199814" cy="267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u="sng"/>
              <a:t>Open </a:t>
            </a:r>
            <a:r>
              <a:rPr lang="en-US" sz="2400" u="sng">
                <a:solidFill>
                  <a:srgbClr val="FF0000"/>
                </a:solidFill>
              </a:rPr>
              <a:t>IfExample.ino</a:t>
            </a:r>
            <a:r>
              <a:rPr lang="en-US" sz="2400" u="sng"/>
              <a:t> from Templates folder</a:t>
            </a:r>
            <a:endParaRPr lang="en-US" sz="2400"/>
          </a:p>
          <a:p>
            <a:pPr marL="342900" indent="-342900">
              <a:buFont typeface="Arial"/>
              <a:buChar char="•"/>
              <a:defRPr/>
            </a:pPr>
            <a:r>
              <a:rPr lang="en-US" sz="2400"/>
              <a:t>Edit to look like this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Understand the sketch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Upload the program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Does it do what you think it should do?</a:t>
            </a:r>
            <a:endParaRPr/>
          </a:p>
        </p:txBody>
      </p:sp>
      <p:sp>
        <p:nvSpPr>
          <p:cNvPr id="274738057" name="Rectangle 5"/>
          <p:cNvSpPr/>
          <p:nvPr/>
        </p:nvSpPr>
        <p:spPr bwMode="auto">
          <a:xfrm>
            <a:off x="2676241" y="104639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430345" name="Title 1"/>
          <p:cNvSpPr>
            <a:spLocks noGrp="1"/>
          </p:cNvSpPr>
          <p:nvPr>
            <p:ph type="title"/>
          </p:nvPr>
        </p:nvSpPr>
        <p:spPr bwMode="auto">
          <a:xfrm>
            <a:off x="1958143" y="526773"/>
            <a:ext cx="6547903" cy="955413"/>
          </a:xfrm>
        </p:spPr>
        <p:txBody>
          <a:bodyPr/>
          <a:lstStyle/>
          <a:p>
            <a:pPr>
              <a:defRPr/>
            </a:pPr>
            <a:r>
              <a:rPr lang="en-US" sz="4000">
                <a:solidFill>
                  <a:srgbClr val="FF0000"/>
                </a:solidFill>
              </a:rPr>
              <a:t>What does “=“ mean?</a:t>
            </a:r>
            <a:endParaRPr lang="en-US" sz="4000">
              <a:solidFill>
                <a:srgbClr val="0070C0"/>
              </a:solidFill>
            </a:endParaRPr>
          </a:p>
        </p:txBody>
      </p:sp>
      <p:sp>
        <p:nvSpPr>
          <p:cNvPr id="2056439760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543317"/>
            <a:ext cx="8229600" cy="4859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 sz="2800"/>
              <a:t>In Algebra, X=Y means that X and Y have same value</a:t>
            </a:r>
            <a:endParaRPr/>
          </a:p>
          <a:p>
            <a:pPr lvl="1">
              <a:defRPr/>
            </a:pPr>
            <a:r>
              <a:rPr lang="en-US" sz="2400"/>
              <a:t>The statement </a:t>
            </a:r>
            <a:r>
              <a:rPr lang="en-US" sz="2400">
                <a:solidFill>
                  <a:srgbClr val="FF0000"/>
                </a:solidFill>
              </a:rPr>
              <a:t>X = X+1</a:t>
            </a:r>
            <a:r>
              <a:rPr lang="en-US" sz="2400"/>
              <a:t> is not meaningful</a:t>
            </a:r>
            <a:endParaRPr/>
          </a:p>
          <a:p>
            <a:pPr>
              <a:defRPr/>
            </a:pPr>
            <a:r>
              <a:rPr lang="en-US" sz="2800"/>
              <a:t>In computers X=X+1 means: </a:t>
            </a:r>
            <a:endParaRPr/>
          </a:p>
          <a:p>
            <a:pPr lvl="1">
              <a:defRPr/>
            </a:pPr>
            <a:r>
              <a:rPr lang="en-US" sz="2400"/>
              <a:t>Store the value of X+1 back into location X</a:t>
            </a:r>
            <a:endParaRPr lang="en-US" sz="2000"/>
          </a:p>
          <a:p>
            <a:pPr lvl="1">
              <a:defRPr/>
            </a:pPr>
            <a:r>
              <a:rPr lang="en-US" sz="2400"/>
              <a:t>E.g., if 15 is initially stored in location X</a:t>
            </a:r>
            <a:endParaRPr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sz="2000"/>
              <a:t>First compute X+1, which gives 16</a:t>
            </a:r>
            <a:endParaRPr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sz="2000"/>
              <a:t>Store this value into memory location X</a:t>
            </a:r>
            <a:endParaRPr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sz="2000"/>
              <a:t>Now 16 is stored in memory location X</a:t>
            </a:r>
            <a:br>
              <a:rPr lang="en-US" sz="2400"/>
            </a:br>
            <a:endParaRPr lang="en-US" sz="2400"/>
          </a:p>
        </p:txBody>
      </p:sp>
      <p:sp>
        <p:nvSpPr>
          <p:cNvPr id="1269828918" name="Rectangle 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30271" name="Title 1"/>
          <p:cNvSpPr>
            <a:spLocks noGrp="1"/>
          </p:cNvSpPr>
          <p:nvPr>
            <p:ph type="title"/>
          </p:nvPr>
        </p:nvSpPr>
        <p:spPr bwMode="auto">
          <a:xfrm>
            <a:off x="2045368" y="553741"/>
            <a:ext cx="6786456" cy="739208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What does “==“ mean?</a:t>
            </a:r>
            <a:endParaRPr/>
          </a:p>
        </p:txBody>
      </p:sp>
      <p:sp>
        <p:nvSpPr>
          <p:cNvPr id="2095416090" name="Content Placeholder 2"/>
          <p:cNvSpPr>
            <a:spLocks noGrp="1"/>
          </p:cNvSpPr>
          <p:nvPr>
            <p:ph idx="1"/>
          </p:nvPr>
        </p:nvSpPr>
        <p:spPr bwMode="auto">
          <a:xfrm>
            <a:off x="496527" y="1600200"/>
            <a:ext cx="8440994" cy="4193547"/>
          </a:xfrm>
        </p:spPr>
        <p:txBody>
          <a:bodyPr/>
          <a:lstStyle/>
          <a:p>
            <a:pPr>
              <a:defRPr/>
            </a:pPr>
            <a:r>
              <a:rPr lang="en-US" sz="2800"/>
              <a:t>Consider the C statement:</a:t>
            </a:r>
            <a:br>
              <a:rPr lang="en-US" sz="2800"/>
            </a:br>
            <a:r>
              <a:rPr lang="en-US" sz="2800">
                <a:solidFill>
                  <a:schemeClr val="tx2">
                    <a:lumMod val="60000"/>
                    <a:lumOff val="40000"/>
                  </a:schemeClr>
                </a:solidFill>
              </a:rPr>
              <a:t>if (Left== LOW) { do something}</a:t>
            </a:r>
            <a:endParaRPr/>
          </a:p>
          <a:p>
            <a:pPr>
              <a:defRPr/>
            </a:pPr>
            <a:r>
              <a:rPr lang="en-US" sz="2800"/>
              <a:t>“Left==LOW” is called a “Boolean expression”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sz="2400"/>
              <a:t>It is </a:t>
            </a:r>
            <a:r>
              <a:rPr lang="en-US" sz="2400" b="1"/>
              <a:t>true</a:t>
            </a:r>
            <a:r>
              <a:rPr lang="en-US" sz="2400"/>
              <a:t> if the value in memory location </a:t>
            </a:r>
            <a:r>
              <a:rPr lang="en-US" sz="2400" i="1"/>
              <a:t>Left</a:t>
            </a:r>
            <a:r>
              <a:rPr lang="en-US" sz="2400"/>
              <a:t> is LOW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sz="2400"/>
              <a:t>It is </a:t>
            </a:r>
            <a:r>
              <a:rPr lang="en-US" sz="2400" b="1"/>
              <a:t>false</a:t>
            </a:r>
            <a:r>
              <a:rPr lang="en-US" sz="2400"/>
              <a:t> otherwise</a:t>
            </a:r>
            <a:endParaRPr/>
          </a:p>
          <a:p>
            <a:pPr>
              <a:defRPr/>
            </a:pPr>
            <a:r>
              <a:rPr lang="en-US" sz="2800"/>
              <a:t>Summary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sz="2400"/>
              <a:t>X=Y+W;   //stores the value of Y+W into variable X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sz="2400"/>
              <a:t>X==Y+W;  //is </a:t>
            </a:r>
            <a:r>
              <a:rPr lang="en-US" sz="2400" b="1"/>
              <a:t>true</a:t>
            </a:r>
            <a:r>
              <a:rPr lang="en-US" sz="2400"/>
              <a:t> if the value of X equals the value Y+W</a:t>
            </a:r>
            <a:br>
              <a:rPr lang="en-US" sz="2400"/>
            </a:br>
            <a:r>
              <a:rPr lang="en-US" sz="2400"/>
              <a:t>                  //Does not store any value into X</a:t>
            </a:r>
            <a:endParaRPr/>
          </a:p>
        </p:txBody>
      </p:sp>
      <p:sp>
        <p:nvSpPr>
          <p:cNvPr id="1489879321" name="Rectangle 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758864" name="Title 3"/>
          <p:cNvSpPr>
            <a:spLocks noGrp="1"/>
          </p:cNvSpPr>
          <p:nvPr>
            <p:ph type="title"/>
          </p:nvPr>
        </p:nvSpPr>
        <p:spPr bwMode="auto">
          <a:xfrm>
            <a:off x="1510748" y="274638"/>
            <a:ext cx="7176052" cy="1143000"/>
          </a:xfrm>
        </p:spPr>
        <p:txBody>
          <a:bodyPr/>
          <a:lstStyle/>
          <a:p>
            <a:pPr>
              <a:defRPr/>
            </a:pPr>
            <a:r>
              <a:rPr lang="en-US" b="1"/>
              <a:t>if</a:t>
            </a:r>
            <a:r>
              <a:rPr lang="en-US"/>
              <a:t> Statement Practice</a:t>
            </a:r>
            <a:endParaRPr/>
          </a:p>
        </p:txBody>
      </p:sp>
      <p:sp>
        <p:nvSpPr>
          <p:cNvPr id="901114513" name="Content Placeholder 4"/>
          <p:cNvSpPr>
            <a:spLocks noGrp="1"/>
          </p:cNvSpPr>
          <p:nvPr>
            <p:ph idx="1"/>
          </p:nvPr>
        </p:nvSpPr>
        <p:spPr bwMode="auto">
          <a:xfrm>
            <a:off x="327547" y="1100563"/>
            <a:ext cx="8557146" cy="481446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/>
              <a:t>Modify your code to accomplish following:</a:t>
            </a:r>
            <a:endParaRPr/>
          </a:p>
          <a:p>
            <a:pPr>
              <a:defRPr/>
            </a:pPr>
            <a:r>
              <a:rPr lang="en-US"/>
              <a:t>Right button</a:t>
            </a:r>
            <a:endParaRPr/>
          </a:p>
          <a:p>
            <a:pPr lvl="1"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When pushed, right LED is ON</a:t>
            </a:r>
            <a:endParaRPr/>
          </a:p>
          <a:p>
            <a:pPr lvl="1"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When NOT pushed, right LED is OFF</a:t>
            </a:r>
            <a:endParaRPr/>
          </a:p>
          <a:p>
            <a:pPr>
              <a:defRPr/>
            </a:pPr>
            <a:r>
              <a:rPr lang="en-US"/>
              <a:t>Left button</a:t>
            </a:r>
            <a:endParaRPr/>
          </a:p>
          <a:p>
            <a:pPr lvl="1"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When pushed, left LED is OFF</a:t>
            </a:r>
            <a:endParaRPr/>
          </a:p>
          <a:p>
            <a:pPr lvl="1"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When NOT pushed, left LED is ON</a:t>
            </a:r>
            <a:endParaRPr/>
          </a:p>
        </p:txBody>
      </p:sp>
      <p:sp>
        <p:nvSpPr>
          <p:cNvPr id="219137115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719561806" name="TextBox 6"/>
          <p:cNvSpPr txBox="1"/>
          <p:nvPr/>
        </p:nvSpPr>
        <p:spPr bwMode="auto">
          <a:xfrm>
            <a:off x="2476918" y="62771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/>
              <a:t>Solution is in </a:t>
            </a:r>
            <a:r>
              <a:rPr lang="en-US"/>
              <a:t>IfPractice.ino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8338" name="Rectangle 6"/>
          <p:cNvSpPr/>
          <p:nvPr/>
        </p:nvSpPr>
        <p:spPr bwMode="auto">
          <a:xfrm>
            <a:off x="0" y="6027821"/>
            <a:ext cx="9144000" cy="830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4213268" name="Title 1"/>
          <p:cNvSpPr>
            <a:spLocks noGrp="1"/>
          </p:cNvSpPr>
          <p:nvPr>
            <p:ph type="title"/>
          </p:nvPr>
        </p:nvSpPr>
        <p:spPr bwMode="auto">
          <a:xfrm>
            <a:off x="553453" y="0"/>
            <a:ext cx="8229600" cy="550310"/>
          </a:xfrm>
        </p:spPr>
        <p:txBody>
          <a:bodyPr/>
          <a:lstStyle/>
          <a:p>
            <a:pPr>
              <a:defRPr/>
            </a:pPr>
            <a:r>
              <a:rPr lang="en-US"/>
              <a:t>Several Forms of IF</a:t>
            </a:r>
            <a:endParaRPr/>
          </a:p>
        </p:txBody>
      </p:sp>
      <p:sp>
        <p:nvSpPr>
          <p:cNvPr id="2140249294" name="TextBox 2"/>
          <p:cNvSpPr txBox="1"/>
          <p:nvPr/>
        </p:nvSpPr>
        <p:spPr bwMode="auto">
          <a:xfrm>
            <a:off x="783998" y="1211677"/>
            <a:ext cx="3145285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if (x &gt;= y) 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(5,HIGH);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</p:txBody>
      </p:sp>
      <p:sp>
        <p:nvSpPr>
          <p:cNvPr id="574277102" name="TextBox 3"/>
          <p:cNvSpPr txBox="1"/>
          <p:nvPr/>
        </p:nvSpPr>
        <p:spPr bwMode="auto">
          <a:xfrm>
            <a:off x="5132442" y="1171103"/>
            <a:ext cx="3145285" cy="230832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if (x &gt; y) 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(5,HIGH);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  <a:p>
            <a:pPr>
              <a:defRPr/>
            </a:pPr>
            <a:r>
              <a:rPr lang="en-US" sz="2400"/>
              <a:t>else 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(4,LOW);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</p:txBody>
      </p:sp>
      <p:sp>
        <p:nvSpPr>
          <p:cNvPr id="340151513" name="TextBox 4"/>
          <p:cNvSpPr txBox="1"/>
          <p:nvPr/>
        </p:nvSpPr>
        <p:spPr bwMode="auto">
          <a:xfrm>
            <a:off x="783998" y="2779397"/>
            <a:ext cx="3145285" cy="378565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if (x &gt; y) 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(5,HIGH);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  <a:p>
            <a:pPr>
              <a:defRPr/>
            </a:pPr>
            <a:r>
              <a:rPr lang="en-US" sz="2400"/>
              <a:t>else if (x==y){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(4,LOW);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  <a:p>
            <a:pPr>
              <a:defRPr/>
            </a:pPr>
            <a:r>
              <a:rPr lang="en-US" sz="2400"/>
              <a:t>else 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(4,LOW);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(5,LOW);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</p:txBody>
      </p:sp>
      <p:sp>
        <p:nvSpPr>
          <p:cNvPr id="399192903" name="TextBox 5"/>
          <p:cNvSpPr txBox="1"/>
          <p:nvPr/>
        </p:nvSpPr>
        <p:spPr bwMode="auto">
          <a:xfrm>
            <a:off x="5132441" y="3894517"/>
            <a:ext cx="3145286" cy="267765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if (x &gt; y) 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(5,HIGH);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  <a:p>
            <a:pPr>
              <a:defRPr/>
            </a:pPr>
            <a:r>
              <a:rPr lang="en-US" sz="2400"/>
              <a:t>else if (x==y){</a:t>
            </a:r>
            <a:endParaRPr/>
          </a:p>
          <a:p>
            <a:pPr>
              <a:defRPr/>
            </a:pPr>
            <a:r>
              <a:rPr lang="en-US" sz="2400"/>
              <a:t>     </a:t>
            </a:r>
            <a:r>
              <a:rPr lang="en-US" sz="2400"/>
              <a:t>digitalWrite</a:t>
            </a:r>
            <a:r>
              <a:rPr lang="en-US" sz="2400"/>
              <a:t>(4,LOW);</a:t>
            </a:r>
            <a:endParaRPr/>
          </a:p>
          <a:p>
            <a:pPr>
              <a:defRPr/>
            </a:pPr>
            <a:r>
              <a:rPr lang="en-US" sz="2400"/>
              <a:t>}</a:t>
            </a:r>
            <a:endParaRPr/>
          </a:p>
          <a:p>
            <a:pPr>
              <a:defRPr/>
            </a:pPr>
            <a:r>
              <a:rPr lang="en-US" sz="2400"/>
              <a:t>//no action taken if x&lt;y</a:t>
            </a:r>
            <a:endParaRPr/>
          </a:p>
        </p:txBody>
      </p:sp>
      <p:sp>
        <p:nvSpPr>
          <p:cNvPr id="679383947" name="Rectangle 7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378993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Practice Assignment</a:t>
            </a:r>
            <a:endParaRPr/>
          </a:p>
        </p:txBody>
      </p:sp>
      <p:sp>
        <p:nvSpPr>
          <p:cNvPr id="1235455380" name="Content Placeholder 4"/>
          <p:cNvSpPr>
            <a:spLocks noGrp="1"/>
          </p:cNvSpPr>
          <p:nvPr>
            <p:ph idx="1"/>
          </p:nvPr>
        </p:nvSpPr>
        <p:spPr bwMode="auto">
          <a:xfrm>
            <a:off x="556591" y="1232452"/>
            <a:ext cx="8293982" cy="465588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800"/>
              <a:t>Modify your sketch to read the </a:t>
            </a:r>
            <a:r>
              <a:rPr lang="en-US" sz="2800" u="sng"/>
              <a:t>right</a:t>
            </a:r>
            <a:r>
              <a:rPr lang="en-US" sz="2800"/>
              <a:t> button using “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digitalRead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(pin #);”</a:t>
            </a:r>
            <a:endParaRPr/>
          </a:p>
          <a:p>
            <a:pPr marL="0" indent="0">
              <a:buNone/>
              <a:defRPr/>
            </a:pPr>
            <a:r>
              <a:rPr lang="en-US" sz="2800"/>
              <a:t>Then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/>
              <a:t>use one of the </a:t>
            </a:r>
            <a:r>
              <a:rPr lang="en-US" sz="2800" b="1"/>
              <a:t>if-else</a:t>
            </a:r>
            <a:r>
              <a:rPr lang="en-US" sz="2800"/>
              <a:t> statements on the previous slide to accomplish the following</a:t>
            </a:r>
            <a:endParaRPr/>
          </a:p>
          <a:p>
            <a:pPr>
              <a:defRPr/>
            </a:pPr>
            <a:r>
              <a:rPr lang="en-US" sz="2800"/>
              <a:t>When right button pressed</a:t>
            </a:r>
            <a:endParaRPr/>
          </a:p>
          <a:p>
            <a:pPr lvl="1">
              <a:defRPr/>
            </a:pPr>
            <a:r>
              <a:rPr lang="en-US" sz="2400"/>
              <a:t>The right LED will illuminate</a:t>
            </a:r>
            <a:endParaRPr/>
          </a:p>
          <a:p>
            <a:pPr lvl="1">
              <a:defRPr/>
            </a:pPr>
            <a:r>
              <a:rPr lang="en-US" sz="2400"/>
              <a:t>The left LED is off</a:t>
            </a:r>
            <a:endParaRPr/>
          </a:p>
          <a:p>
            <a:pPr>
              <a:defRPr/>
            </a:pPr>
            <a:r>
              <a:rPr lang="en-US" sz="2800"/>
              <a:t>When released (this is the “else” part)</a:t>
            </a:r>
            <a:endParaRPr/>
          </a:p>
          <a:p>
            <a:pPr lvl="1">
              <a:defRPr/>
            </a:pPr>
            <a:r>
              <a:rPr lang="en-US" sz="2400"/>
              <a:t>The left LED will illuminate</a:t>
            </a:r>
            <a:endParaRPr/>
          </a:p>
          <a:p>
            <a:pPr lvl="1">
              <a:defRPr/>
            </a:pPr>
            <a:r>
              <a:rPr lang="en-US" sz="2400"/>
              <a:t>The right LED is off</a:t>
            </a:r>
            <a:endParaRPr/>
          </a:p>
        </p:txBody>
      </p:sp>
      <p:sp>
        <p:nvSpPr>
          <p:cNvPr id="561552479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264946271" name="TextBox 1"/>
          <p:cNvSpPr txBox="1"/>
          <p:nvPr/>
        </p:nvSpPr>
        <p:spPr bwMode="auto">
          <a:xfrm>
            <a:off x="2226238" y="6382379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Solution in </a:t>
            </a:r>
            <a:r>
              <a:rPr lang="en-US"/>
              <a:t>IfElse.ino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505395" name="Title 3"/>
          <p:cNvSpPr>
            <a:spLocks noGrp="1"/>
          </p:cNvSpPr>
          <p:nvPr>
            <p:ph type="title"/>
          </p:nvPr>
        </p:nvSpPr>
        <p:spPr bwMode="auto">
          <a:xfrm>
            <a:off x="457200" y="676894"/>
            <a:ext cx="8229600" cy="740744"/>
          </a:xfrm>
        </p:spPr>
        <p:txBody>
          <a:bodyPr/>
          <a:lstStyle/>
          <a:p>
            <a:pPr>
              <a:defRPr/>
            </a:pPr>
            <a:r>
              <a:rPr lang="en-US"/>
              <a:t>If you have time (or do at home)</a:t>
            </a:r>
            <a:endParaRPr/>
          </a:p>
        </p:txBody>
      </p:sp>
      <p:sp>
        <p:nvSpPr>
          <p:cNvPr id="826641751" name="Content Placeholder 4"/>
          <p:cNvSpPr>
            <a:spLocks noGrp="1"/>
          </p:cNvSpPr>
          <p:nvPr>
            <p:ph idx="1"/>
          </p:nvPr>
        </p:nvSpPr>
        <p:spPr bwMode="auto">
          <a:xfrm>
            <a:off x="457199" y="1600200"/>
            <a:ext cx="8577943" cy="419354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800"/>
              <a:t>Modify your sketch using two </a:t>
            </a:r>
            <a:r>
              <a:rPr lang="en-US" sz="2800" b="1"/>
              <a:t>if-else if</a:t>
            </a:r>
            <a:r>
              <a:rPr lang="en-US" sz="2800"/>
              <a:t> statements to do following</a:t>
            </a:r>
            <a:endParaRPr/>
          </a:p>
          <a:p>
            <a:pPr>
              <a:defRPr/>
            </a:pPr>
            <a:r>
              <a:rPr lang="en-US" sz="2800"/>
              <a:t>Condition to turn on Left LED</a:t>
            </a:r>
            <a:r>
              <a:rPr lang="en-US" sz="3200"/>
              <a:t> </a:t>
            </a:r>
            <a:r>
              <a:rPr lang="en-US" sz="2800" i="1">
                <a:solidFill>
                  <a:srgbClr val="FF0000"/>
                </a:solidFill>
              </a:rPr>
              <a:t>(</a:t>
            </a:r>
            <a:r>
              <a:rPr lang="en-US" sz="2400" i="1">
                <a:solidFill>
                  <a:srgbClr val="FF0000"/>
                </a:solidFill>
              </a:rPr>
              <a:t>called an “inclusive OR”)</a:t>
            </a:r>
            <a:endParaRPr/>
          </a:p>
          <a:p>
            <a:pPr lvl="1">
              <a:defRPr/>
            </a:pPr>
            <a:r>
              <a:rPr lang="en-US" sz="2400"/>
              <a:t>If left OR right OR both buttons pressed</a:t>
            </a:r>
            <a:endParaRPr/>
          </a:p>
          <a:p>
            <a:pPr lvl="1">
              <a:defRPr/>
            </a:pPr>
            <a:r>
              <a:rPr lang="en-US" sz="2400"/>
              <a:t>Otherwise, left LED is off</a:t>
            </a:r>
            <a:endParaRPr/>
          </a:p>
          <a:p>
            <a:pPr>
              <a:defRPr/>
            </a:pPr>
            <a:r>
              <a:rPr lang="en-US" sz="2800"/>
              <a:t>Condition to turn on Right LED   </a:t>
            </a:r>
            <a:r>
              <a:rPr lang="en-US" sz="2400" i="1">
                <a:solidFill>
                  <a:srgbClr val="FF0000"/>
                </a:solidFill>
              </a:rPr>
              <a:t>(called an “exclusive OR”)</a:t>
            </a:r>
            <a:endParaRPr lang="en-US" sz="2800" i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sz="2400"/>
              <a:t>If either Left or Right button pressed (but not both)</a:t>
            </a:r>
            <a:endParaRPr/>
          </a:p>
          <a:p>
            <a:pPr lvl="1">
              <a:defRPr/>
            </a:pPr>
            <a:r>
              <a:rPr lang="en-US" sz="2400"/>
              <a:t>If both buttons pressed OR no buttons pressed, then LED is OFF </a:t>
            </a:r>
            <a:r>
              <a:rPr lang="en-US" sz="2400" i="1"/>
              <a:t>(use </a:t>
            </a:r>
            <a:r>
              <a:rPr lang="en-US" sz="2400" b="1" i="1"/>
              <a:t>if–else</a:t>
            </a:r>
            <a:r>
              <a:rPr lang="en-US" sz="2400" i="1"/>
              <a:t>, or combine conditions into one </a:t>
            </a:r>
            <a:r>
              <a:rPr lang="en-US" sz="2400" b="1" i="1"/>
              <a:t>if</a:t>
            </a:r>
            <a:r>
              <a:rPr lang="en-US" sz="2400" i="1"/>
              <a:t>)</a:t>
            </a:r>
            <a:endParaRPr/>
          </a:p>
        </p:txBody>
      </p:sp>
      <p:sp>
        <p:nvSpPr>
          <p:cNvPr id="1826426818" name="Rectangle 5"/>
          <p:cNvSpPr/>
          <p:nvPr/>
        </p:nvSpPr>
        <p:spPr bwMode="auto">
          <a:xfrm>
            <a:off x="2482425" y="6253266"/>
            <a:ext cx="3605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Solution is in: </a:t>
            </a:r>
            <a:r>
              <a:rPr lang="en-US" b="1">
                <a:solidFill>
                  <a:srgbClr val="FF0000"/>
                </a:solidFill>
              </a:rPr>
              <a:t>LastIfELseExample.ino</a:t>
            </a:r>
            <a:endParaRPr/>
          </a:p>
        </p:txBody>
      </p:sp>
      <p:sp>
        <p:nvSpPr>
          <p:cNvPr id="2140713159" name="Rectangle 6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03300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Repeating Statements with “Loops”</a:t>
            </a:r>
            <a:endParaRPr/>
          </a:p>
        </p:txBody>
      </p:sp>
      <p:sp>
        <p:nvSpPr>
          <p:cNvPr id="269296404" name="Content Placeholder 2"/>
          <p:cNvSpPr>
            <a:spLocks noGrp="1"/>
          </p:cNvSpPr>
          <p:nvPr>
            <p:ph idx="1"/>
          </p:nvPr>
        </p:nvSpPr>
        <p:spPr bwMode="auto">
          <a:xfrm>
            <a:off x="89453" y="1600200"/>
            <a:ext cx="8855764" cy="4525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b="1"/>
              <a:t>While loop</a:t>
            </a:r>
            <a:r>
              <a:rPr lang="en-US" sz="2800"/>
              <a:t>: Repeat a group of statements as long as condition remains true</a:t>
            </a:r>
            <a:endParaRPr/>
          </a:p>
          <a:p>
            <a:pPr lvl="1">
              <a:defRPr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E.g., Turn on LED light as long as temp &gt; 90</a:t>
            </a: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</a:t>
            </a:r>
            <a:endParaRPr/>
          </a:p>
          <a:p>
            <a:pPr>
              <a:defRPr/>
            </a:pPr>
            <a:r>
              <a:rPr lang="en-US" sz="2800" b="1"/>
              <a:t>For loop</a:t>
            </a:r>
            <a:r>
              <a:rPr lang="en-US" sz="2800"/>
              <a:t>: Repeat statements a fixed number of times</a:t>
            </a:r>
            <a:endParaRPr/>
          </a:p>
          <a:p>
            <a:pPr lvl="1">
              <a:defRPr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E.g., blink LED exactly ten times</a:t>
            </a:r>
            <a:endParaRPr/>
          </a:p>
          <a:p>
            <a:pPr lvl="1">
              <a:defRPr/>
            </a:pPr>
            <a:endParaRPr lang="en-US" sz="2400"/>
          </a:p>
          <a:p>
            <a:pPr>
              <a:defRPr/>
            </a:pPr>
            <a:r>
              <a:rPr lang="en-US" sz="2800"/>
              <a:t>The following experiments use the same circuit we’ve been using (2 switches and 2 LEDs)</a:t>
            </a:r>
            <a:endParaRPr/>
          </a:p>
        </p:txBody>
      </p:sp>
      <p:pic>
        <p:nvPicPr>
          <p:cNvPr id="21035051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30535" y="4846073"/>
            <a:ext cx="2286319" cy="115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75622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We begin with the </a:t>
            </a:r>
            <a:r>
              <a:rPr lang="en-US" b="1"/>
              <a:t>while</a:t>
            </a:r>
            <a:r>
              <a:rPr lang="en-US"/>
              <a:t> loop</a:t>
            </a:r>
            <a:endParaRPr/>
          </a:p>
        </p:txBody>
      </p:sp>
      <p:sp>
        <p:nvSpPr>
          <p:cNvPr id="1716783779" name="Content Placeholder 4"/>
          <p:cNvSpPr>
            <a:spLocks noGrp="1"/>
          </p:cNvSpPr>
          <p:nvPr>
            <p:ph idx="1"/>
          </p:nvPr>
        </p:nvSpPr>
        <p:spPr bwMode="auto">
          <a:xfrm>
            <a:off x="1013791" y="1100563"/>
            <a:ext cx="7870902" cy="4814463"/>
          </a:xfrm>
        </p:spPr>
        <p:txBody>
          <a:bodyPr/>
          <a:lstStyle/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Example 0:</a:t>
            </a:r>
            <a:endParaRPr/>
          </a:p>
          <a:p>
            <a:pPr marL="400050" lvl="1" indent="0">
              <a:buNone/>
              <a:defRPr/>
            </a:pPr>
            <a:r>
              <a:rPr lang="en-US" sz="2400"/>
              <a:t>var = 0;</a:t>
            </a:r>
            <a:br>
              <a:rPr lang="en-US" sz="2400"/>
            </a:br>
            <a:r>
              <a:rPr lang="en-US" sz="2400"/>
              <a:t>while(var &lt; 200){</a:t>
            </a:r>
            <a:br>
              <a:rPr lang="en-US" sz="2400"/>
            </a:br>
            <a:r>
              <a:rPr lang="en-US" sz="2400"/>
              <a:t>  //These statements execute 200 times</a:t>
            </a:r>
            <a:br>
              <a:rPr lang="en-US" sz="2400"/>
            </a:br>
            <a:r>
              <a:rPr lang="en-US" sz="2400"/>
              <a:t>  var++;  </a:t>
            </a:r>
            <a:r>
              <a:rPr lang="en-US" sz="2400">
                <a:solidFill>
                  <a:srgbClr val="00B050"/>
                </a:solidFill>
              </a:rPr>
              <a:t>//this is short hand for:  var = var + 1;</a:t>
            </a:r>
            <a:br>
              <a:rPr lang="en-US" sz="2400">
                <a:solidFill>
                  <a:srgbClr val="00B050"/>
                </a:solidFill>
              </a:rPr>
            </a:br>
            <a:r>
              <a:rPr lang="en-US" sz="2400"/>
              <a:t>}</a:t>
            </a:r>
            <a:endParaRPr/>
          </a:p>
          <a:p>
            <a:pPr marL="400050" lvl="1" indent="0">
              <a:buNone/>
              <a:defRPr/>
            </a:pPr>
            <a:endParaRPr lang="en-US" sz="2400"/>
          </a:p>
          <a:p>
            <a:pPr marL="400050" lvl="1" indent="0">
              <a:buNone/>
              <a:defRPr/>
            </a:pP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5780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 1: Count # Times Thru Loop</a:t>
            </a:r>
            <a:endParaRPr/>
          </a:p>
        </p:txBody>
      </p:sp>
      <p:sp>
        <p:nvSpPr>
          <p:cNvPr id="2038083806" name="Content Placeholder 2"/>
          <p:cNvSpPr>
            <a:spLocks noGrp="1"/>
          </p:cNvSpPr>
          <p:nvPr>
            <p:ph idx="1"/>
          </p:nvPr>
        </p:nvSpPr>
        <p:spPr bwMode="auto">
          <a:xfrm>
            <a:off x="267419" y="1099966"/>
            <a:ext cx="8583283" cy="2026006"/>
          </a:xfrm>
        </p:spPr>
        <p:txBody>
          <a:bodyPr/>
          <a:lstStyle/>
          <a:p>
            <a:pPr>
              <a:defRPr/>
            </a:pPr>
            <a:r>
              <a:rPr lang="en-US" sz="2400"/>
              <a:t>Arduino runs at 16 million instructions/second</a:t>
            </a:r>
            <a:endParaRPr/>
          </a:p>
          <a:p>
            <a:pPr>
              <a:defRPr/>
            </a:pPr>
            <a:r>
              <a:rPr lang="en-US" sz="2400"/>
              <a:t>This program counts the number of instructions executed while you hold down the pushbutton</a:t>
            </a:r>
            <a:endParaRPr/>
          </a:p>
          <a:p>
            <a:pPr>
              <a:defRPr/>
            </a:pPr>
            <a:r>
              <a:rPr lang="en-US" sz="2400"/>
              <a:t>Open the sketch:  </a:t>
            </a:r>
            <a:r>
              <a:rPr lang="en-US" sz="2400"/>
              <a:t>LoopCounter.ino</a:t>
            </a:r>
            <a:r>
              <a:rPr lang="en-US" sz="2400"/>
              <a:t> and watch the monitor as you push the button</a:t>
            </a:r>
            <a:endParaRPr/>
          </a:p>
        </p:txBody>
      </p:sp>
      <p:pic>
        <p:nvPicPr>
          <p:cNvPr id="807653840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6713" y="3347857"/>
            <a:ext cx="6377722" cy="26811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656152" name="Google Shape;638;p19"/>
          <p:cNvSpPr txBox="1">
            <a:spLocks noGrp="1"/>
          </p:cNvSpPr>
          <p:nvPr>
            <p:ph type="title"/>
          </p:nvPr>
        </p:nvSpPr>
        <p:spPr bwMode="auto">
          <a:xfrm>
            <a:off x="457200" y="1485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/>
              <a:t>Example 2: Measuring Time Duration</a:t>
            </a:r>
            <a:endParaRPr/>
          </a:p>
        </p:txBody>
      </p:sp>
      <p:sp>
        <p:nvSpPr>
          <p:cNvPr id="613476155" name="Google Shape;639;p19"/>
          <p:cNvSpPr txBox="1">
            <a:spLocks noGrp="1"/>
          </p:cNvSpPr>
          <p:nvPr>
            <p:ph type="body" idx="1"/>
          </p:nvPr>
        </p:nvSpPr>
        <p:spPr bwMode="auto">
          <a:xfrm>
            <a:off x="116958" y="1095154"/>
            <a:ext cx="8793126" cy="529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800"/>
              <a:buChar char="•"/>
              <a:defRPr/>
            </a:pPr>
            <a:r>
              <a:rPr lang="en-US" sz="2800"/>
              <a:t>Measuring duration of an event is a common application</a:t>
            </a:r>
            <a:endParaRPr/>
          </a:p>
          <a:p>
            <a:pPr lvl="1" indent="-342900">
              <a:spcBef>
                <a:spcPts val="0"/>
              </a:spcBef>
              <a:buClr>
                <a:srgbClr val="4F6128"/>
              </a:buClr>
              <a:buSzPts val="2800"/>
              <a:buFont typeface="Courier New"/>
              <a:buChar char="o"/>
              <a:defRPr/>
            </a:pPr>
            <a:r>
              <a:rPr lang="en-US" sz="2400"/>
              <a:t>E.g., how long has a button been pushed?</a:t>
            </a:r>
            <a:endParaRPr/>
          </a:p>
          <a:p>
            <a:pPr lvl="1">
              <a:spcBef>
                <a:spcPts val="0"/>
              </a:spcBef>
              <a:buClr>
                <a:srgbClr val="4F6128"/>
              </a:buClr>
              <a:buSzPts val="2800"/>
              <a:buFont typeface="Courier New"/>
              <a:buChar char="o"/>
              <a:defRPr/>
            </a:pPr>
            <a:r>
              <a:rPr lang="en-US" sz="2400"/>
              <a:t>Before proceeding, here are two useful facts:</a:t>
            </a:r>
            <a:endParaRPr/>
          </a:p>
          <a:p>
            <a:pPr lvl="4">
              <a:spcBef>
                <a:spcPts val="0"/>
              </a:spcBef>
              <a:buClr>
                <a:srgbClr val="4F6128"/>
              </a:buClr>
              <a:buSzPts val="2800"/>
              <a:buFont typeface="Arial"/>
              <a:buChar char="•"/>
              <a:defRPr/>
            </a:pPr>
            <a:endParaRPr lang="en-US" sz="16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800"/>
              <a:buChar char="•"/>
              <a:defRPr/>
            </a:pPr>
            <a:r>
              <a:rPr lang="en-US" sz="2800"/>
              <a:t>Here’s a useful function:</a:t>
            </a:r>
            <a:br>
              <a:rPr lang="en-US" sz="2800"/>
            </a:br>
            <a:r>
              <a:rPr lang="en-US" sz="2800"/>
              <a:t>“</a:t>
            </a:r>
            <a:r>
              <a:rPr lang="en-US" sz="2800">
                <a:solidFill>
                  <a:srgbClr val="974806"/>
                </a:solidFill>
              </a:rPr>
              <a:t>millis</a:t>
            </a:r>
            <a:r>
              <a:rPr lang="en-US" sz="2800">
                <a:solidFill>
                  <a:srgbClr val="974806"/>
                </a:solidFill>
              </a:rPr>
              <a:t>()</a:t>
            </a:r>
            <a:r>
              <a:rPr lang="en-US" sz="2800"/>
              <a:t>” gives # milliseconds since Arduino turned on</a:t>
            </a:r>
            <a:endParaRPr/>
          </a:p>
          <a:p>
            <a:pPr lvl="4" indent="-342900">
              <a:spcBef>
                <a:spcPts val="0"/>
              </a:spcBef>
              <a:buClr>
                <a:srgbClr val="4F6128"/>
              </a:buClr>
              <a:buSzPts val="2800"/>
              <a:defRPr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F6128"/>
              </a:buClr>
              <a:buSzPts val="2800"/>
              <a:buChar char="•"/>
              <a:defRPr/>
            </a:pPr>
            <a:r>
              <a:rPr lang="en-US" sz="2800"/>
              <a:t>New variable type (</a:t>
            </a:r>
            <a:r>
              <a:rPr lang="en-US" sz="2800" i="1"/>
              <a:t>use this when numbers get really big</a:t>
            </a:r>
            <a:r>
              <a:rPr lang="en-US" sz="2800"/>
              <a:t>):</a:t>
            </a:r>
            <a:br>
              <a:rPr lang="en-US" sz="2800"/>
            </a:br>
            <a:r>
              <a:rPr lang="en-US" sz="2800"/>
              <a:t>“</a:t>
            </a:r>
            <a:r>
              <a:rPr lang="en-US" sz="2800">
                <a:solidFill>
                  <a:srgbClr val="974806"/>
                </a:solidFill>
              </a:rPr>
              <a:t>long int x</a:t>
            </a:r>
            <a:r>
              <a:rPr lang="en-US" sz="2800"/>
              <a:t>;”   or   “</a:t>
            </a:r>
            <a:r>
              <a:rPr lang="en-US" sz="2800">
                <a:solidFill>
                  <a:srgbClr val="974806"/>
                </a:solidFill>
              </a:rPr>
              <a:t>long x;</a:t>
            </a:r>
            <a:r>
              <a:rPr lang="en-US" sz="2800"/>
              <a:t>” 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366092"/>
              </a:buClr>
              <a:buSzPts val="2400"/>
              <a:buChar char="–"/>
              <a:defRPr/>
            </a:pPr>
            <a:r>
              <a:rPr lang="en-US" sz="2400"/>
              <a:t>“</a:t>
            </a:r>
            <a:r>
              <a:rPr lang="en-US" sz="2400">
                <a:solidFill>
                  <a:srgbClr val="00B050"/>
                </a:solidFill>
              </a:rPr>
              <a:t>int x;</a:t>
            </a:r>
            <a:r>
              <a:rPr lang="en-US" sz="2400"/>
              <a:t>” declares a 16 bit integer variable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pPr>
            <a:r>
              <a:rPr lang="en-US" sz="2000"/>
              <a:t>Handles values in the range: -32768 to +32767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  <a:defRPr/>
            </a:pPr>
            <a:r>
              <a:rPr lang="en-US" sz="2400" i="1">
                <a:solidFill>
                  <a:srgbClr val="FF0000"/>
                </a:solidFill>
              </a:rPr>
              <a:t>“</a:t>
            </a:r>
            <a:r>
              <a:rPr lang="en-US" sz="2400" i="1">
                <a:solidFill>
                  <a:srgbClr val="00B050"/>
                </a:solidFill>
              </a:rPr>
              <a:t>long</a:t>
            </a:r>
            <a:r>
              <a:rPr lang="en-US" sz="2400">
                <a:solidFill>
                  <a:srgbClr val="00B050"/>
                </a:solidFill>
              </a:rPr>
              <a:t> x;</a:t>
            </a:r>
            <a:r>
              <a:rPr lang="en-US" sz="2400"/>
              <a:t>” declares a 32 bit integer variable 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pPr>
            <a:r>
              <a:rPr lang="en-US" sz="2000"/>
              <a:t>Handles values in the range: -2.14 billion to +2.14 billion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  <a:defRPr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2910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Sketch</a:t>
            </a:r>
            <a:endParaRPr/>
          </a:p>
        </p:txBody>
      </p:sp>
      <p:sp>
        <p:nvSpPr>
          <p:cNvPr id="1978475731" name="Content Placeholder 2"/>
          <p:cNvSpPr>
            <a:spLocks noGrp="1"/>
          </p:cNvSpPr>
          <p:nvPr>
            <p:ph idx="1"/>
          </p:nvPr>
        </p:nvSpPr>
        <p:spPr bwMode="auto">
          <a:xfrm>
            <a:off x="1612664" y="1092101"/>
            <a:ext cx="5918672" cy="831920"/>
          </a:xfrm>
        </p:spPr>
        <p:txBody>
          <a:bodyPr/>
          <a:lstStyle/>
          <a:p>
            <a:pPr>
              <a:defRPr/>
            </a:pPr>
            <a:r>
              <a:rPr lang="en-US" sz="2400"/>
              <a:t>Modify your program to measure duration button is pushed (in milliseconds, or </a:t>
            </a:r>
            <a:r>
              <a:rPr lang="en-US" sz="2400"/>
              <a:t>m.s.</a:t>
            </a:r>
            <a:r>
              <a:rPr lang="en-US" sz="2400"/>
              <a:t>)</a:t>
            </a:r>
            <a:endParaRPr/>
          </a:p>
        </p:txBody>
      </p:sp>
      <p:pic>
        <p:nvPicPr>
          <p:cNvPr id="2109570101" name="Pictur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045110"/>
            <a:ext cx="5457750" cy="33977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53561382" name="Right Arrow 8"/>
          <p:cNvSpPr/>
          <p:nvPr/>
        </p:nvSpPr>
        <p:spPr bwMode="auto">
          <a:xfrm rot="10800000">
            <a:off x="5926120" y="2688771"/>
            <a:ext cx="707572" cy="39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40712558" name="Right Arrow 9"/>
          <p:cNvSpPr/>
          <p:nvPr/>
        </p:nvSpPr>
        <p:spPr bwMode="auto">
          <a:xfrm rot="10800000">
            <a:off x="5926120" y="4348597"/>
            <a:ext cx="707572" cy="39188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0578900" name="TextBox 12"/>
          <p:cNvSpPr txBox="1"/>
          <p:nvPr/>
        </p:nvSpPr>
        <p:spPr bwMode="auto">
          <a:xfrm>
            <a:off x="2749819" y="5587392"/>
            <a:ext cx="3345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i="1"/>
              <a:t>Complete sketch in </a:t>
            </a:r>
            <a:r>
              <a:rPr lang="en-US" b="1" i="1"/>
              <a:t>LoopTimer.ino</a:t>
            </a:r>
            <a:endParaRPr lang="en-US" b="1" i="1"/>
          </a:p>
        </p:txBody>
      </p:sp>
      <p:sp>
        <p:nvSpPr>
          <p:cNvPr id="1345613198" name="TextBox 16"/>
          <p:cNvSpPr txBox="1"/>
          <p:nvPr/>
        </p:nvSpPr>
        <p:spPr bwMode="auto">
          <a:xfrm>
            <a:off x="6633692" y="3429000"/>
            <a:ext cx="2356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Changes to make</a:t>
            </a:r>
            <a:endParaRPr/>
          </a:p>
        </p:txBody>
      </p:sp>
      <p:sp>
        <p:nvSpPr>
          <p:cNvPr id="498332557" name="Rectangle: Rounded Corners 3"/>
          <p:cNvSpPr/>
          <p:nvPr/>
        </p:nvSpPr>
        <p:spPr bwMode="auto">
          <a:xfrm>
            <a:off x="646043" y="2688771"/>
            <a:ext cx="3627783" cy="358358"/>
          </a:xfrm>
          <a:prstGeom prst="roundRect">
            <a:avLst>
              <a:gd name="adj" fmla="val 16667"/>
            </a:avLst>
          </a:prstGeom>
          <a:solidFill>
            <a:srgbClr val="FFFF66">
              <a:alpha val="15686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8685101" name="Rectangle: Rounded Corners 13"/>
          <p:cNvSpPr/>
          <p:nvPr/>
        </p:nvSpPr>
        <p:spPr bwMode="auto">
          <a:xfrm>
            <a:off x="646043" y="4013617"/>
            <a:ext cx="4790661" cy="1061847"/>
          </a:xfrm>
          <a:prstGeom prst="roundRect">
            <a:avLst>
              <a:gd name="adj" fmla="val 16667"/>
            </a:avLst>
          </a:prstGeom>
          <a:solidFill>
            <a:srgbClr val="FFFF66">
              <a:alpha val="15686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355059" name="Content Placeholder 4"/>
          <p:cNvSpPr>
            <a:spLocks noGrp="1"/>
          </p:cNvSpPr>
          <p:nvPr>
            <p:ph idx="1"/>
          </p:nvPr>
        </p:nvSpPr>
        <p:spPr bwMode="auto">
          <a:xfrm>
            <a:off x="267419" y="1568977"/>
            <a:ext cx="8583283" cy="4224771"/>
          </a:xfrm>
          <a:prstGeom prst="rect">
            <a:avLst/>
          </a:prstGeom>
          <a:solidFill>
            <a:srgbClr val="EAEAEA"/>
          </a:solidFill>
        </p:spPr>
        <p:txBody>
          <a:bodyPr/>
          <a:lstStyle/>
          <a:p>
            <a:pPr>
              <a:defRPr/>
            </a:pPr>
            <a:r>
              <a:rPr lang="en-US"/>
              <a:t>Objective: Work through Examples 1 and 2 to help you understand “while” statements</a:t>
            </a:r>
            <a:endParaRPr/>
          </a:p>
          <a:p>
            <a:pPr>
              <a:defRPr/>
            </a:pPr>
            <a:r>
              <a:rPr lang="en-US"/>
              <a:t>Look at the “for” statement, and work an example</a:t>
            </a:r>
            <a:endParaRPr/>
          </a:p>
        </p:txBody>
      </p:sp>
      <p:sp>
        <p:nvSpPr>
          <p:cNvPr id="1388154857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230057" name="Title 1"/>
          <p:cNvSpPr>
            <a:spLocks noGrp="1"/>
          </p:cNvSpPr>
          <p:nvPr>
            <p:ph type="title"/>
          </p:nvPr>
        </p:nvSpPr>
        <p:spPr bwMode="auto">
          <a:xfrm>
            <a:off x="2304721" y="571946"/>
            <a:ext cx="6211957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Serial Monitor information</a:t>
            </a:r>
            <a:endParaRPr/>
          </a:p>
        </p:txBody>
      </p:sp>
      <p:sp>
        <p:nvSpPr>
          <p:cNvPr id="2016978086" name="Content Placeholder 2"/>
          <p:cNvSpPr>
            <a:spLocks noGrp="1"/>
          </p:cNvSpPr>
          <p:nvPr>
            <p:ph idx="1"/>
          </p:nvPr>
        </p:nvSpPr>
        <p:spPr bwMode="auto">
          <a:xfrm>
            <a:off x="1" y="1547447"/>
            <a:ext cx="9144000" cy="512709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2800"/>
              <a:t>Arduino </a:t>
            </a:r>
            <a:r>
              <a:rPr lang="en-US" sz="2800">
                <a:solidFill>
                  <a:srgbClr val="FF0000"/>
                </a:solidFill>
              </a:rPr>
              <a:t>Serial.println</a:t>
            </a:r>
            <a:r>
              <a:rPr lang="en-US" sz="2800"/>
              <a:t> sends data </a:t>
            </a:r>
            <a:r>
              <a:rPr lang="en-US" sz="2800" b="1"/>
              <a:t>from</a:t>
            </a:r>
            <a:r>
              <a:rPr lang="en-US" sz="2800"/>
              <a:t> Arduino </a:t>
            </a:r>
            <a:r>
              <a:rPr lang="en-US" sz="2800" b="1"/>
              <a:t>to</a:t>
            </a:r>
            <a:r>
              <a:rPr lang="en-US" sz="2800"/>
              <a:t> your computer where it is displayed on your monitor</a:t>
            </a:r>
            <a:endParaRPr/>
          </a:p>
          <a:p>
            <a:pPr lvl="1">
              <a:defRPr/>
            </a:pPr>
            <a:r>
              <a:rPr lang="en-US" sz="2400"/>
              <a:t>Uses Arduino pins 0 and 1 (“TX” and “RX”) for communication</a:t>
            </a:r>
            <a:endParaRPr/>
          </a:p>
          <a:p>
            <a:pPr lvl="2">
              <a:defRPr/>
            </a:pPr>
            <a:r>
              <a:rPr lang="en-US" sz="2000"/>
              <a:t>For this reason we advise: </a:t>
            </a:r>
            <a:r>
              <a:rPr lang="en-US" sz="2000" b="1" u="sng"/>
              <a:t>Never</a:t>
            </a:r>
            <a:r>
              <a:rPr lang="en-US" sz="2000"/>
              <a:t> use pin 0 or pin 1 for Arduino projects</a:t>
            </a:r>
            <a:endParaRPr/>
          </a:p>
          <a:p>
            <a:pPr lvl="1">
              <a:defRPr/>
            </a:pPr>
            <a:r>
              <a:rPr lang="en-US" sz="2400">
                <a:solidFill>
                  <a:srgbClr val="FF0000"/>
                </a:solidFill>
              </a:rPr>
              <a:t>Serial Monitor</a:t>
            </a:r>
            <a:r>
              <a:rPr lang="en-US" sz="2400"/>
              <a:t> is a program that prints the values on your screen</a:t>
            </a:r>
            <a:endParaRPr/>
          </a:p>
          <a:p>
            <a:pPr>
              <a:defRPr/>
            </a:pPr>
            <a:r>
              <a:rPr lang="en-US" sz="2800"/>
              <a:t>Details:</a:t>
            </a:r>
            <a:endParaRPr/>
          </a:p>
          <a:p>
            <a:pPr lvl="1">
              <a:defRPr/>
            </a:pPr>
            <a:r>
              <a:rPr lang="en-US" sz="2400" b="1">
                <a:solidFill>
                  <a:srgbClr val="00B050"/>
                </a:solidFill>
              </a:rPr>
              <a:t>Serial.begin</a:t>
            </a:r>
            <a:r>
              <a:rPr lang="en-US" sz="2400" b="1">
                <a:solidFill>
                  <a:srgbClr val="00B050"/>
                </a:solidFill>
              </a:rPr>
              <a:t>(9600)</a:t>
            </a:r>
            <a:r>
              <a:rPr lang="en-US" sz="2400">
                <a:solidFill>
                  <a:srgbClr val="19F323"/>
                </a:solidFill>
              </a:rPr>
              <a:t> </a:t>
            </a:r>
            <a:r>
              <a:rPr lang="en-US" sz="2400"/>
              <a:t>initializes communication rate at 9600 bps (bits per second)</a:t>
            </a:r>
            <a:endParaRPr/>
          </a:p>
          <a:p>
            <a:pPr lvl="1">
              <a:defRPr/>
            </a:pPr>
            <a:r>
              <a:rPr lang="en-US" sz="2400" b="1">
                <a:solidFill>
                  <a:srgbClr val="00B050"/>
                </a:solidFill>
              </a:rPr>
              <a:t>Serial.print</a:t>
            </a:r>
            <a:r>
              <a:rPr lang="en-US" sz="2400"/>
              <a:t>: sends text or values to computer on same line </a:t>
            </a:r>
            <a:endParaRPr/>
          </a:p>
          <a:p>
            <a:pPr lvl="1">
              <a:defRPr/>
            </a:pPr>
            <a:r>
              <a:rPr lang="en-US" sz="2400" b="1">
                <a:solidFill>
                  <a:srgbClr val="00B050"/>
                </a:solidFill>
              </a:rPr>
              <a:t>Serial.println</a:t>
            </a:r>
            <a:r>
              <a:rPr lang="en-US" sz="2400"/>
              <a:t>: same as print but also starts new print line</a:t>
            </a:r>
            <a:endParaRPr/>
          </a:p>
        </p:txBody>
      </p:sp>
      <p:sp>
        <p:nvSpPr>
          <p:cNvPr id="1593638587" name="Rectangle 6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318056" name="Title 2"/>
          <p:cNvSpPr>
            <a:spLocks noGrp="1"/>
          </p:cNvSpPr>
          <p:nvPr>
            <p:ph type="title"/>
          </p:nvPr>
        </p:nvSpPr>
        <p:spPr bwMode="auto">
          <a:xfrm>
            <a:off x="2351313" y="301452"/>
            <a:ext cx="5759017" cy="1326382"/>
          </a:xfrm>
        </p:spPr>
        <p:txBody>
          <a:bodyPr/>
          <a:lstStyle/>
          <a:p>
            <a:pPr>
              <a:defRPr/>
            </a:pPr>
            <a:r>
              <a:rPr lang="en-US"/>
              <a:t>What do the numbers mean???</a:t>
            </a:r>
            <a:endParaRPr/>
          </a:p>
        </p:txBody>
      </p:sp>
      <p:sp>
        <p:nvSpPr>
          <p:cNvPr id="1562269851" name="Content Placeholder 3"/>
          <p:cNvSpPr>
            <a:spLocks noGrp="1"/>
          </p:cNvSpPr>
          <p:nvPr>
            <p:ph idx="1"/>
          </p:nvPr>
        </p:nvSpPr>
        <p:spPr bwMode="auto">
          <a:xfrm>
            <a:off x="381837" y="1857483"/>
            <a:ext cx="5385917" cy="4177557"/>
          </a:xfrm>
        </p:spPr>
        <p:txBody>
          <a:bodyPr/>
          <a:lstStyle/>
          <a:p>
            <a:pPr>
              <a:defRPr/>
            </a:pPr>
            <a:r>
              <a:rPr lang="en-US" sz="2800"/>
              <a:t>Upload </a:t>
            </a:r>
            <a:r>
              <a:rPr lang="en-US" sz="2800">
                <a:solidFill>
                  <a:srgbClr val="00B050"/>
                </a:solidFill>
              </a:rPr>
              <a:t>LoopCounter.ino</a:t>
            </a:r>
            <a:r>
              <a:rPr lang="en-US" sz="2800">
                <a:solidFill>
                  <a:srgbClr val="00B050"/>
                </a:solidFill>
              </a:rPr>
              <a:t> </a:t>
            </a:r>
            <a:endParaRPr/>
          </a:p>
          <a:p>
            <a:pPr>
              <a:defRPr/>
            </a:pPr>
            <a:r>
              <a:rPr lang="en-US" sz="2800"/>
              <a:t>What’s the smallest count you can get?</a:t>
            </a:r>
            <a:endParaRPr/>
          </a:p>
          <a:p>
            <a:pPr>
              <a:defRPr/>
            </a:pPr>
            <a:r>
              <a:rPr lang="en-US" sz="2800"/>
              <a:t>The number you see is how many times the computer executes the while loop as you held down the button</a:t>
            </a:r>
            <a:endParaRPr/>
          </a:p>
          <a:p>
            <a:pPr lvl="1">
              <a:defRPr/>
            </a:pPr>
            <a:r>
              <a:rPr lang="en-US" sz="2400"/>
              <a:t>Remember: Arduino does about 16 million operations each second</a:t>
            </a:r>
            <a:endParaRPr/>
          </a:p>
        </p:txBody>
      </p:sp>
      <p:sp>
        <p:nvSpPr>
          <p:cNvPr id="682689364" name="Rectangle 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 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42038" name="Title 1"/>
          <p:cNvSpPr>
            <a:spLocks noGrp="1"/>
          </p:cNvSpPr>
          <p:nvPr>
            <p:ph type="title"/>
          </p:nvPr>
        </p:nvSpPr>
        <p:spPr bwMode="auto">
          <a:xfrm>
            <a:off x="457200" y="980224"/>
            <a:ext cx="8229600" cy="661248"/>
          </a:xfrm>
        </p:spPr>
        <p:txBody>
          <a:bodyPr/>
          <a:lstStyle/>
          <a:p>
            <a:pPr>
              <a:defRPr/>
            </a:pPr>
            <a:r>
              <a:rPr lang="en-US" sz="2800"/>
              <a:t>Very small values indicate switch bounce!</a:t>
            </a:r>
            <a:endParaRPr/>
          </a:p>
        </p:txBody>
      </p:sp>
      <p:pic>
        <p:nvPicPr>
          <p:cNvPr id="682985183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5303" y="1886023"/>
            <a:ext cx="3486790" cy="2455054"/>
          </a:xfrm>
          <a:prstGeom prst="rect">
            <a:avLst/>
          </a:prstGeom>
        </p:spPr>
      </p:pic>
      <p:sp>
        <p:nvSpPr>
          <p:cNvPr id="947671772" name="TextBox 2"/>
          <p:cNvSpPr txBox="1"/>
          <p:nvPr/>
        </p:nvSpPr>
        <p:spPr bwMode="auto">
          <a:xfrm>
            <a:off x="439687" y="5246876"/>
            <a:ext cx="8067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2400"/>
              <a:t>Problem affects most types of switches. It’s everywhere!</a:t>
            </a:r>
            <a:endParaRPr/>
          </a:p>
        </p:txBody>
      </p:sp>
      <p:pic>
        <p:nvPicPr>
          <p:cNvPr id="1138890905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623692" y="1753891"/>
            <a:ext cx="777107" cy="2797585"/>
          </a:xfrm>
          <a:prstGeom prst="rect">
            <a:avLst/>
          </a:prstGeom>
        </p:spPr>
      </p:pic>
      <p:sp>
        <p:nvSpPr>
          <p:cNvPr id="940287169" name="Arrow: Right 10"/>
          <p:cNvSpPr/>
          <p:nvPr/>
        </p:nvSpPr>
        <p:spPr bwMode="auto">
          <a:xfrm>
            <a:off x="4966742" y="2552519"/>
            <a:ext cx="589546" cy="2560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63749100" name="Arrow: Right 11"/>
          <p:cNvSpPr/>
          <p:nvPr/>
        </p:nvSpPr>
        <p:spPr bwMode="auto">
          <a:xfrm>
            <a:off x="4966742" y="2857480"/>
            <a:ext cx="589546" cy="2560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93233082" name="Arrow: Right 12"/>
          <p:cNvSpPr/>
          <p:nvPr/>
        </p:nvSpPr>
        <p:spPr bwMode="auto">
          <a:xfrm>
            <a:off x="4966742" y="3145122"/>
            <a:ext cx="589546" cy="2560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74885349" name="Arrow: Right 13"/>
          <p:cNvSpPr/>
          <p:nvPr/>
        </p:nvSpPr>
        <p:spPr bwMode="auto">
          <a:xfrm>
            <a:off x="4966742" y="3956162"/>
            <a:ext cx="589546" cy="2560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7950295" name="Right Brace 5"/>
          <p:cNvSpPr/>
          <p:nvPr/>
        </p:nvSpPr>
        <p:spPr bwMode="auto">
          <a:xfrm>
            <a:off x="6400798" y="2282985"/>
            <a:ext cx="246581" cy="996593"/>
          </a:xfrm>
          <a:prstGeom prst="rightBrace">
            <a:avLst>
              <a:gd name="adj1" fmla="val 33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20451773" name="TextBox 6"/>
          <p:cNvSpPr txBox="1"/>
          <p:nvPr/>
        </p:nvSpPr>
        <p:spPr bwMode="auto">
          <a:xfrm>
            <a:off x="6660451" y="2544265"/>
            <a:ext cx="2394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One button push!</a:t>
            </a:r>
            <a:endParaRPr/>
          </a:p>
        </p:txBody>
      </p:sp>
      <p:sp>
        <p:nvSpPr>
          <p:cNvPr id="2097199905" name="Right Brace 14"/>
          <p:cNvSpPr/>
          <p:nvPr/>
        </p:nvSpPr>
        <p:spPr bwMode="auto">
          <a:xfrm>
            <a:off x="6400798" y="3680620"/>
            <a:ext cx="246581" cy="504757"/>
          </a:xfrm>
          <a:prstGeom prst="rightBrace">
            <a:avLst>
              <a:gd name="adj1" fmla="val 33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21898639" name="TextBox 15"/>
          <p:cNvSpPr txBox="1"/>
          <p:nvPr/>
        </p:nvSpPr>
        <p:spPr bwMode="auto">
          <a:xfrm>
            <a:off x="6660451" y="3664737"/>
            <a:ext cx="2394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One button push!</a:t>
            </a:r>
            <a:endParaRPr/>
          </a:p>
        </p:txBody>
      </p:sp>
      <p:sp>
        <p:nvSpPr>
          <p:cNvPr id="812372257" name="TextBox 7"/>
          <p:cNvSpPr txBox="1"/>
          <p:nvPr/>
        </p:nvSpPr>
        <p:spPr bwMode="auto">
          <a:xfrm>
            <a:off x="4080587" y="2467919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bounce</a:t>
            </a:r>
            <a:endParaRPr/>
          </a:p>
        </p:txBody>
      </p:sp>
      <p:sp>
        <p:nvSpPr>
          <p:cNvPr id="1576252271" name="TextBox 16"/>
          <p:cNvSpPr txBox="1"/>
          <p:nvPr/>
        </p:nvSpPr>
        <p:spPr bwMode="auto">
          <a:xfrm>
            <a:off x="4080587" y="2787309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bounce</a:t>
            </a:r>
            <a:endParaRPr/>
          </a:p>
        </p:txBody>
      </p:sp>
      <p:sp>
        <p:nvSpPr>
          <p:cNvPr id="688000752" name="TextBox 17"/>
          <p:cNvSpPr txBox="1"/>
          <p:nvPr/>
        </p:nvSpPr>
        <p:spPr bwMode="auto">
          <a:xfrm>
            <a:off x="4080587" y="309491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bounce</a:t>
            </a:r>
            <a:endParaRPr/>
          </a:p>
        </p:txBody>
      </p:sp>
      <p:sp>
        <p:nvSpPr>
          <p:cNvPr id="1556754326" name="TextBox 18"/>
          <p:cNvSpPr txBox="1"/>
          <p:nvPr/>
        </p:nvSpPr>
        <p:spPr bwMode="auto">
          <a:xfrm>
            <a:off x="4080587" y="387484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bounce</a:t>
            </a:r>
            <a:endParaRPr/>
          </a:p>
        </p:txBody>
      </p:sp>
      <p:sp>
        <p:nvSpPr>
          <p:cNvPr id="1347302300" name="Rectangle 19"/>
          <p:cNvSpPr/>
          <p:nvPr/>
        </p:nvSpPr>
        <p:spPr bwMode="auto">
          <a:xfrm>
            <a:off x="318052" y="134129"/>
            <a:ext cx="166573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757620" name="Title 1"/>
          <p:cNvSpPr>
            <a:spLocks noGrp="1"/>
          </p:cNvSpPr>
          <p:nvPr>
            <p:ph type="title"/>
          </p:nvPr>
        </p:nvSpPr>
        <p:spPr bwMode="auto">
          <a:xfrm>
            <a:off x="657002" y="110563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4000"/>
              <a:t>Software solution: sleep</a:t>
            </a:r>
            <a:endParaRPr/>
          </a:p>
        </p:txBody>
      </p:sp>
      <p:sp>
        <p:nvSpPr>
          <p:cNvPr id="275378649" name="TextBox 2"/>
          <p:cNvSpPr txBox="1"/>
          <p:nvPr/>
        </p:nvSpPr>
        <p:spPr bwMode="auto">
          <a:xfrm>
            <a:off x="819563" y="4882286"/>
            <a:ext cx="8067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2400"/>
              <a:t>Solution: make computer sleep for 20-40 </a:t>
            </a:r>
            <a:r>
              <a:rPr lang="en-US" sz="2400"/>
              <a:t>ms</a:t>
            </a:r>
            <a:r>
              <a:rPr lang="en-US" sz="2400"/>
              <a:t> after switch detected. This causes it to ignore bounces.</a:t>
            </a:r>
            <a:endParaRPr/>
          </a:p>
        </p:txBody>
      </p:sp>
      <p:pic>
        <p:nvPicPr>
          <p:cNvPr id="606773646" name="Picture 5"/>
          <p:cNvPicPr>
            <a:picLocks noChangeAspect="1"/>
          </p:cNvPicPr>
          <p:nvPr/>
        </p:nvPicPr>
        <p:blipFill rotWithShape="1">
          <a:blip r:embed="rId3"/>
          <a:srcRect l="0" t="22004" r="0" b="29162"/>
          <a:stretch/>
        </p:blipFill>
        <p:spPr bwMode="auto">
          <a:xfrm>
            <a:off x="2631206" y="2792185"/>
            <a:ext cx="3486790" cy="1198881"/>
          </a:xfrm>
          <a:prstGeom prst="rect">
            <a:avLst/>
          </a:prstGeom>
        </p:spPr>
      </p:pic>
      <p:sp>
        <p:nvSpPr>
          <p:cNvPr id="1525048143" name="Arrow: Left-Right 6"/>
          <p:cNvSpPr/>
          <p:nvPr/>
        </p:nvSpPr>
        <p:spPr bwMode="auto">
          <a:xfrm>
            <a:off x="4787036" y="2578826"/>
            <a:ext cx="629920" cy="213359"/>
          </a:xfrm>
          <a:prstGeom prst="left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6862799" name="Arrow: Left-Right 7"/>
          <p:cNvSpPr/>
          <p:nvPr/>
        </p:nvSpPr>
        <p:spPr bwMode="auto">
          <a:xfrm>
            <a:off x="3456076" y="2578826"/>
            <a:ext cx="629920" cy="213359"/>
          </a:xfrm>
          <a:prstGeom prst="left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4244094" name="TextBox 8"/>
          <p:cNvSpPr txBox="1"/>
          <p:nvPr/>
        </p:nvSpPr>
        <p:spPr bwMode="auto">
          <a:xfrm>
            <a:off x="3431039" y="221866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sleep</a:t>
            </a:r>
            <a:endParaRPr/>
          </a:p>
        </p:txBody>
      </p:sp>
      <p:sp>
        <p:nvSpPr>
          <p:cNvPr id="1300481414" name="TextBox 9"/>
          <p:cNvSpPr txBox="1"/>
          <p:nvPr/>
        </p:nvSpPr>
        <p:spPr bwMode="auto">
          <a:xfrm>
            <a:off x="4761999" y="221866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sleep</a:t>
            </a:r>
            <a:endParaRPr/>
          </a:p>
        </p:txBody>
      </p:sp>
      <p:sp>
        <p:nvSpPr>
          <p:cNvPr id="349044228" name="Rectangle 10"/>
          <p:cNvSpPr/>
          <p:nvPr/>
        </p:nvSpPr>
        <p:spPr bwMode="auto">
          <a:xfrm>
            <a:off x="517854" y="292197"/>
            <a:ext cx="172940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291143" name="Title 1"/>
          <p:cNvSpPr>
            <a:spLocks noGrp="1"/>
          </p:cNvSpPr>
          <p:nvPr>
            <p:ph type="title"/>
          </p:nvPr>
        </p:nvSpPr>
        <p:spPr bwMode="auto">
          <a:xfrm>
            <a:off x="518160" y="794972"/>
            <a:ext cx="8229600" cy="665888"/>
          </a:xfrm>
        </p:spPr>
        <p:txBody>
          <a:bodyPr/>
          <a:lstStyle/>
          <a:p>
            <a:pPr>
              <a:defRPr/>
            </a:pPr>
            <a:r>
              <a:rPr lang="en-US"/>
              <a:t>Debounce</a:t>
            </a:r>
            <a:r>
              <a:rPr lang="en-US"/>
              <a:t> Your Program</a:t>
            </a:r>
            <a:endParaRPr/>
          </a:p>
        </p:txBody>
      </p:sp>
      <p:sp>
        <p:nvSpPr>
          <p:cNvPr id="987640259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722118"/>
            <a:ext cx="8229600" cy="1278556"/>
          </a:xfrm>
        </p:spPr>
        <p:txBody>
          <a:bodyPr/>
          <a:lstStyle/>
          <a:p>
            <a:pPr>
              <a:defRPr/>
            </a:pPr>
            <a:r>
              <a:rPr lang="en-US"/>
              <a:t>Insert “</a:t>
            </a:r>
            <a:r>
              <a:rPr lang="en-US">
                <a:solidFill>
                  <a:srgbClr val="00B050"/>
                </a:solidFill>
              </a:rPr>
              <a:t>delay(20);</a:t>
            </a:r>
            <a:r>
              <a:rPr lang="en-US"/>
              <a:t>”</a:t>
            </a:r>
            <a:endParaRPr/>
          </a:p>
          <a:p>
            <a:pPr lvl="1">
              <a:defRPr/>
            </a:pPr>
            <a:r>
              <a:rPr lang="en-US"/>
              <a:t>Do values make sense now?</a:t>
            </a:r>
            <a:endParaRPr/>
          </a:p>
        </p:txBody>
      </p:sp>
      <p:sp>
        <p:nvSpPr>
          <p:cNvPr id="1603503802" name="TextBox 3"/>
          <p:cNvSpPr txBox="1"/>
          <p:nvPr/>
        </p:nvSpPr>
        <p:spPr bwMode="auto">
          <a:xfrm>
            <a:off x="806116" y="3228270"/>
            <a:ext cx="5395195" cy="31700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lvl="2">
              <a:defRPr/>
            </a:pPr>
            <a:r>
              <a:rPr lang="en-US" sz="2000"/>
              <a:t>void loop() {</a:t>
            </a:r>
            <a:endParaRPr/>
          </a:p>
          <a:p>
            <a:pPr lvl="2">
              <a:defRPr/>
            </a:pPr>
            <a:r>
              <a:rPr lang="en-US" sz="2000"/>
              <a:t>   long </a:t>
            </a:r>
            <a:r>
              <a:rPr lang="en-US" sz="2000"/>
              <a:t>int</a:t>
            </a:r>
            <a:r>
              <a:rPr lang="en-US" sz="2000"/>
              <a:t> </a:t>
            </a:r>
            <a:r>
              <a:rPr lang="en-US" sz="2000"/>
              <a:t>i</a:t>
            </a:r>
            <a:r>
              <a:rPr lang="en-US" sz="2000"/>
              <a:t> = 0;</a:t>
            </a:r>
            <a:endParaRPr/>
          </a:p>
          <a:p>
            <a:pPr lvl="2">
              <a:defRPr/>
            </a:pPr>
            <a:r>
              <a:rPr lang="en-US" sz="2000"/>
              <a:t>  while (</a:t>
            </a:r>
            <a:r>
              <a:rPr lang="en-US" sz="2000"/>
              <a:t>digitalRead</a:t>
            </a:r>
            <a:r>
              <a:rPr lang="en-US" sz="2000"/>
              <a:t>(</a:t>
            </a:r>
            <a:r>
              <a:rPr lang="en-US" sz="2000"/>
              <a:t>switchPin</a:t>
            </a:r>
            <a:r>
              <a:rPr lang="en-US" sz="2000"/>
              <a:t>) == HIGH){}</a:t>
            </a:r>
            <a:endParaRPr/>
          </a:p>
          <a:p>
            <a:pPr lvl="2">
              <a:defRPr/>
            </a:pPr>
            <a:r>
              <a:rPr lang="en-US" sz="2000">
                <a:solidFill>
                  <a:srgbClr val="FF0000"/>
                </a:solidFill>
              </a:rPr>
              <a:t>  delay(20);  //wait for bounce to stop</a:t>
            </a:r>
            <a:endParaRPr/>
          </a:p>
          <a:p>
            <a:pPr lvl="2">
              <a:defRPr/>
            </a:pPr>
            <a:r>
              <a:rPr lang="en-US" sz="2000"/>
              <a:t>  while (</a:t>
            </a:r>
            <a:r>
              <a:rPr lang="en-US" sz="2000"/>
              <a:t>digitalRead</a:t>
            </a:r>
            <a:r>
              <a:rPr lang="en-US" sz="2000"/>
              <a:t>(</a:t>
            </a:r>
            <a:r>
              <a:rPr lang="en-US" sz="2000"/>
              <a:t>switchPin</a:t>
            </a:r>
            <a:r>
              <a:rPr lang="en-US" sz="2000"/>
              <a:t>) == LOW) { </a:t>
            </a:r>
            <a:endParaRPr lang="en-US" sz="2000">
              <a:solidFill>
                <a:srgbClr val="00B050"/>
              </a:solidFill>
            </a:endParaRPr>
          </a:p>
          <a:p>
            <a:pPr lvl="2">
              <a:defRPr/>
            </a:pPr>
            <a:r>
              <a:rPr lang="en-US" sz="2000"/>
              <a:t>            </a:t>
            </a:r>
            <a:r>
              <a:rPr lang="en-US" sz="2000"/>
              <a:t>i</a:t>
            </a:r>
            <a:r>
              <a:rPr lang="en-US" sz="2000"/>
              <a:t> = </a:t>
            </a:r>
            <a:r>
              <a:rPr lang="en-US" sz="2000"/>
              <a:t>i</a:t>
            </a:r>
            <a:r>
              <a:rPr lang="en-US" sz="2000"/>
              <a:t> + 1;                                               </a:t>
            </a:r>
            <a:endParaRPr lang="en-US" sz="2000">
              <a:solidFill>
                <a:srgbClr val="00B050"/>
              </a:solidFill>
            </a:endParaRPr>
          </a:p>
          <a:p>
            <a:pPr lvl="2">
              <a:defRPr/>
            </a:pPr>
            <a:r>
              <a:rPr lang="en-US" sz="2000"/>
              <a:t>  }</a:t>
            </a:r>
            <a:endParaRPr/>
          </a:p>
          <a:p>
            <a:pPr lvl="2">
              <a:defRPr/>
            </a:pPr>
            <a:r>
              <a:rPr lang="en-US" sz="2000"/>
              <a:t>  </a:t>
            </a:r>
            <a:r>
              <a:rPr lang="en-US" sz="2000"/>
              <a:t>Serial.println</a:t>
            </a:r>
            <a:r>
              <a:rPr lang="en-US" sz="2000"/>
              <a:t>(</a:t>
            </a:r>
            <a:r>
              <a:rPr lang="en-US" sz="2000"/>
              <a:t>i</a:t>
            </a:r>
            <a:r>
              <a:rPr lang="en-US" sz="2000"/>
              <a:t>);</a:t>
            </a:r>
            <a:endParaRPr/>
          </a:p>
          <a:p>
            <a:pPr lvl="2">
              <a:defRPr/>
            </a:pPr>
            <a:r>
              <a:rPr lang="en-US" sz="2000">
                <a:solidFill>
                  <a:srgbClr val="FF0000"/>
                </a:solidFill>
              </a:rPr>
              <a:t> delay(20);  //wait for bounce to stop</a:t>
            </a:r>
            <a:endParaRPr lang="en-US" sz="2000"/>
          </a:p>
          <a:p>
            <a:pPr lvl="2">
              <a:defRPr/>
            </a:pPr>
            <a:r>
              <a:rPr lang="en-US" sz="2000"/>
              <a:t>}</a:t>
            </a:r>
            <a:endParaRPr/>
          </a:p>
        </p:txBody>
      </p:sp>
      <p:sp>
        <p:nvSpPr>
          <p:cNvPr id="146418431" name="Arrow: Right 6"/>
          <p:cNvSpPr/>
          <p:nvPr/>
        </p:nvSpPr>
        <p:spPr bwMode="auto">
          <a:xfrm>
            <a:off x="1287378" y="4235113"/>
            <a:ext cx="433137" cy="228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6073469" name="TextBox 8"/>
          <p:cNvSpPr txBox="1"/>
          <p:nvPr/>
        </p:nvSpPr>
        <p:spPr bwMode="auto">
          <a:xfrm>
            <a:off x="6520314" y="4235113"/>
            <a:ext cx="2166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i="1"/>
              <a:t>Bouncing occurs at front end </a:t>
            </a:r>
            <a:r>
              <a:rPr lang="en-US" i="1" u="sng"/>
              <a:t>and</a:t>
            </a:r>
            <a:r>
              <a:rPr lang="en-US" i="1"/>
              <a:t> back end of button push</a:t>
            </a:r>
            <a:endParaRPr/>
          </a:p>
        </p:txBody>
      </p:sp>
      <p:sp>
        <p:nvSpPr>
          <p:cNvPr id="2102531285" name="Arrow: Right 7"/>
          <p:cNvSpPr/>
          <p:nvPr/>
        </p:nvSpPr>
        <p:spPr bwMode="auto">
          <a:xfrm>
            <a:off x="1287378" y="5755688"/>
            <a:ext cx="433137" cy="228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0529402" name="Rectangle 9"/>
          <p:cNvSpPr/>
          <p:nvPr/>
        </p:nvSpPr>
        <p:spPr bwMode="auto">
          <a:xfrm>
            <a:off x="318052" y="134129"/>
            <a:ext cx="169672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381952" name="Title 1"/>
          <p:cNvSpPr>
            <a:spLocks noGrp="1"/>
          </p:cNvSpPr>
          <p:nvPr>
            <p:ph type="title"/>
          </p:nvPr>
        </p:nvSpPr>
        <p:spPr bwMode="auto">
          <a:xfrm>
            <a:off x="457200" y="351938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for statements</a:t>
            </a:r>
            <a:br>
              <a:rPr lang="en-US" b="1"/>
            </a:br>
            <a:r>
              <a:rPr lang="en-US" sz="2700">
                <a:solidFill>
                  <a:srgbClr val="FF0000"/>
                </a:solidFill>
              </a:rPr>
              <a:t>e x t r e m e l y  useful!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27892561" name="TextBox 2"/>
          <p:cNvSpPr txBox="1"/>
          <p:nvPr/>
        </p:nvSpPr>
        <p:spPr bwMode="auto">
          <a:xfrm>
            <a:off x="1416818" y="3656470"/>
            <a:ext cx="424641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800"/>
              <a:t>for (int x=0;  x&lt;100;  x++) {   </a:t>
            </a:r>
            <a:endParaRPr lang="en-US" sz="2800">
              <a:solidFill>
                <a:srgbClr val="00B050"/>
              </a:solidFill>
            </a:endParaRPr>
          </a:p>
          <a:p>
            <a:pPr>
              <a:defRPr/>
            </a:pPr>
            <a:r>
              <a:rPr lang="en-US" sz="2800"/>
              <a:t>	print(“x equals “);</a:t>
            </a:r>
            <a:endParaRPr/>
          </a:p>
          <a:p>
            <a:pPr>
              <a:defRPr/>
            </a:pPr>
            <a:r>
              <a:rPr lang="en-US" sz="2800"/>
              <a:t>	</a:t>
            </a:r>
            <a:r>
              <a:rPr lang="en-US" sz="2800"/>
              <a:t>println</a:t>
            </a:r>
            <a:r>
              <a:rPr lang="en-US" sz="2800"/>
              <a:t>(x);</a:t>
            </a:r>
            <a:endParaRPr/>
          </a:p>
          <a:p>
            <a:pPr>
              <a:defRPr/>
            </a:pPr>
            <a:r>
              <a:rPr lang="en-US" sz="2800"/>
              <a:t>}</a:t>
            </a:r>
            <a:endParaRPr/>
          </a:p>
        </p:txBody>
      </p:sp>
      <p:grpSp>
        <p:nvGrpSpPr>
          <p:cNvPr id="620781251" name="Group 23"/>
          <p:cNvGrpSpPr/>
          <p:nvPr/>
        </p:nvGrpSpPr>
        <p:grpSpPr bwMode="auto">
          <a:xfrm>
            <a:off x="763674" y="2432819"/>
            <a:ext cx="5617297" cy="1335313"/>
            <a:chOff x="763674" y="2432819"/>
            <a:chExt cx="5617297" cy="1335313"/>
          </a:xfrm>
        </p:grpSpPr>
        <p:sp>
          <p:nvSpPr>
            <p:cNvPr id="6" name="TextBox 5"/>
            <p:cNvSpPr txBox="1"/>
            <p:nvPr/>
          </p:nvSpPr>
          <p:spPr bwMode="auto">
            <a:xfrm>
              <a:off x="763674" y="2432819"/>
              <a:ext cx="20699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>
                  <a:solidFill>
                    <a:srgbClr val="FF0000"/>
                  </a:solidFill>
                </a:rPr>
                <a:t>Declare x as an integer if it hasn’t been declared yet</a:t>
              </a:r>
              <a:endParaRPr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2849551" y="2586995"/>
              <a:ext cx="1261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>
                  <a:solidFill>
                    <a:srgbClr val="7030A0"/>
                  </a:solidFill>
                </a:rPr>
                <a:t>Initialize x</a:t>
              </a:r>
              <a:endParaRPr/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4018599" y="2594425"/>
              <a:ext cx="1065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>
                  <a:solidFill>
                    <a:srgbClr val="0070C0"/>
                  </a:solidFill>
                </a:rPr>
                <a:t>The Test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823477" y="2858268"/>
              <a:ext cx="15574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>
                  <a:solidFill>
                    <a:schemeClr val="accent6">
                      <a:lumMod val="50000"/>
                    </a:schemeClr>
                  </a:solidFill>
                </a:rPr>
                <a:t>Increment or decrement</a:t>
              </a:r>
              <a:endParaRPr/>
            </a:p>
          </p:txBody>
        </p:sp>
        <p:sp>
          <p:nvSpPr>
            <p:cNvPr id="20" name="Freeform: Shape 19"/>
            <p:cNvSpPr/>
            <p:nvPr/>
          </p:nvSpPr>
          <p:spPr bwMode="auto">
            <a:xfrm>
              <a:off x="2873829" y="2944167"/>
              <a:ext cx="432079" cy="823965"/>
            </a:xfrm>
            <a:custGeom>
              <a:avLst/>
              <a:gdLst>
                <a:gd name="connsiteX0" fmla="*/ 432079 w 432079"/>
                <a:gd name="connsiteY0" fmla="*/ 0 h 823965"/>
                <a:gd name="connsiteX1" fmla="*/ 0 w 432079"/>
                <a:gd name="connsiteY1" fmla="*/ 823965 h 82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2079" h="823965" fill="norm" stroke="1" extrusionOk="0">
                  <a:moveTo>
                    <a:pt x="432079" y="0"/>
                  </a:moveTo>
                  <a:lnTo>
                    <a:pt x="0" y="823965"/>
                  </a:lnTo>
                </a:path>
              </a:pathLst>
            </a:cu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3863198" y="2944167"/>
              <a:ext cx="432079" cy="823965"/>
            </a:xfrm>
            <a:custGeom>
              <a:avLst/>
              <a:gdLst>
                <a:gd name="connsiteX0" fmla="*/ 432079 w 432079"/>
                <a:gd name="connsiteY0" fmla="*/ 0 h 823965"/>
                <a:gd name="connsiteX1" fmla="*/ 0 w 432079"/>
                <a:gd name="connsiteY1" fmla="*/ 823965 h 82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2079" h="823965" fill="norm" stroke="1" extrusionOk="0">
                  <a:moveTo>
                    <a:pt x="432079" y="0"/>
                  </a:moveTo>
                  <a:lnTo>
                    <a:pt x="0" y="823965"/>
                  </a:lnTo>
                </a:path>
              </a:pathLst>
            </a:cu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 bwMode="auto">
            <a:xfrm>
              <a:off x="4572000" y="3356149"/>
              <a:ext cx="276331" cy="369333"/>
            </a:xfrm>
            <a:custGeom>
              <a:avLst/>
              <a:gdLst>
                <a:gd name="connsiteX0" fmla="*/ 432079 w 432079"/>
                <a:gd name="connsiteY0" fmla="*/ 0 h 823965"/>
                <a:gd name="connsiteX1" fmla="*/ 0 w 432079"/>
                <a:gd name="connsiteY1" fmla="*/ 823965 h 82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2079" h="823965" fill="norm" stroke="1" extrusionOk="0">
                  <a:moveTo>
                    <a:pt x="432079" y="0"/>
                  </a:moveTo>
                  <a:lnTo>
                    <a:pt x="0" y="823965"/>
                  </a:lnTo>
                </a:path>
              </a:pathLst>
            </a:custGeom>
            <a:ln w="28575">
              <a:solidFill>
                <a:schemeClr val="accent6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 bwMode="auto">
            <a:xfrm flipH="1">
              <a:off x="1936819" y="3307233"/>
              <a:ext cx="379720" cy="460899"/>
            </a:xfrm>
            <a:custGeom>
              <a:avLst/>
              <a:gdLst>
                <a:gd name="connsiteX0" fmla="*/ 432079 w 432079"/>
                <a:gd name="connsiteY0" fmla="*/ 0 h 823965"/>
                <a:gd name="connsiteX1" fmla="*/ 0 w 432079"/>
                <a:gd name="connsiteY1" fmla="*/ 823965 h 82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2079" h="823965" fill="norm" stroke="1" extrusionOk="0">
                  <a:moveTo>
                    <a:pt x="432079" y="0"/>
                  </a:moveTo>
                  <a:lnTo>
                    <a:pt x="0" y="823965"/>
                  </a:lnTo>
                </a:path>
              </a:pathLst>
            </a:cu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695629656" name="TextBox 24"/>
          <p:cNvSpPr txBox="1"/>
          <p:nvPr/>
        </p:nvSpPr>
        <p:spPr bwMode="auto">
          <a:xfrm>
            <a:off x="6929267" y="3429000"/>
            <a:ext cx="17437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u="sng"/>
              <a:t>Monitor output:</a:t>
            </a:r>
            <a:endParaRPr/>
          </a:p>
          <a:p>
            <a:pPr>
              <a:defRPr/>
            </a:pPr>
            <a:r>
              <a:rPr lang="en-US"/>
              <a:t>x equals 0</a:t>
            </a:r>
            <a:endParaRPr/>
          </a:p>
          <a:p>
            <a:pPr>
              <a:defRPr/>
            </a:pPr>
            <a:r>
              <a:rPr lang="en-US"/>
              <a:t>x equals 1</a:t>
            </a:r>
            <a:endParaRPr/>
          </a:p>
          <a:p>
            <a:pPr>
              <a:defRPr/>
            </a:pPr>
            <a:r>
              <a:rPr lang="en-US"/>
              <a:t>x equals 2</a:t>
            </a:r>
            <a:endParaRPr/>
          </a:p>
          <a:p>
            <a:pPr>
              <a:defRPr/>
            </a:pPr>
            <a:r>
              <a:rPr lang="en-US"/>
              <a:t>	:</a:t>
            </a:r>
            <a:endParaRPr/>
          </a:p>
          <a:p>
            <a:pPr>
              <a:defRPr/>
            </a:pPr>
            <a:r>
              <a:rPr lang="en-US"/>
              <a:t>x equals 99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984423" name="Rectangle 6"/>
          <p:cNvSpPr/>
          <p:nvPr/>
        </p:nvSpPr>
        <p:spPr bwMode="auto">
          <a:xfrm>
            <a:off x="0" y="5894173"/>
            <a:ext cx="9143999" cy="9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0953786" name="Title 1"/>
          <p:cNvSpPr>
            <a:spLocks noGrp="1"/>
          </p:cNvSpPr>
          <p:nvPr>
            <p:ph type="title"/>
          </p:nvPr>
        </p:nvSpPr>
        <p:spPr bwMode="auto">
          <a:xfrm>
            <a:off x="1047047" y="-13981"/>
            <a:ext cx="6061435" cy="6397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Using a “for” statement</a:t>
            </a:r>
            <a:endParaRPr/>
          </a:p>
        </p:txBody>
      </p:sp>
      <p:sp>
        <p:nvSpPr>
          <p:cNvPr id="788848948" name="Content Placeholder 2"/>
          <p:cNvSpPr>
            <a:spLocks noGrp="1"/>
          </p:cNvSpPr>
          <p:nvPr>
            <p:ph idx="1"/>
          </p:nvPr>
        </p:nvSpPr>
        <p:spPr bwMode="auto">
          <a:xfrm>
            <a:off x="172995" y="990600"/>
            <a:ext cx="6227805" cy="5410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Repeat a task until condition met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 sz="2400">
                <a:solidFill>
                  <a:srgbClr val="FF0000"/>
                </a:solidFill>
              </a:rPr>
              <a:t>    for (</a:t>
            </a:r>
            <a:r>
              <a:rPr lang="en-US" sz="2400">
                <a:solidFill>
                  <a:srgbClr val="FF0000"/>
                </a:solidFill>
              </a:rPr>
              <a:t>int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i</a:t>
            </a:r>
            <a:r>
              <a:rPr lang="en-US" sz="2400">
                <a:solidFill>
                  <a:srgbClr val="FF0000"/>
                </a:solidFill>
              </a:rPr>
              <a:t>=2;  </a:t>
            </a:r>
            <a:r>
              <a:rPr lang="en-US" sz="2400">
                <a:solidFill>
                  <a:srgbClr val="FF0000"/>
                </a:solidFill>
              </a:rPr>
              <a:t>i</a:t>
            </a:r>
            <a:r>
              <a:rPr lang="en-US" sz="2400">
                <a:solidFill>
                  <a:srgbClr val="FF0000"/>
                </a:solidFill>
              </a:rPr>
              <a:t>&lt;8;   </a:t>
            </a:r>
            <a:r>
              <a:rPr lang="en-US" sz="2400">
                <a:solidFill>
                  <a:srgbClr val="FF0000"/>
                </a:solidFill>
              </a:rPr>
              <a:t>i</a:t>
            </a:r>
            <a:r>
              <a:rPr lang="en-US" sz="2400">
                <a:solidFill>
                  <a:srgbClr val="FF0000"/>
                </a:solidFill>
              </a:rPr>
              <a:t>++){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solidFill>
                  <a:srgbClr val="FF0000"/>
                </a:solidFill>
              </a:rPr>
              <a:t>	 </a:t>
            </a:r>
            <a:r>
              <a:rPr lang="en-US" sz="2400">
                <a:solidFill>
                  <a:srgbClr val="FF0000"/>
                </a:solidFill>
              </a:rPr>
              <a:t>pinMode</a:t>
            </a:r>
            <a:r>
              <a:rPr lang="en-US" sz="2400">
                <a:solidFill>
                  <a:srgbClr val="FF0000"/>
                </a:solidFill>
              </a:rPr>
              <a:t>(</a:t>
            </a:r>
            <a:r>
              <a:rPr lang="en-US" sz="2400">
                <a:solidFill>
                  <a:srgbClr val="FF0000"/>
                </a:solidFill>
              </a:rPr>
              <a:t>i</a:t>
            </a:r>
            <a:r>
              <a:rPr lang="en-US" sz="2400">
                <a:solidFill>
                  <a:srgbClr val="FF0000"/>
                </a:solidFill>
              </a:rPr>
              <a:t>, OUTPUT);        </a:t>
            </a:r>
            <a:r>
              <a:rPr lang="en-US" sz="2400">
                <a:solidFill>
                  <a:srgbClr val="00B050"/>
                </a:solidFill>
              </a:rPr>
              <a:t>// “task”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solidFill>
                  <a:srgbClr val="FF0000"/>
                </a:solidFill>
              </a:rPr>
              <a:t>    }</a:t>
            </a:r>
            <a:endParaRPr/>
          </a:p>
          <a:p>
            <a:pPr marL="0" indent="0">
              <a:buNone/>
              <a:defRPr/>
            </a:pPr>
            <a:r>
              <a:rPr lang="en-US"/>
              <a:t>Where ”</a:t>
            </a:r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++</a:t>
            </a:r>
            <a:r>
              <a:rPr lang="en-US"/>
              <a:t>” increments “</a:t>
            </a:r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”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00B0F0"/>
                </a:solidFill>
              </a:rPr>
              <a:t>Equivalent to:</a:t>
            </a:r>
            <a:endParaRPr/>
          </a:p>
        </p:txBody>
      </p:sp>
      <p:sp>
        <p:nvSpPr>
          <p:cNvPr id="1231885158" name="TextBox 5"/>
          <p:cNvSpPr txBox="1"/>
          <p:nvPr/>
        </p:nvSpPr>
        <p:spPr bwMode="auto">
          <a:xfrm>
            <a:off x="6917955" y="6486936"/>
            <a:ext cx="2120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accent2"/>
                </a:solidFill>
              </a:rPr>
              <a:t>“for” loop flowchart</a:t>
            </a:r>
            <a:endParaRPr/>
          </a:p>
        </p:txBody>
      </p:sp>
      <p:sp>
        <p:nvSpPr>
          <p:cNvPr id="509196182" name="TextBox 3"/>
          <p:cNvSpPr txBox="1"/>
          <p:nvPr/>
        </p:nvSpPr>
        <p:spPr bwMode="auto">
          <a:xfrm>
            <a:off x="856956" y="1625591"/>
            <a:ext cx="284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i="1"/>
              <a:t>Initialize      test    increment</a:t>
            </a:r>
            <a:endParaRPr/>
          </a:p>
        </p:txBody>
      </p:sp>
      <p:sp>
        <p:nvSpPr>
          <p:cNvPr id="1806975183" name="TextBox 7"/>
          <p:cNvSpPr txBox="1"/>
          <p:nvPr/>
        </p:nvSpPr>
        <p:spPr bwMode="auto">
          <a:xfrm>
            <a:off x="2860925" y="4583741"/>
            <a:ext cx="2433680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7030A0"/>
                </a:solidFill>
              </a:rPr>
              <a:t>pinMode</a:t>
            </a:r>
            <a:r>
              <a:rPr lang="en-US" sz="2000">
                <a:solidFill>
                  <a:srgbClr val="7030A0"/>
                </a:solidFill>
              </a:rPr>
              <a:t>(2,OUTPUT);</a:t>
            </a:r>
            <a:endParaRPr/>
          </a:p>
          <a:p>
            <a:pPr>
              <a:defRPr/>
            </a:pPr>
            <a:r>
              <a:rPr lang="en-US" sz="2000">
                <a:solidFill>
                  <a:srgbClr val="7030A0"/>
                </a:solidFill>
              </a:rPr>
              <a:t>pinMode</a:t>
            </a:r>
            <a:r>
              <a:rPr lang="en-US" sz="2000">
                <a:solidFill>
                  <a:srgbClr val="7030A0"/>
                </a:solidFill>
              </a:rPr>
              <a:t>(3,OUTPUT);</a:t>
            </a:r>
            <a:endParaRPr/>
          </a:p>
          <a:p>
            <a:pPr>
              <a:defRPr/>
            </a:pPr>
            <a:r>
              <a:rPr lang="en-US" sz="2000">
                <a:solidFill>
                  <a:srgbClr val="7030A0"/>
                </a:solidFill>
              </a:rPr>
              <a:t>pinMode</a:t>
            </a:r>
            <a:r>
              <a:rPr lang="en-US" sz="2000">
                <a:solidFill>
                  <a:srgbClr val="7030A0"/>
                </a:solidFill>
              </a:rPr>
              <a:t>(4,OUTPUT);</a:t>
            </a:r>
            <a:endParaRPr/>
          </a:p>
          <a:p>
            <a:pPr>
              <a:defRPr/>
            </a:pPr>
            <a:r>
              <a:rPr lang="en-US" sz="2000">
                <a:solidFill>
                  <a:srgbClr val="7030A0"/>
                </a:solidFill>
              </a:rPr>
              <a:t>pinMode</a:t>
            </a:r>
            <a:r>
              <a:rPr lang="en-US" sz="2000">
                <a:solidFill>
                  <a:srgbClr val="7030A0"/>
                </a:solidFill>
              </a:rPr>
              <a:t>(5,OUTPUT);</a:t>
            </a:r>
            <a:endParaRPr/>
          </a:p>
          <a:p>
            <a:pPr>
              <a:defRPr/>
            </a:pPr>
            <a:r>
              <a:rPr lang="en-US" sz="2000">
                <a:solidFill>
                  <a:srgbClr val="7030A0"/>
                </a:solidFill>
              </a:rPr>
              <a:t>pinMode</a:t>
            </a:r>
            <a:r>
              <a:rPr lang="en-US" sz="2000">
                <a:solidFill>
                  <a:srgbClr val="7030A0"/>
                </a:solidFill>
              </a:rPr>
              <a:t>(6,OUTPUT);</a:t>
            </a:r>
            <a:endParaRPr/>
          </a:p>
          <a:p>
            <a:pPr>
              <a:defRPr/>
            </a:pPr>
            <a:r>
              <a:rPr lang="en-US" sz="2000">
                <a:solidFill>
                  <a:srgbClr val="7030A0"/>
                </a:solidFill>
              </a:rPr>
              <a:t>pinMode</a:t>
            </a:r>
            <a:r>
              <a:rPr lang="en-US" sz="2000">
                <a:solidFill>
                  <a:srgbClr val="7030A0"/>
                </a:solidFill>
              </a:rPr>
              <a:t>(7,OUTPUT);</a:t>
            </a:r>
            <a:endParaRPr/>
          </a:p>
        </p:txBody>
      </p:sp>
      <p:grpSp>
        <p:nvGrpSpPr>
          <p:cNvPr id="1924128958" name="Group 11"/>
          <p:cNvGrpSpPr/>
          <p:nvPr/>
        </p:nvGrpSpPr>
        <p:grpSpPr bwMode="auto">
          <a:xfrm>
            <a:off x="6324600" y="842931"/>
            <a:ext cx="2667000" cy="5498693"/>
            <a:chOff x="6324600" y="604395"/>
            <a:chExt cx="2667000" cy="549869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3"/>
            <a:srcRect l="0" t="0" r="0" b="1987"/>
            <a:stretch/>
          </p:blipFill>
          <p:spPr bwMode="auto">
            <a:xfrm>
              <a:off x="6324600" y="604395"/>
              <a:ext cx="2667000" cy="54986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5" name="TextBox 4"/>
            <p:cNvSpPr txBox="1"/>
            <p:nvPr/>
          </p:nvSpPr>
          <p:spPr bwMode="auto">
            <a:xfrm>
              <a:off x="7757042" y="1663299"/>
              <a:ext cx="617477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/>
                <a:t>i</a:t>
              </a:r>
              <a:r>
                <a:rPr lang="en-US" sz="2000"/>
                <a:t>=2  </a:t>
              </a:r>
              <a:endParaRPr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8472150" y="3578681"/>
              <a:ext cx="243978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/>
                <a:t>i</a:t>
              </a:r>
              <a:endParaRPr lang="en-US" sz="2000"/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7719646" y="4583264"/>
              <a:ext cx="736099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/>
                <a:t> </a:t>
              </a:r>
              <a:r>
                <a:rPr lang="en-US" sz="2000"/>
                <a:t>i</a:t>
              </a:r>
              <a:r>
                <a:rPr lang="en-US" sz="2000"/>
                <a:t>&lt;8? </a:t>
              </a:r>
              <a:endParaRPr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7408985" y="4466492"/>
              <a:ext cx="1430215" cy="679939"/>
            </a:xfrm>
            <a:custGeom>
              <a:avLst/>
              <a:gdLst>
                <a:gd name="connsiteX0" fmla="*/ 0 w 1430215"/>
                <a:gd name="connsiteY0" fmla="*/ 328246 h 679939"/>
                <a:gd name="connsiteX1" fmla="*/ 679938 w 1430215"/>
                <a:gd name="connsiteY1" fmla="*/ 0 h 679939"/>
                <a:gd name="connsiteX2" fmla="*/ 1430215 w 1430215"/>
                <a:gd name="connsiteY2" fmla="*/ 351693 h 679939"/>
                <a:gd name="connsiteX3" fmla="*/ 691661 w 1430215"/>
                <a:gd name="connsiteY3" fmla="*/ 679939 h 679939"/>
                <a:gd name="connsiteX4" fmla="*/ 0 w 1430215"/>
                <a:gd name="connsiteY4" fmla="*/ 328246 h 67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0215" h="679939" fill="norm" stroke="1" extrusionOk="0">
                  <a:moveTo>
                    <a:pt x="0" y="328246"/>
                  </a:moveTo>
                  <a:lnTo>
                    <a:pt x="679938" y="0"/>
                  </a:lnTo>
                  <a:lnTo>
                    <a:pt x="1430215" y="351693"/>
                  </a:lnTo>
                  <a:lnTo>
                    <a:pt x="691661" y="679939"/>
                  </a:lnTo>
                  <a:lnTo>
                    <a:pt x="0" y="328246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671479869" name="Right Brace 12"/>
          <p:cNvSpPr/>
          <p:nvPr/>
        </p:nvSpPr>
        <p:spPr bwMode="auto">
          <a:xfrm rot="16199999">
            <a:off x="1263191" y="1700115"/>
            <a:ext cx="254524" cy="744718"/>
          </a:xfrm>
          <a:prstGeom prst="rightBrace">
            <a:avLst>
              <a:gd name="adj1" fmla="val 2685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86070365" name="Right Brace 14"/>
          <p:cNvSpPr/>
          <p:nvPr/>
        </p:nvSpPr>
        <p:spPr bwMode="auto">
          <a:xfrm rot="16199999">
            <a:off x="2121030" y="1841517"/>
            <a:ext cx="254524" cy="461914"/>
          </a:xfrm>
          <a:prstGeom prst="rightBrace">
            <a:avLst>
              <a:gd name="adj1" fmla="val 2685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755699" name="Right Brace 15"/>
          <p:cNvSpPr/>
          <p:nvPr/>
        </p:nvSpPr>
        <p:spPr bwMode="auto">
          <a:xfrm rot="16199999">
            <a:off x="2723337" y="1841517"/>
            <a:ext cx="254524" cy="461914"/>
          </a:xfrm>
          <a:prstGeom prst="rightBrace">
            <a:avLst>
              <a:gd name="adj1" fmla="val 2685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9302715" name="Rectangle 13"/>
          <p:cNvSpPr/>
          <p:nvPr/>
        </p:nvSpPr>
        <p:spPr bwMode="auto">
          <a:xfrm>
            <a:off x="172995" y="1600878"/>
            <a:ext cx="5111284" cy="1879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03578" name="Picture 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95850" y="469303"/>
            <a:ext cx="4248150" cy="48863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32487592" name="Title 1"/>
          <p:cNvSpPr>
            <a:spLocks noGrp="1"/>
          </p:cNvSpPr>
          <p:nvPr>
            <p:ph type="title"/>
          </p:nvPr>
        </p:nvSpPr>
        <p:spPr bwMode="auto">
          <a:xfrm>
            <a:off x="184930" y="681807"/>
            <a:ext cx="4895636" cy="752778"/>
          </a:xfrm>
        </p:spPr>
        <p:txBody>
          <a:bodyPr/>
          <a:lstStyle/>
          <a:p>
            <a:pPr>
              <a:defRPr/>
            </a:pPr>
            <a:r>
              <a:rPr lang="en-US"/>
              <a:t>For-loop Practice</a:t>
            </a:r>
            <a:endParaRPr/>
          </a:p>
        </p:txBody>
      </p:sp>
      <p:sp>
        <p:nvSpPr>
          <p:cNvPr id="351127383" name="Content Placeholder 2"/>
          <p:cNvSpPr>
            <a:spLocks noGrp="1"/>
          </p:cNvSpPr>
          <p:nvPr>
            <p:ph idx="1"/>
          </p:nvPr>
        </p:nvSpPr>
        <p:spPr bwMode="auto">
          <a:xfrm>
            <a:off x="29466" y="1582250"/>
            <a:ext cx="4063429" cy="4917493"/>
          </a:xfrm>
        </p:spPr>
        <p:txBody>
          <a:bodyPr/>
          <a:lstStyle/>
          <a:p>
            <a:pPr>
              <a:defRPr/>
            </a:pPr>
            <a:r>
              <a:rPr lang="en-US" sz="2400"/>
              <a:t>Open </a:t>
            </a:r>
            <a:r>
              <a:rPr lang="en-US" sz="2400">
                <a:solidFill>
                  <a:srgbClr val="FF0000"/>
                </a:solidFill>
              </a:rPr>
              <a:t>forExampleSkel.ino</a:t>
            </a:r>
            <a:endParaRPr lang="en-US"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2400"/>
              <a:t>Run it: how does it work?</a:t>
            </a:r>
            <a:endParaRPr/>
          </a:p>
          <a:p>
            <a:pPr>
              <a:defRPr/>
            </a:pPr>
            <a:r>
              <a:rPr lang="en-US" sz="2400" b="1"/>
              <a:t>Your Job:</a:t>
            </a:r>
            <a:br>
              <a:rPr lang="en-US" sz="2400" b="1"/>
            </a:br>
            <a:r>
              <a:rPr lang="en-US" sz="2400"/>
              <a:t>Add a second for-loop that blinks Right LED 10 times with a delay of 100 </a:t>
            </a:r>
            <a:r>
              <a:rPr lang="en-US" sz="2400"/>
              <a:t>ms</a:t>
            </a:r>
            <a:endParaRPr lang="en-US" sz="2400"/>
          </a:p>
        </p:txBody>
      </p:sp>
      <p:sp>
        <p:nvSpPr>
          <p:cNvPr id="507458100" name="Arrow: Right 8"/>
          <p:cNvSpPr/>
          <p:nvPr/>
        </p:nvSpPr>
        <p:spPr bwMode="auto">
          <a:xfrm>
            <a:off x="3112321" y="4248722"/>
            <a:ext cx="1961148" cy="110690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Add Code Here</a:t>
            </a:r>
            <a:endParaRPr/>
          </a:p>
        </p:txBody>
      </p:sp>
      <p:sp>
        <p:nvSpPr>
          <p:cNvPr id="884599737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648082344" name="TextBox 7"/>
          <p:cNvSpPr txBox="1"/>
          <p:nvPr/>
        </p:nvSpPr>
        <p:spPr bwMode="auto">
          <a:xfrm>
            <a:off x="2750035" y="6276847"/>
            <a:ext cx="4602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Solution in </a:t>
            </a:r>
            <a:r>
              <a:rPr lang="en-US"/>
              <a:t>forExample.ino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228065" name="Title 3"/>
          <p:cNvSpPr>
            <a:spLocks noGrp="1"/>
          </p:cNvSpPr>
          <p:nvPr>
            <p:ph type="ctrTitle"/>
          </p:nvPr>
        </p:nvSpPr>
        <p:spPr bwMode="auto">
          <a:xfrm>
            <a:off x="685800" y="16732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Analog Inputs</a:t>
            </a:r>
            <a:endParaRPr/>
          </a:p>
        </p:txBody>
      </p:sp>
      <p:sp>
        <p:nvSpPr>
          <p:cNvPr id="171830192" name="Subtitle 4"/>
          <p:cNvSpPr>
            <a:spLocks noGrp="1"/>
          </p:cNvSpPr>
          <p:nvPr>
            <p:ph type="subTitle" idx="1"/>
          </p:nvPr>
        </p:nvSpPr>
        <p:spPr bwMode="auto">
          <a:xfrm>
            <a:off x="1371600" y="3143250"/>
            <a:ext cx="6400800" cy="225171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Analog-to-Digital Converters</a:t>
            </a:r>
            <a:endParaRPr/>
          </a:p>
          <a:p>
            <a:pPr>
              <a:defRPr/>
            </a:pPr>
            <a:r>
              <a:rPr lang="en-US"/>
              <a:t>Potentiometers (“Pots”)</a:t>
            </a:r>
            <a:endParaRPr/>
          </a:p>
          <a:p>
            <a:pPr>
              <a:defRPr/>
            </a:pPr>
            <a:r>
              <a:rPr lang="en-US"/>
              <a:t>Serial Plotter</a:t>
            </a:r>
            <a:endParaRPr/>
          </a:p>
          <a:p>
            <a:pPr>
              <a:defRPr/>
            </a:pPr>
            <a:r>
              <a:rPr lang="en-US"/>
              <a:t>Pulse Width Modulation (PWM)</a:t>
            </a:r>
            <a:endParaRPr/>
          </a:p>
          <a:p>
            <a:pPr>
              <a:defRPr/>
            </a:pPr>
            <a:r>
              <a:rPr lang="en-US"/>
              <a:t>RGB LED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984026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Questions</a:t>
            </a:r>
            <a:endParaRPr/>
          </a:p>
        </p:txBody>
      </p:sp>
      <p:sp>
        <p:nvSpPr>
          <p:cNvPr id="1671919408" name="Text Placeholder 3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When people talk about “</a:t>
            </a:r>
            <a:r>
              <a:rPr lang="en-US">
                <a:solidFill>
                  <a:srgbClr val="FF0000"/>
                </a:solidFill>
              </a:rPr>
              <a:t>analog</a:t>
            </a:r>
            <a:r>
              <a:rPr lang="en-US"/>
              <a:t>”  </a:t>
            </a:r>
            <a:br>
              <a:rPr lang="en-US"/>
            </a:br>
            <a:r>
              <a:rPr lang="en-US"/>
              <a:t>What does that mean?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When people talk about “</a:t>
            </a:r>
            <a:r>
              <a:rPr lang="en-US">
                <a:solidFill>
                  <a:srgbClr val="00B050"/>
                </a:solidFill>
              </a:rPr>
              <a:t>digital</a:t>
            </a:r>
            <a:r>
              <a:rPr lang="en-US"/>
              <a:t>”  </a:t>
            </a:r>
            <a:br>
              <a:rPr lang="en-US"/>
            </a:br>
            <a:r>
              <a:rPr lang="en-US"/>
              <a:t>What does that mean?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729483" name="Google Shape;387;p5"/>
          <p:cNvSpPr txBox="1">
            <a:spLocks noGrp="1"/>
          </p:cNvSpPr>
          <p:nvPr>
            <p:ph type="title"/>
          </p:nvPr>
        </p:nvSpPr>
        <p:spPr bwMode="auto">
          <a:xfrm>
            <a:off x="457200" y="142290"/>
            <a:ext cx="8229600" cy="78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 b="1"/>
              <a:t>Analog and Digital Signals</a:t>
            </a:r>
            <a:endParaRPr/>
          </a:p>
        </p:txBody>
      </p:sp>
      <p:sp>
        <p:nvSpPr>
          <p:cNvPr id="1002662367" name="Google Shape;388;p5"/>
          <p:cNvSpPr txBox="1">
            <a:spLocks noGrp="1"/>
          </p:cNvSpPr>
          <p:nvPr>
            <p:ph type="body" idx="1"/>
          </p:nvPr>
        </p:nvSpPr>
        <p:spPr bwMode="auto">
          <a:xfrm>
            <a:off x="457200" y="1613042"/>
            <a:ext cx="8229600" cy="418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b="1"/>
              <a:t>Digital</a:t>
            </a:r>
            <a:r>
              <a:rPr lang="en-US"/>
              <a:t> signals are 0V (“LOW”) or +5V (“HIGH”)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b="1"/>
              <a:t>Analog</a:t>
            </a:r>
            <a:r>
              <a:rPr lang="en-US"/>
              <a:t> signals vary continuously between 0 and 5V</a:t>
            </a:r>
            <a:endParaRPr/>
          </a:p>
        </p:txBody>
      </p:sp>
      <p:sp>
        <p:nvSpPr>
          <p:cNvPr id="1893265203" name="Google Shape;389;p5"/>
          <p:cNvSpPr/>
          <p:nvPr/>
        </p:nvSpPr>
        <p:spPr bwMode="auto">
          <a:xfrm>
            <a:off x="1718135" y="4299228"/>
            <a:ext cx="2301766" cy="1303282"/>
          </a:xfrm>
          <a:custGeom>
            <a:avLst/>
            <a:gdLst/>
            <a:ahLst/>
            <a:cxnLst/>
            <a:rect l="l" t="t" r="r" b="b"/>
            <a:pathLst>
              <a:path w="2301766" h="1303282" fill="norm" stroke="1" extrusionOk="0">
                <a:moveTo>
                  <a:pt x="0" y="0"/>
                </a:moveTo>
                <a:lnTo>
                  <a:pt x="0" y="1303282"/>
                </a:lnTo>
                <a:lnTo>
                  <a:pt x="2301766" y="1303282"/>
                </a:lnTo>
              </a:path>
            </a:pathLst>
          </a:cu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0943385" name="Google Shape;390;p5"/>
          <p:cNvSpPr/>
          <p:nvPr/>
        </p:nvSpPr>
        <p:spPr bwMode="auto">
          <a:xfrm>
            <a:off x="1718135" y="4766938"/>
            <a:ext cx="428297" cy="83557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5174" name="Google Shape;391;p5"/>
          <p:cNvSpPr/>
          <p:nvPr/>
        </p:nvSpPr>
        <p:spPr bwMode="auto">
          <a:xfrm>
            <a:off x="2603632" y="4766938"/>
            <a:ext cx="838200" cy="83557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9130120" name="Google Shape;392;p5"/>
          <p:cNvSpPr txBox="1"/>
          <p:nvPr/>
        </p:nvSpPr>
        <p:spPr bwMode="auto">
          <a:xfrm>
            <a:off x="1179900" y="4614538"/>
            <a:ext cx="4331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5V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44173481" name="Google Shape;393;p5"/>
          <p:cNvSpPr txBox="1"/>
          <p:nvPr/>
        </p:nvSpPr>
        <p:spPr bwMode="auto">
          <a:xfrm>
            <a:off x="1179900" y="5388206"/>
            <a:ext cx="4331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0V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19651686" name="Google Shape;394;p5"/>
          <p:cNvSpPr/>
          <p:nvPr/>
        </p:nvSpPr>
        <p:spPr bwMode="auto">
          <a:xfrm>
            <a:off x="5575432" y="4299228"/>
            <a:ext cx="2301766" cy="1303282"/>
          </a:xfrm>
          <a:custGeom>
            <a:avLst/>
            <a:gdLst/>
            <a:ahLst/>
            <a:cxnLst/>
            <a:rect l="l" t="t" r="r" b="b"/>
            <a:pathLst>
              <a:path w="2301766" h="1303282" fill="norm" stroke="1" extrusionOk="0">
                <a:moveTo>
                  <a:pt x="0" y="0"/>
                </a:moveTo>
                <a:lnTo>
                  <a:pt x="0" y="1303282"/>
                </a:lnTo>
                <a:lnTo>
                  <a:pt x="2301766" y="1303282"/>
                </a:lnTo>
              </a:path>
            </a:pathLst>
          </a:cu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484758" name="Google Shape;395;p5"/>
          <p:cNvSpPr txBox="1"/>
          <p:nvPr/>
        </p:nvSpPr>
        <p:spPr bwMode="auto">
          <a:xfrm>
            <a:off x="5037197" y="4614538"/>
            <a:ext cx="4331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5V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60793838" name="Google Shape;396;p5"/>
          <p:cNvSpPr txBox="1"/>
          <p:nvPr/>
        </p:nvSpPr>
        <p:spPr bwMode="auto">
          <a:xfrm>
            <a:off x="5037197" y="5388206"/>
            <a:ext cx="4331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0V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73616921" name="Google Shape;397;p5"/>
          <p:cNvSpPr txBox="1"/>
          <p:nvPr/>
        </p:nvSpPr>
        <p:spPr bwMode="auto">
          <a:xfrm>
            <a:off x="3213232" y="5605138"/>
            <a:ext cx="614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time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59277923" name="Google Shape;398;p5"/>
          <p:cNvSpPr txBox="1"/>
          <p:nvPr/>
        </p:nvSpPr>
        <p:spPr bwMode="auto">
          <a:xfrm>
            <a:off x="7570062" y="5605138"/>
            <a:ext cx="614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time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49942048" name="Google Shape;399;p5"/>
          <p:cNvSpPr/>
          <p:nvPr/>
        </p:nvSpPr>
        <p:spPr bwMode="auto">
          <a:xfrm>
            <a:off x="5575432" y="4884762"/>
            <a:ext cx="1975945" cy="604658"/>
          </a:xfrm>
          <a:custGeom>
            <a:avLst/>
            <a:gdLst/>
            <a:ahLst/>
            <a:cxnLst/>
            <a:rect l="l" t="t" r="r" b="b"/>
            <a:pathLst>
              <a:path w="1975945" h="604658" fill="norm" stroke="1" extrusionOk="0">
                <a:moveTo>
                  <a:pt x="0" y="444479"/>
                </a:moveTo>
                <a:cubicBezTo>
                  <a:pt x="103352" y="528562"/>
                  <a:pt x="206704" y="612645"/>
                  <a:pt x="294290" y="539073"/>
                </a:cubicBezTo>
                <a:cubicBezTo>
                  <a:pt x="381876" y="465501"/>
                  <a:pt x="434427" y="41583"/>
                  <a:pt x="525517" y="3045"/>
                </a:cubicBezTo>
                <a:cubicBezTo>
                  <a:pt x="616607" y="-35493"/>
                  <a:pt x="746235" y="304342"/>
                  <a:pt x="840828" y="307845"/>
                </a:cubicBezTo>
                <a:cubicBezTo>
                  <a:pt x="935421" y="311348"/>
                  <a:pt x="961697" y="-14472"/>
                  <a:pt x="1093076" y="24066"/>
                </a:cubicBezTo>
                <a:cubicBezTo>
                  <a:pt x="1224455" y="62604"/>
                  <a:pt x="1481958" y="446232"/>
                  <a:pt x="1629103" y="539073"/>
                </a:cubicBezTo>
                <a:cubicBezTo>
                  <a:pt x="1776248" y="631914"/>
                  <a:pt x="1876096" y="606514"/>
                  <a:pt x="1975945" y="581114"/>
                </a:cubicBezTo>
              </a:path>
            </a:pathLst>
          </a:cu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3366321" name="Google Shape;400;p5"/>
          <p:cNvSpPr txBox="1"/>
          <p:nvPr/>
        </p:nvSpPr>
        <p:spPr bwMode="auto">
          <a:xfrm>
            <a:off x="2298832" y="4157338"/>
            <a:ext cx="9487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digital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72759159" name="Google Shape;401;p5"/>
          <p:cNvSpPr txBox="1"/>
          <p:nvPr/>
        </p:nvSpPr>
        <p:spPr bwMode="auto">
          <a:xfrm>
            <a:off x="6089043" y="4157338"/>
            <a:ext cx="101822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analog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31740903" name="Google Shape;402;p5"/>
          <p:cNvSpPr txBox="1"/>
          <p:nvPr/>
        </p:nvSpPr>
        <p:spPr bwMode="auto">
          <a:xfrm rot="-5400000">
            <a:off x="536817" y="5002423"/>
            <a:ext cx="868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voltage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68536703" name="Google Shape;403;p5"/>
          <p:cNvSpPr txBox="1"/>
          <p:nvPr/>
        </p:nvSpPr>
        <p:spPr bwMode="auto">
          <a:xfrm rot="-5400000">
            <a:off x="4439447" y="5002425"/>
            <a:ext cx="868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voltage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82928180" name="Google Shape;404;p5"/>
          <p:cNvSpPr/>
          <p:nvPr/>
        </p:nvSpPr>
        <p:spPr bwMode="auto">
          <a:xfrm rot="-5400000">
            <a:off x="2671227" y="2747358"/>
            <a:ext cx="395581" cy="2406869"/>
          </a:xfrm>
          <a:prstGeom prst="rightBrace">
            <a:avLst>
              <a:gd name="adj1" fmla="val 26582"/>
              <a:gd name="adj2" fmla="val 48500"/>
            </a:avLst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1140023" name="Google Shape;405;p5"/>
          <p:cNvSpPr txBox="1"/>
          <p:nvPr/>
        </p:nvSpPr>
        <p:spPr bwMode="auto">
          <a:xfrm>
            <a:off x="1396466" y="3291337"/>
            <a:ext cx="29348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Where computers live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32964974" name="Google Shape;406;p5"/>
          <p:cNvSpPr/>
          <p:nvPr/>
        </p:nvSpPr>
        <p:spPr bwMode="auto">
          <a:xfrm rot="-5400000">
            <a:off x="6488466" y="2747358"/>
            <a:ext cx="395581" cy="2406869"/>
          </a:xfrm>
          <a:prstGeom prst="rightBrace">
            <a:avLst>
              <a:gd name="adj1" fmla="val 26582"/>
              <a:gd name="adj2" fmla="val 48500"/>
            </a:avLst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8438037" name="Google Shape;407;p5"/>
          <p:cNvSpPr txBox="1"/>
          <p:nvPr/>
        </p:nvSpPr>
        <p:spPr bwMode="auto">
          <a:xfrm>
            <a:off x="5394721" y="3291337"/>
            <a:ext cx="25997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Where humans live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35584679" name="TextBox 1"/>
          <p:cNvSpPr txBox="1"/>
          <p:nvPr/>
        </p:nvSpPr>
        <p:spPr bwMode="auto">
          <a:xfrm>
            <a:off x="1821400" y="6258149"/>
            <a:ext cx="4732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6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Arial"/>
                <a:cs typeface="Arial"/>
              </a:rPr>
              <a:t>How can we communicate between these worlds?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489831" name="Google Shape;413;p6"/>
          <p:cNvSpPr txBox="1">
            <a:spLocks noGrp="1"/>
          </p:cNvSpPr>
          <p:nvPr>
            <p:ph type="title"/>
          </p:nvPr>
        </p:nvSpPr>
        <p:spPr bwMode="auto">
          <a:xfrm>
            <a:off x="457200" y="170134"/>
            <a:ext cx="8229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/>
              <a:t>Analog-to-Digital Converter</a:t>
            </a:r>
            <a:br>
              <a:rPr lang="en-US"/>
            </a:br>
            <a:r>
              <a:rPr lang="en-US"/>
              <a:t>“ADC”</a:t>
            </a:r>
            <a:endParaRPr/>
          </a:p>
        </p:txBody>
      </p:sp>
      <p:sp>
        <p:nvSpPr>
          <p:cNvPr id="218611957" name="Google Shape;414;p6"/>
          <p:cNvSpPr txBox="1">
            <a:spLocks noGrp="1"/>
          </p:cNvSpPr>
          <p:nvPr>
            <p:ph type="body" idx="1"/>
          </p:nvPr>
        </p:nvSpPr>
        <p:spPr bwMode="auto">
          <a:xfrm>
            <a:off x="180474" y="1179096"/>
            <a:ext cx="8746958" cy="477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3200"/>
              <a:buNone/>
              <a:defRPr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None/>
              <a:defRPr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None/>
              <a:defRPr/>
            </a:pPr>
            <a:endParaRPr/>
          </a:p>
        </p:txBody>
      </p:sp>
      <p:pic>
        <p:nvPicPr>
          <p:cNvPr id="671497512" name="Google Shape;415;p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564593" y="1819953"/>
            <a:ext cx="3053692" cy="221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297224" name="Google Shape;416;p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410831" y="1775711"/>
            <a:ext cx="2522292" cy="2118168"/>
          </a:xfrm>
          <a:prstGeom prst="rect">
            <a:avLst/>
          </a:prstGeom>
          <a:noFill/>
          <a:ln>
            <a:noFill/>
          </a:ln>
        </p:spPr>
      </p:pic>
      <p:sp>
        <p:nvSpPr>
          <p:cNvPr id="53381914" name="Google Shape;417;p6"/>
          <p:cNvSpPr txBox="1"/>
          <p:nvPr/>
        </p:nvSpPr>
        <p:spPr bwMode="auto">
          <a:xfrm>
            <a:off x="180474" y="4847013"/>
            <a:ext cx="8944303" cy="11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3200"/>
              <a:buFont typeface="Arial"/>
              <a:buChar char="•"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rgbClr val="4F6128"/>
                </a:solidFill>
                <a:latin typeface="Calibri"/>
                <a:ea typeface="Calibri"/>
                <a:cs typeface="Calibri"/>
              </a:rPr>
              <a:t>Analog voltage is measured at Arduino input pin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  <a:p>
            <a:pPr marL="342900" marR="0" lvl="0" indent="-342900" algn="l" defTabSz="9144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Font typeface="Arial"/>
              <a:buChar char="•"/>
              <a:defRPr/>
            </a:pPr>
            <a:r>
              <a:rPr lang="en-US" sz="3200" b="0" i="0" u="none" strike="noStrike" cap="none" spc="0">
                <a:ln>
                  <a:noFill/>
                </a:ln>
                <a:solidFill>
                  <a:srgbClr val="4F6128"/>
                </a:solidFill>
                <a:latin typeface="Calibri"/>
                <a:ea typeface="Calibri"/>
                <a:cs typeface="Calibri"/>
              </a:rPr>
              <a:t>Converted to Digital value used in Arduino sketch</a:t>
            </a:r>
            <a:endParaRPr sz="3200" b="0" i="0" u="none" strike="noStrike" cap="none" spc="0">
              <a:ln>
                <a:noFill/>
              </a:ln>
              <a:solidFill>
                <a:srgbClr val="4F6128"/>
              </a:solidFill>
              <a:latin typeface="Calibri"/>
              <a:ea typeface="Calibri"/>
              <a:cs typeface="Calibri"/>
            </a:endParaRPr>
          </a:p>
          <a:p>
            <a:pPr marL="342900" marR="0" lvl="0" indent="-139700" algn="l" defTabSz="9144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Font typeface="Arial"/>
              <a:buNone/>
              <a:defRPr/>
            </a:pPr>
            <a:endParaRPr sz="3200" b="0" i="0" u="none" strike="noStrike" cap="none" spc="0">
              <a:ln>
                <a:noFill/>
              </a:ln>
              <a:solidFill>
                <a:srgbClr val="4F612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1650033" name="Google Shape;418;p6"/>
          <p:cNvSpPr txBox="1"/>
          <p:nvPr/>
        </p:nvSpPr>
        <p:spPr bwMode="auto">
          <a:xfrm>
            <a:off x="917838" y="3873613"/>
            <a:ext cx="1917725" cy="103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2-bit ADC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1" u="none" strike="noStrike" cap="none" spc="0">
                <a:ln>
                  <a:noFill/>
                </a:ln>
                <a:solidFill>
                  <a:srgbClr val="00B050"/>
                </a:solidFill>
                <a:latin typeface="Calibri"/>
                <a:cs typeface="Calibri"/>
              </a:rPr>
              <a:t>2</a:t>
            </a:r>
            <a:r>
              <a:rPr lang="en-US" sz="2400" b="0" i="1" u="none" strike="noStrike" cap="none" spc="0" baseline="30000">
                <a:ln>
                  <a:noFill/>
                </a:ln>
                <a:solidFill>
                  <a:srgbClr val="00B050"/>
                </a:solidFill>
                <a:latin typeface="Calibri"/>
                <a:cs typeface="Calibri"/>
              </a:rPr>
              <a:t>2</a:t>
            </a:r>
            <a:r>
              <a:rPr lang="en-US" sz="2400" b="0" i="1" u="none" strike="noStrike" cap="none" spc="0">
                <a:ln>
                  <a:noFill/>
                </a:ln>
                <a:solidFill>
                  <a:srgbClr val="00B050"/>
                </a:solidFill>
                <a:latin typeface="Calibri"/>
                <a:cs typeface="Calibri"/>
              </a:rPr>
              <a:t> = 4 values</a:t>
            </a:r>
            <a:endParaRPr lang="en-US" sz="1200" b="0" i="1" u="none" strike="noStrike" cap="none" spc="0">
              <a:ln>
                <a:noFill/>
              </a:ln>
              <a:solidFill>
                <a:srgbClr val="00B050"/>
              </a:solidFill>
              <a:latin typeface="Arial"/>
              <a:cs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lang="en-US" sz="900" b="0" i="1" u="none" strike="noStrike" cap="none" spc="0">
              <a:ln>
                <a:noFill/>
              </a:ln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1427136913" name="Google Shape;419;p6"/>
          <p:cNvSpPr txBox="1"/>
          <p:nvPr/>
        </p:nvSpPr>
        <p:spPr bwMode="auto">
          <a:xfrm>
            <a:off x="5886344" y="3808182"/>
            <a:ext cx="2121397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3-bit ADC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1" u="none" strike="noStrike" cap="none" spc="0">
                <a:ln>
                  <a:noFill/>
                </a:ln>
                <a:solidFill>
                  <a:srgbClr val="00B050"/>
                </a:solidFill>
                <a:latin typeface="Calibri"/>
                <a:cs typeface="Calibri"/>
              </a:rPr>
              <a:t>2</a:t>
            </a:r>
            <a:r>
              <a:rPr lang="en-US" sz="2400" b="0" i="1" u="none" strike="noStrike" cap="none" spc="0" baseline="30000">
                <a:ln>
                  <a:noFill/>
                </a:ln>
                <a:solidFill>
                  <a:srgbClr val="00B050"/>
                </a:solidFill>
                <a:latin typeface="Calibri"/>
                <a:cs typeface="Calibri"/>
              </a:rPr>
              <a:t>3</a:t>
            </a:r>
            <a:r>
              <a:rPr lang="en-US" sz="2400" b="0" i="1" u="none" strike="noStrike" cap="none" spc="0">
                <a:ln>
                  <a:noFill/>
                </a:ln>
                <a:solidFill>
                  <a:srgbClr val="00B050"/>
                </a:solidFill>
                <a:latin typeface="Calibri"/>
                <a:cs typeface="Calibri"/>
              </a:rPr>
              <a:t> = 8 values</a:t>
            </a:r>
            <a:endParaRPr sz="1200" b="0" i="1" u="none" strike="noStrike" cap="none" spc="0">
              <a:ln>
                <a:noFill/>
              </a:ln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513404561" name="Google Shape;420;p6"/>
          <p:cNvSpPr txBox="1"/>
          <p:nvPr/>
        </p:nvSpPr>
        <p:spPr bwMode="auto">
          <a:xfrm>
            <a:off x="3605909" y="3432214"/>
            <a:ext cx="892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Zero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97935290" name="Google Shape;421;p6"/>
          <p:cNvSpPr txBox="1"/>
          <p:nvPr/>
        </p:nvSpPr>
        <p:spPr bwMode="auto">
          <a:xfrm>
            <a:off x="3618285" y="2958772"/>
            <a:ext cx="70403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91121154" name="Google Shape;422;p6"/>
          <p:cNvSpPr txBox="1"/>
          <p:nvPr/>
        </p:nvSpPr>
        <p:spPr bwMode="auto">
          <a:xfrm>
            <a:off x="3618285" y="2485329"/>
            <a:ext cx="87982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Ten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81735694" name="Google Shape;423;p6"/>
          <p:cNvSpPr txBox="1"/>
          <p:nvPr/>
        </p:nvSpPr>
        <p:spPr bwMode="auto">
          <a:xfrm>
            <a:off x="3618285" y="2011886"/>
            <a:ext cx="101053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Eleven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519280577" name="Google Shape;424;p6"/>
          <p:cNvGrpSpPr/>
          <p:nvPr/>
        </p:nvGrpSpPr>
        <p:grpSpPr bwMode="auto">
          <a:xfrm>
            <a:off x="8136494" y="1746256"/>
            <a:ext cx="276038" cy="2088441"/>
            <a:chOff x="8136494" y="1746256"/>
            <a:chExt cx="276038" cy="2088441"/>
          </a:xfrm>
        </p:grpSpPr>
        <p:sp>
          <p:nvSpPr>
            <p:cNvPr id="425" name="Google Shape;425;p6"/>
            <p:cNvSpPr txBox="1"/>
            <p:nvPr/>
          </p:nvSpPr>
          <p:spPr bwMode="auto">
            <a:xfrm>
              <a:off x="8136494" y="3526920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0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26" name="Google Shape;426;p6"/>
            <p:cNvSpPr txBox="1"/>
            <p:nvPr/>
          </p:nvSpPr>
          <p:spPr bwMode="auto">
            <a:xfrm>
              <a:off x="8136494" y="3272542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1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27" name="Google Shape;427;p6"/>
            <p:cNvSpPr txBox="1"/>
            <p:nvPr/>
          </p:nvSpPr>
          <p:spPr bwMode="auto">
            <a:xfrm>
              <a:off x="8136494" y="3018161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2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28" name="Google Shape;428;p6"/>
            <p:cNvSpPr txBox="1"/>
            <p:nvPr/>
          </p:nvSpPr>
          <p:spPr bwMode="auto">
            <a:xfrm>
              <a:off x="8136494" y="2763780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3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29" name="Google Shape;429;p6"/>
            <p:cNvSpPr txBox="1"/>
            <p:nvPr/>
          </p:nvSpPr>
          <p:spPr bwMode="auto">
            <a:xfrm>
              <a:off x="8136494" y="2509399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4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30" name="Google Shape;430;p6"/>
            <p:cNvSpPr txBox="1"/>
            <p:nvPr/>
          </p:nvSpPr>
          <p:spPr bwMode="auto">
            <a:xfrm>
              <a:off x="8136494" y="2255018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5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31" name="Google Shape;431;p6"/>
            <p:cNvSpPr txBox="1"/>
            <p:nvPr/>
          </p:nvSpPr>
          <p:spPr bwMode="auto">
            <a:xfrm>
              <a:off x="8136494" y="200063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6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32" name="Google Shape;432;p6"/>
            <p:cNvSpPr txBox="1"/>
            <p:nvPr/>
          </p:nvSpPr>
          <p:spPr bwMode="auto">
            <a:xfrm>
              <a:off x="8136494" y="1746256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r>
                <a:rPr lang="en-US" sz="14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7</a:t>
              </a:r>
              <a:endPara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683622804" name="Google Shape;433;p6"/>
          <p:cNvSpPr txBox="1"/>
          <p:nvPr/>
        </p:nvSpPr>
        <p:spPr bwMode="auto">
          <a:xfrm>
            <a:off x="7230413" y="1454268"/>
            <a:ext cx="7773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binary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42981053" name="Google Shape;434;p6"/>
          <p:cNvSpPr txBox="1"/>
          <p:nvPr/>
        </p:nvSpPr>
        <p:spPr bwMode="auto">
          <a:xfrm>
            <a:off x="7934717" y="1454268"/>
            <a:ext cx="9204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decimal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99536741" name="TextBox 1"/>
          <p:cNvSpPr txBox="1"/>
          <p:nvPr/>
        </p:nvSpPr>
        <p:spPr bwMode="auto">
          <a:xfrm>
            <a:off x="457201" y="1293091"/>
            <a:ext cx="210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Arial"/>
                <a:cs typeface="Arial"/>
              </a:rPr>
              <a:t>Some arbitrary analog signal like speech</a:t>
            </a:r>
            <a:endParaRPr/>
          </a:p>
        </p:txBody>
      </p:sp>
      <p:sp>
        <p:nvSpPr>
          <p:cNvPr id="1793545946" name="Freeform: Shape 2"/>
          <p:cNvSpPr/>
          <p:nvPr/>
        </p:nvSpPr>
        <p:spPr bwMode="auto">
          <a:xfrm>
            <a:off x="1533236" y="1671782"/>
            <a:ext cx="1018002" cy="701963"/>
          </a:xfrm>
          <a:custGeom>
            <a:avLst/>
            <a:gdLst>
              <a:gd name="connsiteX0" fmla="*/ 729673 w 1018002"/>
              <a:gd name="connsiteY0" fmla="*/ 0 h 701963"/>
              <a:gd name="connsiteX1" fmla="*/ 979055 w 1018002"/>
              <a:gd name="connsiteY1" fmla="*/ 166254 h 701963"/>
              <a:gd name="connsiteX2" fmla="*/ 0 w 1018002"/>
              <a:gd name="connsiteY2" fmla="*/ 701963 h 701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8002" h="701963" fill="norm" stroke="1" extrusionOk="0">
                <a:moveTo>
                  <a:pt x="729673" y="0"/>
                </a:moveTo>
                <a:cubicBezTo>
                  <a:pt x="915170" y="24630"/>
                  <a:pt x="1100667" y="49260"/>
                  <a:pt x="979055" y="166254"/>
                </a:cubicBezTo>
                <a:cubicBezTo>
                  <a:pt x="857443" y="283248"/>
                  <a:pt x="428721" y="492605"/>
                  <a:pt x="0" y="70196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36264201" name="Google Shape;433;p6"/>
          <p:cNvSpPr txBox="1"/>
          <p:nvPr/>
        </p:nvSpPr>
        <p:spPr bwMode="auto">
          <a:xfrm>
            <a:off x="3302454" y="1684701"/>
            <a:ext cx="7773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binary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5673061" name="TextBox 3"/>
          <p:cNvSpPr txBox="1"/>
          <p:nvPr/>
        </p:nvSpPr>
        <p:spPr bwMode="auto">
          <a:xfrm>
            <a:off x="286327" y="6292936"/>
            <a:ext cx="7154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Arial"/>
                <a:cs typeface="Arial"/>
              </a:rPr>
              <a:t>Quiz question: would you rather have 100 (binary) doughnuts or 6 (decimal) doughnuts?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062582" name="Title 1"/>
          <p:cNvSpPr>
            <a:spLocks noGrp="1"/>
          </p:cNvSpPr>
          <p:nvPr>
            <p:ph type="title"/>
          </p:nvPr>
        </p:nvSpPr>
        <p:spPr bwMode="auto">
          <a:xfrm>
            <a:off x="457200" y="170122"/>
            <a:ext cx="8229600" cy="753442"/>
          </a:xfrm>
        </p:spPr>
        <p:txBody>
          <a:bodyPr/>
          <a:lstStyle/>
          <a:p>
            <a:pPr>
              <a:defRPr/>
            </a:pPr>
            <a:r>
              <a:rPr lang="en-US" b="1"/>
              <a:t>Analog Inputs</a:t>
            </a:r>
            <a:endParaRPr/>
          </a:p>
        </p:txBody>
      </p:sp>
      <p:sp>
        <p:nvSpPr>
          <p:cNvPr id="1754935467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923563"/>
            <a:ext cx="8229600" cy="3779065"/>
          </a:xfrm>
        </p:spPr>
        <p:txBody>
          <a:bodyPr/>
          <a:lstStyle/>
          <a:p>
            <a:pPr>
              <a:defRPr/>
            </a:pPr>
            <a:r>
              <a:rPr lang="en-US" sz="2800"/>
              <a:t>Arduino Uno has six ADC input pins</a:t>
            </a:r>
            <a:endParaRPr/>
          </a:p>
          <a:p>
            <a:pPr lvl="1">
              <a:defRPr/>
            </a:pPr>
            <a:r>
              <a:rPr lang="en-US" sz="2400"/>
              <a:t>A0, A1, A2, A3, A4, and A5</a:t>
            </a:r>
            <a:endParaRPr/>
          </a:p>
          <a:p>
            <a:pPr lvl="1">
              <a:defRPr/>
            </a:pPr>
            <a:r>
              <a:rPr lang="en-US" sz="2400"/>
              <a:t>These can also be used as digital input/outputs</a:t>
            </a:r>
            <a:endParaRPr/>
          </a:p>
          <a:p>
            <a:pPr>
              <a:defRPr/>
            </a:pPr>
            <a:r>
              <a:rPr lang="en-US" sz="2800"/>
              <a:t>Input voltages between 0 and 5 volts</a:t>
            </a:r>
            <a:endParaRPr/>
          </a:p>
          <a:p>
            <a:pPr>
              <a:defRPr/>
            </a:pPr>
            <a:r>
              <a:rPr lang="en-US" sz="2800"/>
              <a:t>ADC value is 10 bit integer </a:t>
            </a:r>
            <a:endParaRPr/>
          </a:p>
          <a:p>
            <a:pPr lvl="1">
              <a:defRPr/>
            </a:pPr>
            <a:r>
              <a:rPr lang="en-US" sz="2400"/>
              <a:t>There are 2</a:t>
            </a:r>
            <a:r>
              <a:rPr lang="en-US" sz="2400" baseline="30000"/>
              <a:t>10</a:t>
            </a:r>
            <a:r>
              <a:rPr lang="en-US" sz="2400"/>
              <a:t> = 1024 possible integer values</a:t>
            </a:r>
            <a:endParaRPr/>
          </a:p>
          <a:p>
            <a:pPr lvl="1">
              <a:defRPr/>
            </a:pPr>
            <a:r>
              <a:rPr lang="en-US" sz="2400"/>
              <a:t>Values range from 0 to 1023</a:t>
            </a:r>
            <a:endParaRPr/>
          </a:p>
        </p:txBody>
      </p:sp>
      <p:pic>
        <p:nvPicPr>
          <p:cNvPr id="563825401" name="Picture 2"/>
          <p:cNvPicPr>
            <a:picLocks noChangeAspect="1" noChangeArrowheads="1"/>
          </p:cNvPicPr>
          <p:nvPr/>
        </p:nvPicPr>
        <p:blipFill rotWithShape="1">
          <a:blip r:embed="rId3"/>
          <a:srcRect l="24982" t="59759" r="0" b="0"/>
          <a:stretch/>
        </p:blipFill>
        <p:spPr bwMode="auto">
          <a:xfrm>
            <a:off x="1107093" y="4635255"/>
            <a:ext cx="5337899" cy="202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2468797" name="Oval 6"/>
          <p:cNvSpPr/>
          <p:nvPr/>
        </p:nvSpPr>
        <p:spPr bwMode="auto">
          <a:xfrm>
            <a:off x="4328235" y="5775123"/>
            <a:ext cx="1982056" cy="629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20729" name="Google Shape;447;p8"/>
          <p:cNvSpPr txBox="1">
            <a:spLocks noGrp="1"/>
          </p:cNvSpPr>
          <p:nvPr>
            <p:ph type="title"/>
          </p:nvPr>
        </p:nvSpPr>
        <p:spPr bwMode="auto">
          <a:xfrm>
            <a:off x="457200" y="142290"/>
            <a:ext cx="8229600" cy="78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/>
              <a:t>Potentiometer (“Pot”)</a:t>
            </a:r>
            <a:endParaRPr/>
          </a:p>
        </p:txBody>
      </p:sp>
      <p:sp>
        <p:nvSpPr>
          <p:cNvPr id="1081763198" name="Google Shape;448;p8"/>
          <p:cNvSpPr txBox="1">
            <a:spLocks noGrp="1"/>
          </p:cNvSpPr>
          <p:nvPr>
            <p:ph type="body" idx="1"/>
          </p:nvPr>
        </p:nvSpPr>
        <p:spPr bwMode="auto">
          <a:xfrm>
            <a:off x="180474" y="1179096"/>
            <a:ext cx="8746958" cy="292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  <a:defRPr/>
            </a:pPr>
            <a:r>
              <a:rPr lang="en-US" sz="2800">
                <a:solidFill>
                  <a:srgbClr val="0070C0"/>
                </a:solidFill>
              </a:rPr>
              <a:t>We’ll use it to generate an analog signal</a:t>
            </a:r>
            <a:endParaRPr sz="280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/>
              <a:t>A water spigot varies the water </a:t>
            </a:r>
            <a:r>
              <a:rPr lang="en-US" sz="2800" u="sng"/>
              <a:t>pressure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/>
              <a:t>A pot varies the </a:t>
            </a:r>
            <a:r>
              <a:rPr lang="en-US" sz="2800" u="sng"/>
              <a:t>voltage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/>
              <a:t>Turn the knob and change the resistance to flow</a:t>
            </a:r>
            <a:endParaRPr/>
          </a:p>
          <a:p>
            <a:pPr marL="1714500" lvl="3" indent="-342900">
              <a:spcBef>
                <a:spcPts val="640"/>
              </a:spcBef>
              <a:buClr>
                <a:srgbClr val="4F6128"/>
              </a:buClr>
              <a:buSzPts val="3200"/>
              <a:defRPr/>
            </a:pPr>
            <a:endParaRPr lang="en-US" sz="200"/>
          </a:p>
          <a:p>
            <a:pPr marL="342900" lvl="0" indent="-342900" algn="l" rtl="0">
              <a:spcBef>
                <a:spcPts val="880"/>
              </a:spcBef>
              <a:spcAft>
                <a:spcPts val="0"/>
              </a:spcAft>
              <a:buClr>
                <a:srgbClr val="4F6128"/>
              </a:buClr>
              <a:buSzPts val="4400"/>
              <a:buChar char="•"/>
              <a:defRPr/>
            </a:pPr>
            <a:r>
              <a:rPr lang="en-US" sz="4000"/>
              <a:t>Find yours in your kit…</a:t>
            </a:r>
            <a:endParaRPr sz="2800"/>
          </a:p>
        </p:txBody>
      </p:sp>
      <p:pic>
        <p:nvPicPr>
          <p:cNvPr id="16529874" name="Google Shape;449;p8"/>
          <p:cNvPicPr/>
          <p:nvPr/>
        </p:nvPicPr>
        <p:blipFill rotWithShape="1">
          <a:blip r:embed="rId3">
            <a:alphaModFix/>
          </a:blip>
          <a:srcRect l="0" t="5060" r="8010" b="0"/>
          <a:stretch/>
        </p:blipFill>
        <p:spPr bwMode="auto">
          <a:xfrm>
            <a:off x="1143192" y="4023102"/>
            <a:ext cx="992147" cy="1313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7116621" name="Google Shape;450;p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7992728" y="2401461"/>
            <a:ext cx="840706" cy="903714"/>
          </a:xfrm>
          <a:prstGeom prst="rect">
            <a:avLst/>
          </a:prstGeom>
          <a:noFill/>
          <a:ln>
            <a:noFill/>
          </a:ln>
        </p:spPr>
      </p:pic>
      <p:sp>
        <p:nvSpPr>
          <p:cNvPr id="1229081903" name="Google Shape;451;p8"/>
          <p:cNvSpPr txBox="1"/>
          <p:nvPr/>
        </p:nvSpPr>
        <p:spPr bwMode="auto">
          <a:xfrm>
            <a:off x="5892189" y="4266870"/>
            <a:ext cx="252089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Came in the big bag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25205770" name="Google Shape;452;p8"/>
          <p:cNvSpPr txBox="1"/>
          <p:nvPr/>
        </p:nvSpPr>
        <p:spPr bwMode="auto">
          <a:xfrm>
            <a:off x="2210024" y="4242637"/>
            <a:ext cx="193789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Comes in the kit as two pieces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666133825" name="Picture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1">
            <a:off x="7774656" y="1405191"/>
            <a:ext cx="1058779" cy="872904"/>
          </a:xfrm>
          <a:prstGeom prst="rect">
            <a:avLst/>
          </a:prstGeom>
        </p:spPr>
      </p:pic>
      <p:pic>
        <p:nvPicPr>
          <p:cNvPr id="1033162820" name="Google Shape;450;p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723812" y="4036286"/>
            <a:ext cx="1099597" cy="1313255"/>
          </a:xfrm>
          <a:prstGeom prst="rect">
            <a:avLst/>
          </a:prstGeom>
          <a:noFill/>
          <a:ln>
            <a:noFill/>
          </a:ln>
        </p:spPr>
      </p:pic>
      <p:sp>
        <p:nvSpPr>
          <p:cNvPr id="872337626" name="TextBox 1"/>
          <p:cNvSpPr txBox="1"/>
          <p:nvPr/>
        </p:nvSpPr>
        <p:spPr bwMode="auto">
          <a:xfrm>
            <a:off x="886017" y="5357943"/>
            <a:ext cx="18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rPr>
              <a:t>Not the best quality…</a:t>
            </a:r>
            <a:endParaRPr/>
          </a:p>
        </p:txBody>
      </p:sp>
      <p:sp>
        <p:nvSpPr>
          <p:cNvPr id="1250991028" name="TextBox 10"/>
          <p:cNvSpPr txBox="1"/>
          <p:nvPr/>
        </p:nvSpPr>
        <p:spPr bwMode="auto">
          <a:xfrm>
            <a:off x="4457892" y="5357943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</a:rPr>
              <a:t>These are nice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14709" name="Title 1"/>
          <p:cNvSpPr txBox="1"/>
          <p:nvPr/>
        </p:nvSpPr>
        <p:spPr bwMode="auto">
          <a:xfrm>
            <a:off x="1650683" y="146061"/>
            <a:ext cx="4375809" cy="10287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3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j-ea"/>
                <a:cs typeface="+mj-cs"/>
              </a:rPr>
              <a:t>Potentiometer or “pot”</a:t>
            </a:r>
            <a:endParaRPr lang="en-US" sz="3000" b="0" i="1" u="none" strike="noStrike" cap="none" spc="0">
              <a:ln>
                <a:noFill/>
              </a:ln>
              <a:solidFill>
                <a:srgbClr val="FF0000"/>
              </a:solidFill>
              <a:latin typeface="Calibri"/>
              <a:ea typeface="+mj-ea"/>
              <a:cs typeface="+mj-cs"/>
            </a:endParaRPr>
          </a:p>
        </p:txBody>
      </p:sp>
      <p:sp>
        <p:nvSpPr>
          <p:cNvPr id="63765456" name="TextBox 91"/>
          <p:cNvSpPr txBox="1"/>
          <p:nvPr/>
        </p:nvSpPr>
        <p:spPr bwMode="auto">
          <a:xfrm>
            <a:off x="3351772" y="2647166"/>
            <a:ext cx="224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Wiper voltage</a:t>
            </a:r>
            <a:endParaRPr/>
          </a:p>
        </p:txBody>
      </p:sp>
      <p:sp>
        <p:nvSpPr>
          <p:cNvPr id="1757817542" name="TextBox 101"/>
          <p:cNvSpPr txBox="1"/>
          <p:nvPr/>
        </p:nvSpPr>
        <p:spPr bwMode="auto">
          <a:xfrm>
            <a:off x="238382" y="1895211"/>
            <a:ext cx="104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i="0" u="none" strike="noStrike" cap="none" spc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latin typeface="Calibri"/>
                <a:ea typeface="+mn-ea"/>
                <a:cs typeface="+mn-cs"/>
              </a:rPr>
              <a:t>Resistive material</a:t>
            </a:r>
            <a:endParaRPr/>
          </a:p>
        </p:txBody>
      </p:sp>
      <p:pic>
        <p:nvPicPr>
          <p:cNvPr id="1690640723" name="Picture 4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568900" y="1321394"/>
            <a:ext cx="1078544" cy="1249248"/>
          </a:xfrm>
          <a:prstGeom prst="rect">
            <a:avLst/>
          </a:prstGeom>
          <a:noFill/>
          <a:ln>
            <a:noFill/>
          </a:ln>
        </p:spPr>
      </p:pic>
      <p:sp>
        <p:nvSpPr>
          <p:cNvPr id="1189922897" name="TextBox 104"/>
          <p:cNvSpPr txBox="1"/>
          <p:nvPr/>
        </p:nvSpPr>
        <p:spPr bwMode="auto">
          <a:xfrm>
            <a:off x="7634754" y="2612318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1" u="none" strike="noStrike" cap="none" spc="0">
                <a:ln>
                  <a:noFill/>
                </a:ln>
                <a:solidFill>
                  <a:srgbClr val="00B050"/>
                </a:solidFill>
                <a:latin typeface="Calibri"/>
                <a:ea typeface="+mn-ea"/>
                <a:cs typeface="+mn-cs"/>
              </a:rPr>
              <a:t>Wiper Output</a:t>
            </a:r>
            <a:endParaRPr/>
          </a:p>
        </p:txBody>
      </p:sp>
      <p:sp>
        <p:nvSpPr>
          <p:cNvPr id="967281290" name="Freeform 13"/>
          <p:cNvSpPr/>
          <p:nvPr/>
        </p:nvSpPr>
        <p:spPr bwMode="auto">
          <a:xfrm flipV="1">
            <a:off x="7589856" y="2397697"/>
            <a:ext cx="514350" cy="230094"/>
          </a:xfrm>
          <a:custGeom>
            <a:avLst/>
            <a:gdLst>
              <a:gd name="connsiteX0" fmla="*/ 265814 w 265814"/>
              <a:gd name="connsiteY0" fmla="*/ 0 h 850605"/>
              <a:gd name="connsiteX1" fmla="*/ 0 w 265814"/>
              <a:gd name="connsiteY1" fmla="*/ 850605 h 850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814" h="850605" fill="norm" stroke="1" extrusionOk="0">
                <a:moveTo>
                  <a:pt x="265814" y="0"/>
                </a:moveTo>
                <a:lnTo>
                  <a:pt x="0" y="850605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35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46791897" name="Freeform: Shape 107"/>
          <p:cNvSpPr/>
          <p:nvPr/>
        </p:nvSpPr>
        <p:spPr bwMode="auto">
          <a:xfrm>
            <a:off x="8302875" y="1165895"/>
            <a:ext cx="367296" cy="1436772"/>
          </a:xfrm>
          <a:custGeom>
            <a:avLst/>
            <a:gdLst>
              <a:gd name="connsiteX0" fmla="*/ 0 w 734302"/>
              <a:gd name="connsiteY0" fmla="*/ 2100143 h 2100143"/>
              <a:gd name="connsiteX1" fmla="*/ 731520 w 734302"/>
              <a:gd name="connsiteY1" fmla="*/ 200223 h 2100143"/>
              <a:gd name="connsiteX2" fmla="*/ 203200 w 734302"/>
              <a:gd name="connsiteY2" fmla="*/ 149423 h 210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302" h="2100143" fill="norm" stroke="1" extrusionOk="0">
                <a:moveTo>
                  <a:pt x="0" y="2100143"/>
                </a:moveTo>
                <a:cubicBezTo>
                  <a:pt x="348826" y="1312743"/>
                  <a:pt x="697653" y="525343"/>
                  <a:pt x="731520" y="200223"/>
                </a:cubicBezTo>
                <a:cubicBezTo>
                  <a:pt x="765387" y="-124897"/>
                  <a:pt x="484293" y="12263"/>
                  <a:pt x="203200" y="149423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35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71711180" name="Group 3"/>
          <p:cNvGrpSpPr/>
          <p:nvPr/>
        </p:nvGrpSpPr>
        <p:grpSpPr bwMode="auto">
          <a:xfrm>
            <a:off x="7409167" y="609559"/>
            <a:ext cx="893709" cy="1146202"/>
            <a:chOff x="7255040" y="1024232"/>
            <a:chExt cx="893709" cy="1146202"/>
          </a:xfrm>
        </p:grpSpPr>
        <p:pic>
          <p:nvPicPr>
            <p:cNvPr id="107" name="Picture 106"/>
            <p:cNvPicPr>
              <a:picLocks noChangeAspect="1"/>
            </p:cNvPicPr>
            <p:nvPr/>
          </p:nvPicPr>
          <p:blipFill rotWithShape="1">
            <a:blip r:embed="rId4"/>
            <a:srcRect l="0" t="5060" r="8012" b="0"/>
            <a:stretch/>
          </p:blipFill>
          <p:spPr bwMode="auto">
            <a:xfrm>
              <a:off x="7255040" y="1024232"/>
              <a:ext cx="893709" cy="1146202"/>
            </a:xfrm>
            <a:prstGeom prst="rect">
              <a:avLst/>
            </a:prstGeom>
          </p:spPr>
        </p:pic>
        <p:sp>
          <p:nvSpPr>
            <p:cNvPr id="109" name="Freeform: Shape 108"/>
            <p:cNvSpPr/>
            <p:nvPr/>
          </p:nvSpPr>
          <p:spPr bwMode="auto">
            <a:xfrm>
              <a:off x="8033898" y="1607640"/>
              <a:ext cx="114300" cy="388620"/>
            </a:xfrm>
            <a:custGeom>
              <a:avLst/>
              <a:gdLst>
                <a:gd name="connsiteX0" fmla="*/ 0 w 152400"/>
                <a:gd name="connsiteY0" fmla="*/ 0 h 518160"/>
                <a:gd name="connsiteX1" fmla="*/ 152400 w 152400"/>
                <a:gd name="connsiteY1" fmla="*/ 121920 h 518160"/>
                <a:gd name="connsiteX2" fmla="*/ 91440 w 152400"/>
                <a:gd name="connsiteY2" fmla="*/ 518160 h 518160"/>
                <a:gd name="connsiteX3" fmla="*/ 0 w 152400"/>
                <a:gd name="connsiteY3" fmla="*/ 0 h 51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518160" fill="norm" stroke="1" extrusionOk="0">
                  <a:moveTo>
                    <a:pt x="0" y="0"/>
                  </a:moveTo>
                  <a:lnTo>
                    <a:pt x="152400" y="121920"/>
                  </a:lnTo>
                  <a:lnTo>
                    <a:pt x="91440" y="51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9237170" name="TextBox 111"/>
          <p:cNvSpPr txBox="1"/>
          <p:nvPr/>
        </p:nvSpPr>
        <p:spPr bwMode="auto">
          <a:xfrm>
            <a:off x="4807784" y="1257367"/>
            <a:ext cx="14848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100" b="0" i="0" u="none" strike="noStrike" cap="none" spc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latin typeface="Calibri"/>
                <a:ea typeface="+mn-ea"/>
                <a:cs typeface="+mn-cs"/>
              </a:rPr>
              <a:t>Knob turns the  Wiper</a:t>
            </a:r>
            <a:endParaRPr/>
          </a:p>
        </p:txBody>
      </p:sp>
      <p:sp>
        <p:nvSpPr>
          <p:cNvPr id="960691138" name="Arrow: Right 112"/>
          <p:cNvSpPr/>
          <p:nvPr/>
        </p:nvSpPr>
        <p:spPr bwMode="auto">
          <a:xfrm>
            <a:off x="6290009" y="1488124"/>
            <a:ext cx="511444" cy="26763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35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93550156" name="Content Placeholder 120"/>
          <p:cNvSpPr>
            <a:spLocks noGrp="1"/>
          </p:cNvSpPr>
          <p:nvPr>
            <p:ph idx="1"/>
          </p:nvPr>
        </p:nvSpPr>
        <p:spPr bwMode="auto">
          <a:xfrm>
            <a:off x="457200" y="3643621"/>
            <a:ext cx="8229600" cy="1558940"/>
          </a:xfrm>
        </p:spPr>
        <p:txBody>
          <a:bodyPr/>
          <a:lstStyle/>
          <a:p>
            <a:pPr>
              <a:defRPr/>
            </a:pPr>
            <a:r>
              <a:rPr lang="en-US"/>
              <a:t>Wiper voltage depends on position of knob</a:t>
            </a:r>
            <a:endParaRPr/>
          </a:p>
          <a:p>
            <a:pPr lvl="1">
              <a:defRPr/>
            </a:pPr>
            <a:r>
              <a:rPr lang="en-US"/>
              <a:t>Voltage decreases as current flows through resistive material</a:t>
            </a:r>
            <a:endParaRPr/>
          </a:p>
          <a:p>
            <a:pPr lvl="1">
              <a:defRPr/>
            </a:pPr>
            <a:r>
              <a:rPr lang="en-US"/>
              <a:t>Therefore, wiper voltage controlled by knob rotation</a:t>
            </a:r>
            <a:endParaRPr/>
          </a:p>
          <a:p>
            <a:pPr>
              <a:defRPr/>
            </a:pPr>
            <a:r>
              <a:rPr lang="en-US"/>
              <a:t>Example: volume control in audio equipment</a:t>
            </a:r>
            <a:endParaRPr/>
          </a:p>
        </p:txBody>
      </p:sp>
      <p:grpSp>
        <p:nvGrpSpPr>
          <p:cNvPr id="1739761965" name="Group 2"/>
          <p:cNvGrpSpPr/>
          <p:nvPr/>
        </p:nvGrpSpPr>
        <p:grpSpPr bwMode="auto">
          <a:xfrm>
            <a:off x="841124" y="905822"/>
            <a:ext cx="2850106" cy="2470801"/>
            <a:chOff x="2200910" y="1000520"/>
            <a:chExt cx="2720729" cy="2358642"/>
          </a:xfrm>
        </p:grpSpPr>
        <p:grpSp>
          <p:nvGrpSpPr>
            <p:cNvPr id="81" name="Group 80"/>
            <p:cNvGrpSpPr/>
            <p:nvPr/>
          </p:nvGrpSpPr>
          <p:grpSpPr bwMode="auto">
            <a:xfrm>
              <a:off x="3217741" y="1951368"/>
              <a:ext cx="1044219" cy="1099695"/>
              <a:chOff x="7258050" y="1925053"/>
              <a:chExt cx="2286000" cy="2286000"/>
            </a:xfrm>
          </p:grpSpPr>
          <p:sp>
            <p:nvSpPr>
              <p:cNvPr id="98" name="Oval 97"/>
              <p:cNvSpPr/>
              <p:nvPr/>
            </p:nvSpPr>
            <p:spPr bwMode="auto">
              <a:xfrm>
                <a:off x="7258050" y="1925053"/>
                <a:ext cx="2286000" cy="228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135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9" name="Oval 98"/>
              <p:cNvSpPr/>
              <p:nvPr/>
            </p:nvSpPr>
            <p:spPr bwMode="auto">
              <a:xfrm>
                <a:off x="7432508" y="2099511"/>
                <a:ext cx="1937084" cy="193708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135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0" name="Oval 99"/>
              <p:cNvSpPr/>
              <p:nvPr/>
            </p:nvSpPr>
            <p:spPr bwMode="auto">
              <a:xfrm>
                <a:off x="7578893" y="2245896"/>
                <a:ext cx="1644315" cy="164431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135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Isosceles Triangle 100"/>
              <p:cNvSpPr/>
              <p:nvPr/>
            </p:nvSpPr>
            <p:spPr bwMode="auto">
              <a:xfrm rot="16199999">
                <a:off x="8385008" y="2480010"/>
                <a:ext cx="841209" cy="1176087"/>
              </a:xfrm>
              <a:prstGeom prst="triangle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135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2" name="Isosceles Triangle 81"/>
            <p:cNvSpPr/>
            <p:nvPr/>
          </p:nvSpPr>
          <p:spPr bwMode="auto">
            <a:xfrm rot="20375738">
              <a:off x="3652456" y="1963156"/>
              <a:ext cx="126405" cy="597840"/>
            </a:xfrm>
            <a:prstGeom prst="triangle">
              <a:avLst>
                <a:gd name="adj" fmla="val 5000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3744990" y="2440443"/>
              <a:ext cx="115414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Oval 83"/>
            <p:cNvSpPr/>
            <p:nvPr/>
          </p:nvSpPr>
          <p:spPr bwMode="auto">
            <a:xfrm>
              <a:off x="4054276" y="2257858"/>
              <a:ext cx="115414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4054276" y="2605128"/>
              <a:ext cx="115414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Freeform: Shape 85"/>
            <p:cNvSpPr/>
            <p:nvPr/>
          </p:nvSpPr>
          <p:spPr bwMode="auto">
            <a:xfrm>
              <a:off x="3809318" y="2501216"/>
              <a:ext cx="907661" cy="0"/>
            </a:xfrm>
            <a:custGeom>
              <a:avLst/>
              <a:gdLst>
                <a:gd name="connsiteX0" fmla="*/ 0 w 2298032"/>
                <a:gd name="connsiteY0" fmla="*/ 0 h 0"/>
                <a:gd name="connsiteX1" fmla="*/ 2298032 w 2298032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8032" fill="norm" stroke="1" extrusionOk="0">
                  <a:moveTo>
                    <a:pt x="0" y="0"/>
                  </a:moveTo>
                  <a:lnTo>
                    <a:pt x="229803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Freeform: Shape 86"/>
            <p:cNvSpPr/>
            <p:nvPr/>
          </p:nvSpPr>
          <p:spPr bwMode="auto">
            <a:xfrm>
              <a:off x="2991948" y="1771944"/>
              <a:ext cx="1449406" cy="503545"/>
            </a:xfrm>
            <a:custGeom>
              <a:avLst/>
              <a:gdLst>
                <a:gd name="connsiteX0" fmla="*/ 0 w 3669631"/>
                <a:gd name="connsiteY0" fmla="*/ 0 h 1046747"/>
                <a:gd name="connsiteX1" fmla="*/ 3669631 w 3669631"/>
                <a:gd name="connsiteY1" fmla="*/ 0 h 1046747"/>
                <a:gd name="connsiteX2" fmla="*/ 2947736 w 3669631"/>
                <a:gd name="connsiteY2" fmla="*/ 1046747 h 1046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69631" h="1046747" fill="norm" stroke="1" extrusionOk="0">
                  <a:moveTo>
                    <a:pt x="0" y="0"/>
                  </a:moveTo>
                  <a:lnTo>
                    <a:pt x="3669631" y="0"/>
                  </a:lnTo>
                  <a:lnTo>
                    <a:pt x="2947736" y="1046747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/>
              <a:noAutofit/>
            </a:bodyPr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Freeform: Shape 87"/>
            <p:cNvSpPr/>
            <p:nvPr/>
          </p:nvSpPr>
          <p:spPr bwMode="auto">
            <a:xfrm flipV="1">
              <a:off x="2981256" y="2723024"/>
              <a:ext cx="1449406" cy="503545"/>
            </a:xfrm>
            <a:custGeom>
              <a:avLst/>
              <a:gdLst>
                <a:gd name="connsiteX0" fmla="*/ 0 w 3669631"/>
                <a:gd name="connsiteY0" fmla="*/ 0 h 1046747"/>
                <a:gd name="connsiteX1" fmla="*/ 3669631 w 3669631"/>
                <a:gd name="connsiteY1" fmla="*/ 0 h 1046747"/>
                <a:gd name="connsiteX2" fmla="*/ 2947736 w 3669631"/>
                <a:gd name="connsiteY2" fmla="*/ 1046747 h 1046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69631" h="1046747" fill="norm" stroke="1" extrusionOk="0">
                  <a:moveTo>
                    <a:pt x="0" y="0"/>
                  </a:moveTo>
                  <a:lnTo>
                    <a:pt x="3669631" y="0"/>
                  </a:lnTo>
                  <a:lnTo>
                    <a:pt x="2947736" y="1046747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/>
              <a:noAutofit/>
            </a:bodyPr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/>
            <p:cNvSpPr txBox="1"/>
            <p:nvPr/>
          </p:nvSpPr>
          <p:spPr bwMode="auto">
            <a:xfrm>
              <a:off x="2200910" y="1481328"/>
              <a:ext cx="105401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800" b="0" i="0" u="none" strike="noStrike" cap="none" spc="0">
                  <a:ln>
                    <a:noFill/>
                  </a:ln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+5 V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2310080" y="2866719"/>
              <a:ext cx="9076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800" b="0" i="0" u="none" strike="noStrike" cap="none" spc="0">
                  <a:ln>
                    <a:noFill/>
                  </a:ln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0 V</a:t>
              </a:r>
              <a:endParaRPr/>
            </a:p>
          </p:txBody>
        </p:sp>
        <p:sp>
          <p:nvSpPr>
            <p:cNvPr id="91" name="Freeform: Shape 90"/>
            <p:cNvSpPr/>
            <p:nvPr/>
          </p:nvSpPr>
          <p:spPr bwMode="auto">
            <a:xfrm>
              <a:off x="3809318" y="3226570"/>
              <a:ext cx="907661" cy="0"/>
            </a:xfrm>
            <a:custGeom>
              <a:avLst/>
              <a:gdLst>
                <a:gd name="connsiteX0" fmla="*/ 0 w 2298032"/>
                <a:gd name="connsiteY0" fmla="*/ 0 h 0"/>
                <a:gd name="connsiteX1" fmla="*/ 2298032 w 2298032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8032" fill="norm" stroke="1" extrusionOk="0">
                  <a:moveTo>
                    <a:pt x="0" y="0"/>
                  </a:moveTo>
                  <a:lnTo>
                    <a:pt x="229803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3" name="Oval 92"/>
            <p:cNvSpPr/>
            <p:nvPr/>
          </p:nvSpPr>
          <p:spPr bwMode="auto">
            <a:xfrm>
              <a:off x="2939477" y="1711171"/>
              <a:ext cx="99795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2939477" y="3114998"/>
              <a:ext cx="99795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Oval 94"/>
            <p:cNvSpPr/>
            <p:nvPr/>
          </p:nvSpPr>
          <p:spPr bwMode="auto">
            <a:xfrm>
              <a:off x="4667081" y="3114998"/>
              <a:ext cx="99795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Oval 95"/>
            <p:cNvSpPr/>
            <p:nvPr/>
          </p:nvSpPr>
          <p:spPr bwMode="auto">
            <a:xfrm>
              <a:off x="4667081" y="2436768"/>
              <a:ext cx="99795" cy="121545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Freeform: Shape 96"/>
            <p:cNvSpPr/>
            <p:nvPr/>
          </p:nvSpPr>
          <p:spPr bwMode="auto">
            <a:xfrm>
              <a:off x="4574414" y="2564882"/>
              <a:ext cx="0" cy="567212"/>
            </a:xfrm>
            <a:custGeom>
              <a:avLst/>
              <a:gdLst>
                <a:gd name="connsiteX0" fmla="*/ 0 w 0"/>
                <a:gd name="connsiteY0" fmla="*/ 1179095 h 1179095"/>
                <a:gd name="connsiteX1" fmla="*/ 0 w 0"/>
                <a:gd name="connsiteY1" fmla="*/ 0 h 11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179095" fill="norm" stroke="1" extrusionOk="0">
                  <a:moveTo>
                    <a:pt x="0" y="1179095"/>
                  </a:moveTo>
                  <a:lnTo>
                    <a:pt x="0" y="0"/>
                  </a:lnTo>
                </a:path>
              </a:pathLst>
            </a:custGeom>
            <a:noFill/>
            <a:ln w="28575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2593902" y="2222050"/>
              <a:ext cx="737527" cy="89284"/>
            </a:xfrm>
            <a:custGeom>
              <a:avLst/>
              <a:gdLst>
                <a:gd name="connsiteX0" fmla="*/ 0 w 1223319"/>
                <a:gd name="connsiteY0" fmla="*/ 0 h 284205"/>
                <a:gd name="connsiteX1" fmla="*/ 1223319 w 1223319"/>
                <a:gd name="connsiteY1" fmla="*/ 284205 h 28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319" h="284205" fill="norm" stroke="1" extrusionOk="0">
                  <a:moveTo>
                    <a:pt x="0" y="0"/>
                  </a:moveTo>
                  <a:lnTo>
                    <a:pt x="1223319" y="284205"/>
                  </a:lnTo>
                </a:path>
              </a:pathLst>
            </a:custGeom>
            <a:noFill/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TextBox 109"/>
            <p:cNvSpPr txBox="1"/>
            <p:nvPr/>
          </p:nvSpPr>
          <p:spPr bwMode="auto">
            <a:xfrm>
              <a:off x="3462863" y="1000520"/>
              <a:ext cx="1458776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100" b="0" i="0" u="none" strike="noStrike" cap="none" spc="0">
                  <a:ln>
                    <a:noFill/>
                  </a:ln>
                  <a:solidFill>
                    <a:srgbClr val="1F497D">
                      <a:lumMod val="60000"/>
                      <a:lumOff val="40000"/>
                    </a:srgbClr>
                  </a:solidFill>
                  <a:latin typeface="Calibri"/>
                  <a:ea typeface="+mn-ea"/>
                  <a:cs typeface="+mn-cs"/>
                </a:rPr>
                <a:t>“Wiper”</a:t>
              </a:r>
              <a:endParaRPr/>
            </a:p>
          </p:txBody>
        </p:sp>
        <p:sp>
          <p:nvSpPr>
            <p:cNvPr id="2" name="Freeform: Shape 1"/>
            <p:cNvSpPr/>
            <p:nvPr/>
          </p:nvSpPr>
          <p:spPr bwMode="auto">
            <a:xfrm>
              <a:off x="3830310" y="1455525"/>
              <a:ext cx="256736" cy="599900"/>
            </a:xfrm>
            <a:custGeom>
              <a:avLst/>
              <a:gdLst>
                <a:gd name="connsiteX0" fmla="*/ 515566 w 515566"/>
                <a:gd name="connsiteY0" fmla="*/ 0 h 690663"/>
                <a:gd name="connsiteX1" fmla="*/ 0 w 515566"/>
                <a:gd name="connsiteY1" fmla="*/ 690663 h 690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5566" h="690663" fill="norm" stroke="1" extrusionOk="0">
                  <a:moveTo>
                    <a:pt x="515566" y="0"/>
                  </a:moveTo>
                  <a:lnTo>
                    <a:pt x="0" y="690663"/>
                  </a:lnTo>
                </a:path>
              </a:pathLst>
            </a:custGeom>
            <a:noFill/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35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050902" name="Google Shape;497;p10"/>
          <p:cNvSpPr txBox="1">
            <a:spLocks noGrp="1"/>
          </p:cNvSpPr>
          <p:nvPr>
            <p:ph type="title"/>
          </p:nvPr>
        </p:nvSpPr>
        <p:spPr bwMode="auto">
          <a:xfrm>
            <a:off x="267855" y="142291"/>
            <a:ext cx="8418945" cy="748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  <a:defRPr/>
            </a:pPr>
            <a:r>
              <a:rPr lang="en-US" sz="4000"/>
              <a:t>This is called a “</a:t>
            </a:r>
            <a:r>
              <a:rPr lang="en-US" sz="4000" b="1"/>
              <a:t>Voltage Divider</a:t>
            </a:r>
            <a:r>
              <a:rPr lang="en-US" sz="4000"/>
              <a:t>” circuit</a:t>
            </a:r>
            <a:endParaRPr/>
          </a:p>
        </p:txBody>
      </p:sp>
      <p:sp>
        <p:nvSpPr>
          <p:cNvPr id="838170181" name="Google Shape;498;p10"/>
          <p:cNvSpPr txBox="1">
            <a:spLocks noGrp="1"/>
          </p:cNvSpPr>
          <p:nvPr>
            <p:ph type="body" idx="1"/>
          </p:nvPr>
        </p:nvSpPr>
        <p:spPr bwMode="auto">
          <a:xfrm>
            <a:off x="0" y="1181528"/>
            <a:ext cx="5190459" cy="481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400"/>
              <a:buChar char="•"/>
              <a:defRPr/>
            </a:pPr>
            <a:r>
              <a:rPr lang="en-US" sz="2400"/>
              <a:t>Voltage is “divided” into two parts</a:t>
            </a:r>
            <a:endParaRPr/>
          </a:p>
          <a:p>
            <a:pPr marL="800100" lvl="1" indent="-342900">
              <a:spcBef>
                <a:spcPts val="0"/>
              </a:spcBef>
              <a:buClr>
                <a:srgbClr val="4F6128"/>
              </a:buClr>
              <a:buSzPts val="2400"/>
              <a:buFont typeface="Courier New"/>
              <a:buChar char="o"/>
              <a:defRPr/>
            </a:pPr>
            <a:r>
              <a:rPr lang="en-US" sz="2000"/>
              <a:t>Some is across R</a:t>
            </a:r>
            <a:r>
              <a:rPr lang="en-US" sz="2000" baseline="-25000"/>
              <a:t>1</a:t>
            </a:r>
            <a:r>
              <a:rPr lang="en-US" sz="2000"/>
              <a:t>, the rest is across R</a:t>
            </a:r>
            <a:r>
              <a:rPr lang="en-US" sz="2000" baseline="-25000"/>
              <a:t>2</a:t>
            </a:r>
            <a:endParaRPr lang="en-US" sz="20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400"/>
              <a:buChar char="•"/>
              <a:defRPr/>
            </a:pPr>
            <a:r>
              <a:rPr lang="en-US" sz="2400"/>
              <a:t>Provides a way us to control voltage</a:t>
            </a:r>
            <a:endParaRPr/>
          </a:p>
          <a:p>
            <a:pPr marL="800100" lvl="1" indent="-342900">
              <a:spcBef>
                <a:spcPts val="480"/>
              </a:spcBef>
              <a:buClr>
                <a:srgbClr val="4F6128"/>
              </a:buClr>
              <a:buSzPts val="2400"/>
              <a:buFont typeface="Courier New"/>
              <a:buChar char="o"/>
              <a:defRPr/>
            </a:pPr>
            <a:r>
              <a:rPr lang="en-US" sz="2000"/>
              <a:t>Current enters R</a:t>
            </a:r>
            <a:r>
              <a:rPr lang="en-US" sz="2000" baseline="-25000"/>
              <a:t>1</a:t>
            </a:r>
            <a:r>
              <a:rPr lang="en-US" sz="2000"/>
              <a:t> with voltage V</a:t>
            </a:r>
            <a:r>
              <a:rPr lang="en-US" sz="2000" baseline="-25000"/>
              <a:t>s</a:t>
            </a:r>
            <a:endParaRPr lang="en-US" sz="2000"/>
          </a:p>
          <a:p>
            <a:pPr marL="800100" lvl="1" indent="-342900">
              <a:spcBef>
                <a:spcPts val="480"/>
              </a:spcBef>
              <a:buClr>
                <a:srgbClr val="4F6128"/>
              </a:buClr>
              <a:buSzPts val="2400"/>
              <a:buFont typeface="Courier New"/>
              <a:buChar char="o"/>
              <a:defRPr/>
            </a:pPr>
            <a:r>
              <a:rPr lang="en-US" sz="2000"/>
              <a:t>It loses energy as it passes through R</a:t>
            </a:r>
            <a:r>
              <a:rPr lang="en-US" sz="2000" baseline="-25000"/>
              <a:t>1</a:t>
            </a:r>
            <a:endParaRPr lang="en-US" sz="2000"/>
          </a:p>
          <a:p>
            <a:pPr marL="1257300" lvl="2" indent="-342900">
              <a:buClr>
                <a:srgbClr val="4F6128"/>
              </a:buClr>
              <a:defRPr/>
            </a:pPr>
            <a:r>
              <a:rPr lang="en-US" sz="1800"/>
              <a:t>Voltage drops from V</a:t>
            </a:r>
            <a:r>
              <a:rPr lang="en-US" sz="1800" baseline="-25000"/>
              <a:t>s</a:t>
            </a:r>
            <a:r>
              <a:rPr lang="en-US" sz="1800"/>
              <a:t> to V</a:t>
            </a:r>
            <a:r>
              <a:rPr lang="en-US" sz="1800" baseline="-25000"/>
              <a:t>2</a:t>
            </a:r>
            <a:endParaRPr lang="en-US" sz="1800"/>
          </a:p>
          <a:p>
            <a:pPr marL="800100" lvl="1" indent="-342900">
              <a:spcBef>
                <a:spcPts val="480"/>
              </a:spcBef>
              <a:buSzPts val="2400"/>
              <a:buFont typeface="Courier New"/>
              <a:buChar char="o"/>
              <a:defRPr/>
            </a:pPr>
            <a:r>
              <a:rPr lang="en-US" sz="2000"/>
              <a:t>It loses the remainder of its energy passing through R</a:t>
            </a:r>
            <a:r>
              <a:rPr lang="en-US" sz="2000" baseline="-25000"/>
              <a:t>2</a:t>
            </a:r>
            <a:endParaRPr lang="en-US" sz="2000"/>
          </a:p>
          <a:p>
            <a:pPr marL="1257300" lvl="2" indent="-342900">
              <a:defRPr/>
            </a:pPr>
            <a:r>
              <a:rPr lang="en-US" sz="1800"/>
              <a:t>Voltage drops from V</a:t>
            </a:r>
            <a:r>
              <a:rPr lang="en-US" sz="1800" baseline="-25000"/>
              <a:t>2</a:t>
            </a:r>
            <a:r>
              <a:rPr lang="en-US" sz="1800"/>
              <a:t> down to zero, also known as “Ground”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4F6128"/>
              </a:buClr>
              <a:buSzPts val="2400"/>
              <a:buChar char="•"/>
              <a:defRPr/>
            </a:pPr>
            <a:r>
              <a:rPr lang="en-US" sz="2400"/>
              <a:t>Result: </a:t>
            </a:r>
            <a:br>
              <a:rPr lang="en-US" sz="2400"/>
            </a:br>
            <a:r>
              <a:rPr lang="en-US" sz="2400"/>
              <a:t>R</a:t>
            </a:r>
            <a:r>
              <a:rPr lang="en-US" sz="2400" baseline="-25000"/>
              <a:t>1</a:t>
            </a:r>
            <a:r>
              <a:rPr lang="en-US" sz="2400"/>
              <a:t> and R</a:t>
            </a:r>
            <a:r>
              <a:rPr lang="en-US" sz="2400" baseline="-25000"/>
              <a:t>2</a:t>
            </a:r>
            <a:r>
              <a:rPr lang="en-US" sz="2400"/>
              <a:t> control the voltage V</a:t>
            </a:r>
            <a:r>
              <a:rPr lang="en-US" sz="2400" baseline="-25000"/>
              <a:t>2</a:t>
            </a:r>
            <a:endParaRPr sz="2400"/>
          </a:p>
        </p:txBody>
      </p:sp>
      <p:sp>
        <p:nvSpPr>
          <p:cNvPr id="294812155" name="Google Shape;500;p10"/>
          <p:cNvSpPr/>
          <p:nvPr/>
        </p:nvSpPr>
        <p:spPr bwMode="auto">
          <a:xfrm>
            <a:off x="6182963" y="4311256"/>
            <a:ext cx="2878843" cy="969433"/>
          </a:xfrm>
          <a:prstGeom prst="rect">
            <a:avLst/>
          </a:prstGeom>
          <a:blipFill rotWithShape="1">
            <a:blip r:embed="rId3">
              <a:alphaModFix/>
            </a:blip>
            <a:stretch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latin typeface="Calibri"/>
                <a:ea typeface="Calibri"/>
                <a:cs typeface="Calibri"/>
              </a:rPr>
              <a:t> </a:t>
            </a:r>
            <a:endParaRPr/>
          </a:p>
        </p:txBody>
      </p:sp>
      <p:grpSp>
        <p:nvGrpSpPr>
          <p:cNvPr id="782990314" name="Group 1"/>
          <p:cNvGrpSpPr/>
          <p:nvPr/>
        </p:nvGrpSpPr>
        <p:grpSpPr bwMode="auto">
          <a:xfrm>
            <a:off x="5857089" y="1881398"/>
            <a:ext cx="3123506" cy="2085376"/>
            <a:chOff x="5857089" y="1881398"/>
            <a:chExt cx="3123506" cy="2085376"/>
          </a:xfrm>
        </p:grpSpPr>
        <p:pic>
          <p:nvPicPr>
            <p:cNvPr id="499" name="Google Shape;499;p10"/>
            <p:cNvPicPr/>
            <p:nvPr/>
          </p:nvPicPr>
          <p:blipFill rotWithShape="1">
            <a:blip r:embed="rId4">
              <a:alphaModFix/>
            </a:blip>
            <a:srcRect l="0" t="0" r="24007" b="0"/>
            <a:stretch/>
          </p:blipFill>
          <p:spPr bwMode="auto">
            <a:xfrm>
              <a:off x="5857089" y="1881398"/>
              <a:ext cx="1849877" cy="1978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10"/>
            <p:cNvSpPr txBox="1"/>
            <p:nvPr/>
          </p:nvSpPr>
          <p:spPr bwMode="auto">
            <a:xfrm>
              <a:off x="6809788" y="2685831"/>
              <a:ext cx="394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V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02" name="Google Shape;502;p10"/>
            <p:cNvSpPr/>
            <p:nvPr/>
          </p:nvSpPr>
          <p:spPr bwMode="auto">
            <a:xfrm>
              <a:off x="7706966" y="2543859"/>
              <a:ext cx="1273629" cy="1422915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Arduino</a:t>
              </a:r>
              <a:endParaRPr/>
            </a:p>
          </p:txBody>
        </p:sp>
        <p:sp>
          <p:nvSpPr>
            <p:cNvPr id="503" name="Google Shape;503;p10"/>
            <p:cNvSpPr txBox="1"/>
            <p:nvPr/>
          </p:nvSpPr>
          <p:spPr bwMode="auto">
            <a:xfrm>
              <a:off x="7691679" y="2615514"/>
              <a:ext cx="4347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</a:rPr>
                <a:t>A0</a:t>
              </a:r>
              <a:endParaRPr/>
            </a:p>
          </p:txBody>
        </p:sp>
        <p:sp>
          <p:nvSpPr>
            <p:cNvPr id="504" name="Google Shape;504;p10"/>
            <p:cNvSpPr txBox="1"/>
            <p:nvPr/>
          </p:nvSpPr>
          <p:spPr bwMode="auto">
            <a:xfrm>
              <a:off x="7691679" y="3534691"/>
              <a:ext cx="6222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</a:rPr>
                <a:t>GND</a:t>
              </a:r>
              <a:endParaRPr/>
            </a:p>
          </p:txBody>
        </p:sp>
      </p:grpSp>
      <p:sp>
        <p:nvSpPr>
          <p:cNvPr id="1971798747" name="Oval 2"/>
          <p:cNvSpPr/>
          <p:nvPr/>
        </p:nvSpPr>
        <p:spPr bwMode="auto">
          <a:xfrm>
            <a:off x="6765894" y="1577406"/>
            <a:ext cx="807924" cy="2586182"/>
          </a:xfrm>
          <a:prstGeom prst="ellipse">
            <a:avLst/>
          </a:prstGeom>
          <a:solidFill>
            <a:srgbClr val="2FDD71">
              <a:alpha val="1607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25159347" name="Google Shape;460;p9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7902051" y="744766"/>
            <a:ext cx="1078544" cy="1249248"/>
          </a:xfrm>
          <a:prstGeom prst="rect">
            <a:avLst/>
          </a:prstGeom>
          <a:noFill/>
          <a:ln>
            <a:noFill/>
          </a:ln>
        </p:spPr>
      </p:pic>
      <p:sp>
        <p:nvSpPr>
          <p:cNvPr id="930477180" name="Arrow: Down 3"/>
          <p:cNvSpPr/>
          <p:nvPr/>
        </p:nvSpPr>
        <p:spPr bwMode="auto">
          <a:xfrm rot="3053304">
            <a:off x="7641302" y="1651240"/>
            <a:ext cx="282489" cy="416608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0763624" name="TextBox 4"/>
          <p:cNvSpPr txBox="1"/>
          <p:nvPr/>
        </p:nvSpPr>
        <p:spPr bwMode="auto">
          <a:xfrm>
            <a:off x="5394977" y="3065686"/>
            <a:ext cx="989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Battery or Arduino</a:t>
            </a:r>
            <a:endParaRPr/>
          </a:p>
        </p:txBody>
      </p:sp>
      <p:sp>
        <p:nvSpPr>
          <p:cNvPr id="1402414612" name="Freeform: Shape 5"/>
          <p:cNvSpPr/>
          <p:nvPr/>
        </p:nvSpPr>
        <p:spPr bwMode="auto">
          <a:xfrm>
            <a:off x="6174246" y="1750458"/>
            <a:ext cx="1162485" cy="816471"/>
          </a:xfrm>
          <a:custGeom>
            <a:avLst/>
            <a:gdLst>
              <a:gd name="connsiteX0" fmla="*/ 39266 w 843498"/>
              <a:gd name="connsiteY0" fmla="*/ 816472 h 816472"/>
              <a:gd name="connsiteX1" fmla="*/ 72317 w 843498"/>
              <a:gd name="connsiteY1" fmla="*/ 122409 h 816472"/>
              <a:gd name="connsiteX2" fmla="*/ 700278 w 843498"/>
              <a:gd name="connsiteY2" fmla="*/ 23258 h 816472"/>
              <a:gd name="connsiteX3" fmla="*/ 843498 w 843498"/>
              <a:gd name="connsiteY3" fmla="*/ 386814 h 81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3498" h="816472" fill="norm" stroke="1" extrusionOk="0">
                <a:moveTo>
                  <a:pt x="39266" y="816472"/>
                </a:moveTo>
                <a:cubicBezTo>
                  <a:pt x="707" y="535541"/>
                  <a:pt x="-37852" y="254611"/>
                  <a:pt x="72317" y="122409"/>
                </a:cubicBezTo>
                <a:cubicBezTo>
                  <a:pt x="182486" y="-9793"/>
                  <a:pt x="571748" y="-20810"/>
                  <a:pt x="700278" y="23258"/>
                </a:cubicBezTo>
                <a:cubicBezTo>
                  <a:pt x="828808" y="67325"/>
                  <a:pt x="836153" y="227069"/>
                  <a:pt x="843498" y="386814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9822601" name="TextBox 6"/>
          <p:cNvSpPr txBox="1"/>
          <p:nvPr/>
        </p:nvSpPr>
        <p:spPr bwMode="auto">
          <a:xfrm>
            <a:off x="6179079" y="1456818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current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586856" name="Content Placeholder 4"/>
          <p:cNvSpPr>
            <a:spLocks noGrp="1"/>
          </p:cNvSpPr>
          <p:nvPr>
            <p:ph idx="1"/>
          </p:nvPr>
        </p:nvSpPr>
        <p:spPr bwMode="auto">
          <a:xfrm>
            <a:off x="190705" y="1600200"/>
            <a:ext cx="8496094" cy="4193547"/>
          </a:xfrm>
          <a:prstGeom prst="rect">
            <a:avLst/>
          </a:prstGeom>
          <a:solidFill>
            <a:srgbClr val="EAEAEA"/>
          </a:solidFill>
        </p:spPr>
        <p:txBody>
          <a:bodyPr/>
          <a:lstStyle/>
          <a:p>
            <a:pPr>
              <a:defRPr/>
            </a:pPr>
            <a:r>
              <a:rPr lang="en-US"/>
              <a:t>Objective: Understand analog inputs</a:t>
            </a:r>
            <a:endParaRPr/>
          </a:p>
          <a:p>
            <a:pPr lvl="1">
              <a:defRPr/>
            </a:pPr>
            <a:r>
              <a:rPr lang="en-US"/>
              <a:t>Voltage divider and potentiometer</a:t>
            </a:r>
            <a:endParaRPr/>
          </a:p>
          <a:p>
            <a:pPr lvl="1">
              <a:defRPr/>
            </a:pPr>
            <a:r>
              <a:rPr lang="en-US"/>
              <a:t>Serial Plotter (not available on Arduino Create)</a:t>
            </a:r>
            <a:endParaRPr/>
          </a:p>
          <a:p>
            <a:pPr lvl="1">
              <a:defRPr/>
            </a:pPr>
            <a:r>
              <a:rPr lang="en-US"/>
              <a:t>Pulse Width Modulation (PWM)</a:t>
            </a:r>
            <a:endParaRPr/>
          </a:p>
        </p:txBody>
      </p:sp>
      <p:sp>
        <p:nvSpPr>
          <p:cNvPr id="1403761513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38332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9968" y="1585278"/>
            <a:ext cx="6890789" cy="4485057"/>
          </a:xfrm>
          <a:prstGeom prst="rect">
            <a:avLst/>
          </a:prstGeom>
        </p:spPr>
      </p:pic>
      <p:sp>
        <p:nvSpPr>
          <p:cNvPr id="431850831" name="Google Shape;529;p13"/>
          <p:cNvSpPr txBox="1">
            <a:spLocks noGrp="1"/>
          </p:cNvSpPr>
          <p:nvPr>
            <p:ph type="title"/>
          </p:nvPr>
        </p:nvSpPr>
        <p:spPr bwMode="auto">
          <a:xfrm>
            <a:off x="1022684" y="177005"/>
            <a:ext cx="8229600" cy="650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/>
              <a:t>Get a Built-in Example</a:t>
            </a:r>
            <a:endParaRPr/>
          </a:p>
        </p:txBody>
      </p:sp>
      <p:sp>
        <p:nvSpPr>
          <p:cNvPr id="1424688683" name="Google Shape;530;p13"/>
          <p:cNvSpPr txBox="1">
            <a:spLocks noGrp="1"/>
          </p:cNvSpPr>
          <p:nvPr>
            <p:ph type="body" idx="1"/>
          </p:nvPr>
        </p:nvSpPr>
        <p:spPr bwMode="auto">
          <a:xfrm>
            <a:off x="0" y="868420"/>
            <a:ext cx="8746958" cy="72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/>
              <a:t>Click: File -&gt; Examples -&gt; Basics -&gt; </a:t>
            </a:r>
            <a:r>
              <a:rPr lang="en-US" sz="2800"/>
              <a:t>AnalogReadSerial</a:t>
            </a:r>
            <a:endParaRPr sz="2800"/>
          </a:p>
        </p:txBody>
      </p:sp>
      <p:sp>
        <p:nvSpPr>
          <p:cNvPr id="1298916668" name="Google Shape;532;p13"/>
          <p:cNvSpPr/>
          <p:nvPr/>
        </p:nvSpPr>
        <p:spPr bwMode="auto">
          <a:xfrm>
            <a:off x="117242" y="1904200"/>
            <a:ext cx="565484" cy="32485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520107" name="Google Shape;533;p13"/>
          <p:cNvSpPr/>
          <p:nvPr/>
        </p:nvSpPr>
        <p:spPr bwMode="auto">
          <a:xfrm>
            <a:off x="142892" y="3711741"/>
            <a:ext cx="565484" cy="32485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483996" name="Google Shape;534;p13"/>
          <p:cNvSpPr/>
          <p:nvPr/>
        </p:nvSpPr>
        <p:spPr bwMode="auto">
          <a:xfrm>
            <a:off x="2878410" y="1953113"/>
            <a:ext cx="565484" cy="32485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9185400" name="Google Shape;535;p13"/>
          <p:cNvSpPr/>
          <p:nvPr/>
        </p:nvSpPr>
        <p:spPr bwMode="auto">
          <a:xfrm>
            <a:off x="190705" y="92076"/>
            <a:ext cx="1854662" cy="461624"/>
          </a:xfrm>
          <a:prstGeom prst="rect">
            <a:avLst/>
          </a:prstGeom>
          <a:solidFill>
            <a:schemeClr val="accent6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5732094" name="Arrow: Down 1"/>
          <p:cNvSpPr/>
          <p:nvPr/>
        </p:nvSpPr>
        <p:spPr bwMode="auto">
          <a:xfrm rot="5400000">
            <a:off x="8038579" y="1761057"/>
            <a:ext cx="286328" cy="74748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010388" name="Google Shape;541;p14"/>
          <p:cNvSpPr/>
          <p:nvPr/>
        </p:nvSpPr>
        <p:spPr bwMode="auto">
          <a:xfrm>
            <a:off x="0" y="5894173"/>
            <a:ext cx="9143999" cy="96382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7239291" name="Google Shape;542;p14"/>
          <p:cNvSpPr txBox="1">
            <a:spLocks noGrp="1"/>
          </p:cNvSpPr>
          <p:nvPr>
            <p:ph type="title"/>
          </p:nvPr>
        </p:nvSpPr>
        <p:spPr bwMode="auto">
          <a:xfrm>
            <a:off x="371474" y="76200"/>
            <a:ext cx="85439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 b="1"/>
              <a:t>Experiment </a:t>
            </a:r>
            <a:endParaRPr/>
          </a:p>
        </p:txBody>
      </p:sp>
      <p:pic>
        <p:nvPicPr>
          <p:cNvPr id="700486407" name="Google Shape;543;p1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046747" y="2628038"/>
            <a:ext cx="7050505" cy="36152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762669248" name="Google Shape;544;p14"/>
          <p:cNvSpPr txBox="1"/>
          <p:nvPr/>
        </p:nvSpPr>
        <p:spPr bwMode="auto">
          <a:xfrm>
            <a:off x="2840957" y="6243261"/>
            <a:ext cx="2067925" cy="46162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Change to 100</a:t>
            </a:r>
            <a:endParaRPr/>
          </a:p>
        </p:txBody>
      </p:sp>
      <p:sp>
        <p:nvSpPr>
          <p:cNvPr id="1716958170" name="Google Shape;545;p14"/>
          <p:cNvSpPr/>
          <p:nvPr/>
        </p:nvSpPr>
        <p:spPr bwMode="auto">
          <a:xfrm>
            <a:off x="2153652" y="5924650"/>
            <a:ext cx="601579" cy="461665"/>
          </a:xfrm>
          <a:custGeom>
            <a:avLst/>
            <a:gdLst/>
            <a:ahLst/>
            <a:cxnLst/>
            <a:rect l="l" t="t" r="r" b="b"/>
            <a:pathLst>
              <a:path w="601579" h="215441" fill="norm" stroke="1" extrusionOk="0">
                <a:moveTo>
                  <a:pt x="601579" y="204537"/>
                </a:moveTo>
                <a:cubicBezTo>
                  <a:pt x="411079" y="215565"/>
                  <a:pt x="220579" y="226594"/>
                  <a:pt x="120316" y="192505"/>
                </a:cubicBezTo>
                <a:cubicBezTo>
                  <a:pt x="20053" y="158416"/>
                  <a:pt x="10026" y="79208"/>
                  <a:pt x="0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4196081" name="Google Shape;546;p14"/>
          <p:cNvSpPr txBox="1">
            <a:spLocks noGrp="1"/>
          </p:cNvSpPr>
          <p:nvPr>
            <p:ph type="body" idx="1"/>
          </p:nvPr>
        </p:nvSpPr>
        <p:spPr bwMode="auto">
          <a:xfrm>
            <a:off x="168441" y="902830"/>
            <a:ext cx="8746958" cy="149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•"/>
              <a:defRPr/>
            </a:pPr>
            <a:r>
              <a:rPr lang="en-US" b="1">
                <a:solidFill>
                  <a:srgbClr val="FF0000"/>
                </a:solidFill>
              </a:rPr>
              <a:t>How this C program works…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ts val="2800"/>
              <a:buChar char="–"/>
              <a:defRPr/>
            </a:pPr>
            <a:r>
              <a:rPr lang="en-US"/>
              <a:t>First: change </a:t>
            </a:r>
            <a:r>
              <a:rPr lang="en-US" b="1"/>
              <a:t>delay</a:t>
            </a:r>
            <a:r>
              <a:rPr lang="en-US"/>
              <a:t> from 1 to 100 </a:t>
            </a:r>
            <a:r>
              <a:rPr lang="en-US"/>
              <a:t>ms</a:t>
            </a:r>
            <a:r>
              <a:rPr lang="en-US"/>
              <a:t> </a:t>
            </a:r>
            <a:endParaRPr/>
          </a:p>
          <a:p>
            <a:pPr marL="1200150" lvl="2" indent="-285750">
              <a:spcBef>
                <a:spcPts val="560"/>
              </a:spcBef>
              <a:buClr>
                <a:srgbClr val="366092"/>
              </a:buClr>
              <a:buSzPts val="2800"/>
              <a:buChar char="–"/>
              <a:defRPr/>
            </a:pPr>
            <a:r>
              <a:rPr lang="en-US"/>
              <a:t>makes output slower and easier to read</a:t>
            </a:r>
            <a:endParaRPr/>
          </a:p>
        </p:txBody>
      </p:sp>
      <p:sp>
        <p:nvSpPr>
          <p:cNvPr id="637197447" name="Google Shape;547;p1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  <a:solidFill>
            <a:schemeClr val="accent6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>
                <a:solidFill>
                  <a:srgbClr val="0C0C0C"/>
                </a:solidFill>
                <a:latin typeface="Calibri"/>
                <a:ea typeface="Calibri"/>
                <a:cs typeface="Calibri"/>
              </a:rPr>
              <a:t>Hands On</a:t>
            </a:r>
            <a:endParaRPr sz="2400" b="1" cap="none">
              <a:solidFill>
                <a:srgbClr val="0C0C0C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66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6266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95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1695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38377" name="Google Shape;594;p18"/>
          <p:cNvSpPr txBox="1">
            <a:spLocks noGrp="1"/>
          </p:cNvSpPr>
          <p:nvPr>
            <p:ph type="title"/>
          </p:nvPr>
        </p:nvSpPr>
        <p:spPr bwMode="auto">
          <a:xfrm>
            <a:off x="2045368" y="121351"/>
            <a:ext cx="7117942" cy="74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 sz="4000"/>
              <a:t>Use the Metal Pot</a:t>
            </a:r>
            <a:br>
              <a:rPr lang="en-US" sz="4000"/>
            </a:br>
            <a:r>
              <a:rPr lang="en-US" sz="2800">
                <a:solidFill>
                  <a:schemeClr val="accent6">
                    <a:lumMod val="75000"/>
                  </a:schemeClr>
                </a:solidFill>
              </a:rPr>
              <a:t>(if you have one)</a:t>
            </a:r>
            <a:endParaRPr sz="40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62710145" name="Google Shape;595;p1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rot="3470881">
            <a:off x="864245" y="2467581"/>
            <a:ext cx="1367027" cy="1583391"/>
          </a:xfrm>
          <a:prstGeom prst="rect">
            <a:avLst/>
          </a:prstGeom>
          <a:noFill/>
          <a:ln>
            <a:noFill/>
          </a:ln>
        </p:spPr>
      </p:pic>
      <p:sp>
        <p:nvSpPr>
          <p:cNvPr id="2109582019" name="Google Shape;596;p18"/>
          <p:cNvSpPr/>
          <p:nvPr/>
        </p:nvSpPr>
        <p:spPr bwMode="auto">
          <a:xfrm>
            <a:off x="4815806" y="2487513"/>
            <a:ext cx="123184" cy="165823"/>
          </a:xfrm>
          <a:custGeom>
            <a:avLst/>
            <a:gdLst/>
            <a:ahLst/>
            <a:cxnLst/>
            <a:rect l="l" t="t" r="r" b="b"/>
            <a:pathLst>
              <a:path w="123184" h="165823" fill="norm" stroke="1" extrusionOk="0">
                <a:moveTo>
                  <a:pt x="0" y="18951"/>
                </a:moveTo>
                <a:lnTo>
                  <a:pt x="61592" y="0"/>
                </a:lnTo>
                <a:lnTo>
                  <a:pt x="113708" y="18951"/>
                </a:lnTo>
                <a:lnTo>
                  <a:pt x="123184" y="52116"/>
                </a:lnTo>
                <a:lnTo>
                  <a:pt x="99494" y="56853"/>
                </a:lnTo>
                <a:lnTo>
                  <a:pt x="108970" y="165823"/>
                </a:lnTo>
                <a:lnTo>
                  <a:pt x="56854" y="165823"/>
                </a:lnTo>
                <a:lnTo>
                  <a:pt x="47378" y="37902"/>
                </a:lnTo>
                <a:lnTo>
                  <a:pt x="0" y="1895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8902129" name="Google Shape;597;p18"/>
          <p:cNvSpPr/>
          <p:nvPr/>
        </p:nvSpPr>
        <p:spPr bwMode="auto">
          <a:xfrm>
            <a:off x="4602604" y="2484909"/>
            <a:ext cx="123184" cy="165823"/>
          </a:xfrm>
          <a:custGeom>
            <a:avLst/>
            <a:gdLst/>
            <a:ahLst/>
            <a:cxnLst/>
            <a:rect l="l" t="t" r="r" b="b"/>
            <a:pathLst>
              <a:path w="123184" h="165823" fill="norm" stroke="1" extrusionOk="0">
                <a:moveTo>
                  <a:pt x="0" y="18951"/>
                </a:moveTo>
                <a:lnTo>
                  <a:pt x="61592" y="0"/>
                </a:lnTo>
                <a:lnTo>
                  <a:pt x="113708" y="18951"/>
                </a:lnTo>
                <a:lnTo>
                  <a:pt x="123184" y="52116"/>
                </a:lnTo>
                <a:lnTo>
                  <a:pt x="99494" y="56853"/>
                </a:lnTo>
                <a:lnTo>
                  <a:pt x="108970" y="165823"/>
                </a:lnTo>
                <a:lnTo>
                  <a:pt x="56854" y="165823"/>
                </a:lnTo>
                <a:lnTo>
                  <a:pt x="47378" y="37902"/>
                </a:lnTo>
                <a:lnTo>
                  <a:pt x="0" y="1895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6005118" name="Google Shape;598;p18"/>
          <p:cNvSpPr/>
          <p:nvPr/>
        </p:nvSpPr>
        <p:spPr bwMode="auto">
          <a:xfrm>
            <a:off x="4389402" y="2484909"/>
            <a:ext cx="123184" cy="165823"/>
          </a:xfrm>
          <a:custGeom>
            <a:avLst/>
            <a:gdLst/>
            <a:ahLst/>
            <a:cxnLst/>
            <a:rect l="l" t="t" r="r" b="b"/>
            <a:pathLst>
              <a:path w="123184" h="165823" fill="norm" stroke="1" extrusionOk="0">
                <a:moveTo>
                  <a:pt x="0" y="18951"/>
                </a:moveTo>
                <a:lnTo>
                  <a:pt x="61592" y="0"/>
                </a:lnTo>
                <a:lnTo>
                  <a:pt x="113708" y="18951"/>
                </a:lnTo>
                <a:lnTo>
                  <a:pt x="123184" y="52116"/>
                </a:lnTo>
                <a:lnTo>
                  <a:pt x="99494" y="56853"/>
                </a:lnTo>
                <a:lnTo>
                  <a:pt x="108970" y="165823"/>
                </a:lnTo>
                <a:lnTo>
                  <a:pt x="56854" y="165823"/>
                </a:lnTo>
                <a:lnTo>
                  <a:pt x="47378" y="37902"/>
                </a:lnTo>
                <a:lnTo>
                  <a:pt x="0" y="1895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98173428" name="Google Shape;599;p1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792668" y="1820424"/>
            <a:ext cx="3328949" cy="4542889"/>
          </a:xfrm>
          <a:prstGeom prst="rect">
            <a:avLst/>
          </a:prstGeom>
          <a:noFill/>
          <a:ln>
            <a:noFill/>
          </a:ln>
        </p:spPr>
      </p:pic>
      <p:sp>
        <p:nvSpPr>
          <p:cNvPr id="1603115578" name="Google Shape;600;p18"/>
          <p:cNvSpPr txBox="1"/>
          <p:nvPr/>
        </p:nvSpPr>
        <p:spPr bwMode="auto">
          <a:xfrm>
            <a:off x="327824" y="3997671"/>
            <a:ext cx="261975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Push in hard!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(don’t be gentle)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86065457" name="Google Shape;601;p18"/>
          <p:cNvSpPr/>
          <p:nvPr/>
        </p:nvSpPr>
        <p:spPr bwMode="auto">
          <a:xfrm>
            <a:off x="190705" y="92076"/>
            <a:ext cx="1854662" cy="461624"/>
          </a:xfrm>
          <a:prstGeom prst="rect">
            <a:avLst/>
          </a:prstGeom>
          <a:solidFill>
            <a:schemeClr val="accent6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1439127163" name="Google Shape;603;p18"/>
          <p:cNvSpPr txBox="1"/>
          <p:nvPr/>
        </p:nvSpPr>
        <p:spPr bwMode="auto">
          <a:xfrm>
            <a:off x="132857" y="1176832"/>
            <a:ext cx="20362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Good Pot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2000" b="0" i="1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(courtesy of UW!)</a:t>
            </a: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406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Upload the Sketch</a:t>
            </a:r>
            <a:endParaRPr/>
          </a:p>
        </p:txBody>
      </p:sp>
      <p:sp>
        <p:nvSpPr>
          <p:cNvPr id="1667387278" name="Content Placeholder 2"/>
          <p:cNvSpPr>
            <a:spLocks noGrp="1"/>
          </p:cNvSpPr>
          <p:nvPr>
            <p:ph idx="1"/>
          </p:nvPr>
        </p:nvSpPr>
        <p:spPr bwMode="auto">
          <a:xfrm>
            <a:off x="276447" y="1121460"/>
            <a:ext cx="8414119" cy="4193547"/>
          </a:xfrm>
        </p:spPr>
        <p:txBody>
          <a:bodyPr/>
          <a:lstStyle/>
          <a:p>
            <a:pPr>
              <a:defRPr/>
            </a:pPr>
            <a:r>
              <a:rPr lang="en-US"/>
              <a:t>Turn on Serial Monitor. </a:t>
            </a:r>
            <a:endParaRPr/>
          </a:p>
          <a:p>
            <a:pPr>
              <a:defRPr/>
            </a:pPr>
            <a:r>
              <a:rPr lang="en-US"/>
              <a:t>Rotate the potentiometer</a:t>
            </a:r>
            <a:endParaRPr/>
          </a:p>
          <a:p>
            <a:pPr>
              <a:defRPr/>
            </a:pPr>
            <a:r>
              <a:rPr lang="en-US"/>
              <a:t>Confirm that values range between 0 and 1023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386623369" name="Rectangle 11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6642177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7880" y="1957668"/>
            <a:ext cx="5920119" cy="4045612"/>
          </a:xfrm>
          <a:prstGeom prst="rect">
            <a:avLst/>
          </a:prstGeom>
        </p:spPr>
      </p:pic>
      <p:sp>
        <p:nvSpPr>
          <p:cNvPr id="847551601" name="Title 1"/>
          <p:cNvSpPr>
            <a:spLocks noGrp="1"/>
          </p:cNvSpPr>
          <p:nvPr>
            <p:ph type="title"/>
          </p:nvPr>
        </p:nvSpPr>
        <p:spPr bwMode="auto">
          <a:xfrm>
            <a:off x="457200" y="130259"/>
            <a:ext cx="8229600" cy="591636"/>
          </a:xfrm>
        </p:spPr>
        <p:txBody>
          <a:bodyPr/>
          <a:lstStyle/>
          <a:p>
            <a:pPr>
              <a:defRPr/>
            </a:pPr>
            <a:r>
              <a:rPr lang="en-US"/>
              <a:t>Serial Plotter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1040382314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782041"/>
            <a:ext cx="8229600" cy="1867970"/>
          </a:xfrm>
        </p:spPr>
        <p:txBody>
          <a:bodyPr/>
          <a:lstStyle/>
          <a:p>
            <a:pPr>
              <a:defRPr/>
            </a:pPr>
            <a:r>
              <a:rPr lang="en-US" sz="2000"/>
              <a:t>Exit from Serial Monitor (click the “</a:t>
            </a:r>
            <a:r>
              <a:rPr lang="en-US" sz="2000" b="1"/>
              <a:t>X</a:t>
            </a:r>
            <a:r>
              <a:rPr lang="en-US" sz="2000"/>
              <a:t>” button)</a:t>
            </a:r>
            <a:endParaRPr/>
          </a:p>
          <a:p>
            <a:pPr>
              <a:defRPr/>
            </a:pPr>
            <a:r>
              <a:rPr lang="en-US" sz="2000"/>
              <a:t>Start the Serial Plotter (tools</a:t>
            </a:r>
            <a:endParaRPr/>
          </a:p>
          <a:p>
            <a:pPr>
              <a:defRPr/>
            </a:pPr>
            <a:r>
              <a:rPr lang="en-US" sz="2000"/>
              <a:t>Turn the Potentiometer knob</a:t>
            </a:r>
            <a:endParaRPr/>
          </a:p>
        </p:txBody>
      </p:sp>
      <p:sp>
        <p:nvSpPr>
          <p:cNvPr id="398072198" name="Oval 6"/>
          <p:cNvSpPr/>
          <p:nvPr/>
        </p:nvSpPr>
        <p:spPr bwMode="auto">
          <a:xfrm>
            <a:off x="2212091" y="3657600"/>
            <a:ext cx="3453923" cy="4777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56607601" name="Rectangle 7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684633" name="Google Shape;627;p20"/>
          <p:cNvSpPr txBox="1">
            <a:spLocks noGrp="1"/>
          </p:cNvSpPr>
          <p:nvPr>
            <p:ph type="title"/>
          </p:nvPr>
        </p:nvSpPr>
        <p:spPr bwMode="auto">
          <a:xfrm>
            <a:off x="1266092" y="142290"/>
            <a:ext cx="7420708" cy="78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  <a:defRPr/>
            </a:pPr>
            <a:r>
              <a:rPr lang="en-US"/>
              <a:t>What We Learned</a:t>
            </a:r>
            <a:endParaRPr/>
          </a:p>
        </p:txBody>
      </p:sp>
      <p:sp>
        <p:nvSpPr>
          <p:cNvPr id="948140212" name="Google Shape;628;p20"/>
          <p:cNvSpPr txBox="1">
            <a:spLocks noGrp="1"/>
          </p:cNvSpPr>
          <p:nvPr>
            <p:ph type="body" idx="1"/>
          </p:nvPr>
        </p:nvSpPr>
        <p:spPr bwMode="auto">
          <a:xfrm>
            <a:off x="180473" y="1179096"/>
            <a:ext cx="6439401" cy="477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/>
              <a:t>Arduino can measure a voltage</a:t>
            </a:r>
            <a:endParaRPr sz="280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ts val="2800"/>
              <a:buChar char="–"/>
              <a:defRPr/>
            </a:pPr>
            <a:r>
              <a:rPr lang="en-US" sz="2400"/>
              <a:t>Possibly from a sensor like a photo-resistor</a:t>
            </a:r>
            <a:endParaRPr sz="240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ts val="2800"/>
              <a:buChar char="–"/>
              <a:defRPr/>
            </a:pPr>
            <a:r>
              <a:rPr lang="en-US" sz="2400"/>
              <a:t>Or from a potentiometer </a:t>
            </a:r>
            <a:endParaRPr sz="240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/>
              <a:t>The voltage reading is an integer between 0 and 1023</a:t>
            </a:r>
            <a:endParaRPr sz="280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4F6128"/>
              </a:buClr>
              <a:buSzPts val="3200"/>
              <a:buChar char="•"/>
              <a:defRPr/>
            </a:pPr>
            <a:r>
              <a:rPr lang="en-US" sz="2800" i="1"/>
              <a:t>Now we can write an Arduino program that makes decisions based on the measured value in some intelligent way</a:t>
            </a:r>
            <a:endParaRPr sz="2800" i="1"/>
          </a:p>
        </p:txBody>
      </p:sp>
      <p:pic>
        <p:nvPicPr>
          <p:cNvPr id="281867758" name="Google Shape;687;p26"/>
          <p:cNvPicPr/>
          <p:nvPr/>
        </p:nvPicPr>
        <p:blipFill rotWithShape="1">
          <a:blip r:embed="rId3">
            <a:alphaModFix/>
          </a:blip>
          <a:srcRect l="8164" t="6510" r="25435" b="14198"/>
          <a:stretch/>
        </p:blipFill>
        <p:spPr bwMode="auto">
          <a:xfrm>
            <a:off x="6734203" y="2133600"/>
            <a:ext cx="1952597" cy="259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989357794" name="Rectangle 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 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41971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Pulse Width Modulation (PWM)</a:t>
            </a:r>
            <a:endParaRPr/>
          </a:p>
        </p:txBody>
      </p:sp>
      <p:sp>
        <p:nvSpPr>
          <p:cNvPr id="43093795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Controlling the brightness of an LED or the speed of a motor using </a:t>
            </a:r>
            <a:r>
              <a:rPr lang="en-US" b="1">
                <a:solidFill>
                  <a:srgbClr val="FF0000"/>
                </a:solidFill>
              </a:rPr>
              <a:t>analogWrite()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760899" name="Title 1"/>
          <p:cNvSpPr>
            <a:spLocks noGrp="1"/>
          </p:cNvSpPr>
          <p:nvPr>
            <p:ph type="title"/>
          </p:nvPr>
        </p:nvSpPr>
        <p:spPr bwMode="auto">
          <a:xfrm>
            <a:off x="457200" y="703190"/>
            <a:ext cx="8229600" cy="757031"/>
          </a:xfrm>
        </p:spPr>
        <p:txBody>
          <a:bodyPr/>
          <a:lstStyle/>
          <a:p>
            <a:pPr>
              <a:defRPr/>
            </a:pPr>
            <a:r>
              <a:rPr lang="en-US"/>
              <a:t>analogWrite():  It’s not Analog!</a:t>
            </a:r>
            <a:endParaRPr/>
          </a:p>
        </p:txBody>
      </p:sp>
      <p:sp>
        <p:nvSpPr>
          <p:cNvPr id="2122236033" name="Content Placeholder 2"/>
          <p:cNvSpPr>
            <a:spLocks noGrp="1"/>
          </p:cNvSpPr>
          <p:nvPr>
            <p:ph idx="1"/>
          </p:nvPr>
        </p:nvSpPr>
        <p:spPr bwMode="auto">
          <a:xfrm>
            <a:off x="190705" y="2226469"/>
            <a:ext cx="3835029" cy="326350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/>
              <a:t>analogWrite</a:t>
            </a:r>
            <a:r>
              <a:rPr lang="en-US" sz="2400"/>
              <a:t>(</a:t>
            </a:r>
            <a:r>
              <a:rPr lang="en-US" sz="2400"/>
              <a:t>pinNo</a:t>
            </a:r>
            <a:r>
              <a:rPr lang="en-US" sz="2400"/>
              <a:t>, value);</a:t>
            </a:r>
            <a:endParaRPr/>
          </a:p>
          <a:p>
            <a:pPr>
              <a:defRPr/>
            </a:pPr>
            <a:r>
              <a:rPr lang="en-US" sz="2400"/>
              <a:t>You would think that the output voltage is “</a:t>
            </a:r>
            <a:r>
              <a:rPr lang="en-US" sz="2400" b="1"/>
              <a:t>value</a:t>
            </a:r>
            <a:r>
              <a:rPr lang="en-US" sz="2400"/>
              <a:t>”</a:t>
            </a:r>
            <a:endParaRPr/>
          </a:p>
          <a:p>
            <a:pPr lvl="1">
              <a:defRPr/>
            </a:pPr>
            <a:r>
              <a:rPr lang="en-US" sz="2000"/>
              <a:t>But you’d be wrong</a:t>
            </a:r>
            <a:endParaRPr/>
          </a:p>
          <a:p>
            <a:pPr>
              <a:defRPr/>
            </a:pPr>
            <a:r>
              <a:rPr lang="en-US" sz="2400"/>
              <a:t>Outputs 5V or 0V to </a:t>
            </a:r>
            <a:r>
              <a:rPr lang="en-US" sz="2400" b="1"/>
              <a:t>pinNo</a:t>
            </a:r>
            <a:endParaRPr lang="en-US" sz="2400" b="1"/>
          </a:p>
          <a:p>
            <a:pPr lvl="1">
              <a:defRPr/>
            </a:pPr>
            <a:r>
              <a:rPr lang="en-US" sz="2000"/>
              <a:t>This is a </a:t>
            </a:r>
            <a:r>
              <a:rPr lang="en-US" sz="2000" u="sng"/>
              <a:t>digital</a:t>
            </a:r>
            <a:r>
              <a:rPr lang="en-US" sz="2000"/>
              <a:t> signal</a:t>
            </a:r>
            <a:endParaRPr/>
          </a:p>
          <a:p>
            <a:pPr lvl="1">
              <a:defRPr/>
            </a:pPr>
            <a:r>
              <a:rPr lang="en-US" sz="2000" u="sng"/>
              <a:t>Average</a:t>
            </a:r>
            <a:r>
              <a:rPr lang="en-US" sz="2000"/>
              <a:t> voltage is determined by “value”</a:t>
            </a:r>
            <a:endParaRPr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412582947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67002" y="1940147"/>
            <a:ext cx="3904342" cy="3836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245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PWM Controls </a:t>
            </a:r>
            <a:r>
              <a:rPr lang="en-US" u="sng"/>
              <a:t>Average</a:t>
            </a:r>
            <a:r>
              <a:rPr lang="en-US"/>
              <a:t> Voltage</a:t>
            </a:r>
            <a:endParaRPr/>
          </a:p>
        </p:txBody>
      </p:sp>
      <p:sp>
        <p:nvSpPr>
          <p:cNvPr id="17476942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4038600" cy="370332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marL="0" indent="0">
              <a:buNone/>
              <a:defRPr/>
            </a:pPr>
            <a:r>
              <a:rPr lang="en-US" sz="2400" b="0" i="1">
                <a:latin typeface="Cambria Math"/>
              </a:rPr>
              <a:t>Average Voltage is:</a:t>
            </a:r>
            <a:endParaRPr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𝐴𝑣𝑒𝑟𝑎𝑔𝑒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 =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5∙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b="0" i="1">
                              <a:latin typeface="Cambria Math"/>
                            </a:rPr>
                            <m:t>𝑉𝑎𝑙𝑢𝑒</m:t>
                          </m:r>
                        </m:num>
                        <m:den>
                          <m:r>
                            <m:rPr/>
                            <a:rPr lang="en-US" sz="2400" b="0" i="1">
                              <a:latin typeface="Cambria Math"/>
                            </a:rPr>
                            <m:t>255</m:t>
                          </m:r>
                        </m:den>
                      </m:f>
                      <m:r>
                        <m:rPr/>
                        <a:rPr lang="en-US" sz="2400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𝑉𝑜𝑙𝑡𝑠</m:t>
                      </m:r>
                    </m:oMath>
                  </m:oMathPara>
                </a14:m>
              </mc:Choice>
              <mc:Fallback/>
            </mc:AlternateContent>
            <a:endParaRPr lang="en-US" sz="2800"/>
          </a:p>
          <a:p>
            <a:pPr marL="0" indent="0">
              <a:buNone/>
              <a:defRPr/>
            </a:pPr>
            <a:endParaRPr lang="en-US" sz="2400" u="sng"/>
          </a:p>
        </p:txBody>
      </p:sp>
      <p:sp>
        <p:nvSpPr>
          <p:cNvPr id="669707539" name="Content Placeholder 12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3703321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en-US" sz="2400" u="sng"/>
              <a:t>Examples:</a:t>
            </a:r>
            <a:endParaRPr/>
          </a:p>
          <a:p>
            <a:pPr>
              <a:buFont typeface="+mj-lt"/>
              <a:buAutoNum type="alphaLcPeriod"/>
              <a:defRPr/>
            </a:pPr>
            <a:r>
              <a:rPr lang="en-US" sz="2400"/>
              <a:t>analogWrite</a:t>
            </a:r>
            <a:r>
              <a:rPr lang="en-US" sz="2400"/>
              <a:t>(</a:t>
            </a:r>
            <a:r>
              <a:rPr lang="en-US" sz="2400"/>
              <a:t>pinNo</a:t>
            </a:r>
            <a:r>
              <a:rPr lang="en-US" sz="2400"/>
              <a:t>, 51);</a:t>
            </a:r>
            <a:endParaRPr/>
          </a:p>
          <a:p>
            <a:pPr marL="514350"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𝐴𝑣𝑔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=5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000" i="1">
                              <a:latin typeface="Cambria Math"/>
                            </a:rPr>
                            <m:t>51</m:t>
                          </m:r>
                        </m:num>
                        <m:den>
                          <m:r>
                            <m:rPr/>
                            <a:rPr lang="en-US" sz="2000" i="1">
                              <a:latin typeface="Cambria Math"/>
                            </a:rPr>
                            <m:t>255</m:t>
                          </m:r>
                        </m:den>
                      </m:f>
                      <m:r>
                        <m:rPr/>
                        <a:rPr lang="en-US" sz="2000" i="1">
                          <a:latin typeface="Cambria Math"/>
                        </a:rPr>
                        <m:t>=1 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𝑉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lphaLcPeriod"/>
              <a:defRPr/>
            </a:pPr>
            <a:r>
              <a:rPr lang="en-US" sz="2400"/>
              <a:t>analogWrite</a:t>
            </a:r>
            <a:r>
              <a:rPr lang="en-US" sz="2400"/>
              <a:t>(pinNo,128);</a:t>
            </a:r>
            <a:endParaRPr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𝐴𝑣𝑔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=5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000" i="1">
                              <a:latin typeface="Cambria Math"/>
                            </a:rPr>
                            <m:t>128</m:t>
                          </m:r>
                        </m:num>
                        <m:den>
                          <m:r>
                            <m:rPr/>
                            <a:rPr lang="en-US" sz="2000" i="1">
                              <a:latin typeface="Cambria Math"/>
                            </a:rPr>
                            <m:t>255</m:t>
                          </m:r>
                        </m:den>
                      </m:f>
                      <m:r>
                        <m:rPr/>
                        <a:rPr lang="en-US" sz="2000" i="1">
                          <a:latin typeface="Cambria Math"/>
                        </a:rPr>
                        <m:t>=2.5 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𝑉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lphaLcPeriod"/>
              <a:defRPr/>
            </a:pPr>
            <a:r>
              <a:rPr lang="en-US" sz="2400"/>
              <a:t>analogWrite</a:t>
            </a:r>
            <a:r>
              <a:rPr lang="en-US" sz="2400"/>
              <a:t>(</a:t>
            </a:r>
            <a:r>
              <a:rPr lang="en-US" sz="2400"/>
              <a:t>pinNo</a:t>
            </a:r>
            <a:r>
              <a:rPr lang="en-US" sz="2400"/>
              <a:t>, 204);</a:t>
            </a:r>
            <a:endParaRPr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𝐴𝑣𝑔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=5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000" i="1">
                              <a:latin typeface="Cambria Math"/>
                            </a:rPr>
                            <m:t>204</m:t>
                          </m:r>
                        </m:num>
                        <m:den>
                          <m:r>
                            <m:rPr/>
                            <a:rPr lang="en-US" sz="2000" i="1">
                              <a:latin typeface="Cambria Math"/>
                            </a:rPr>
                            <m:t>255</m:t>
                          </m:r>
                        </m:den>
                      </m:f>
                      <m:r>
                        <m:rPr/>
                        <a:rPr lang="en-US" sz="2000" i="1">
                          <a:latin typeface="Cambria Math"/>
                        </a:rPr>
                        <m:t>=4 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𝑉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45686" name="Title 1"/>
          <p:cNvSpPr>
            <a:spLocks noGrp="1"/>
          </p:cNvSpPr>
          <p:nvPr>
            <p:ph type="title"/>
          </p:nvPr>
        </p:nvSpPr>
        <p:spPr bwMode="auto">
          <a:xfrm>
            <a:off x="813915" y="544275"/>
            <a:ext cx="7752318" cy="594983"/>
          </a:xfrm>
        </p:spPr>
        <p:txBody>
          <a:bodyPr/>
          <a:lstStyle/>
          <a:p>
            <a:pPr>
              <a:defRPr/>
            </a:pPr>
            <a:r>
              <a:rPr lang="en-US"/>
              <a:t>PWM Restrictions</a:t>
            </a:r>
            <a:endParaRPr/>
          </a:p>
        </p:txBody>
      </p:sp>
      <p:sp>
        <p:nvSpPr>
          <p:cNvPr id="1545292253" name="Content Placeholder 2"/>
          <p:cNvSpPr>
            <a:spLocks noGrp="1"/>
          </p:cNvSpPr>
          <p:nvPr>
            <p:ph idx="1"/>
          </p:nvPr>
        </p:nvSpPr>
        <p:spPr bwMode="auto">
          <a:xfrm>
            <a:off x="606391" y="1458918"/>
            <a:ext cx="8470232" cy="2871258"/>
          </a:xfrm>
        </p:spPr>
        <p:txBody>
          <a:bodyPr/>
          <a:lstStyle/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analogWrite</a:t>
            </a:r>
            <a:r>
              <a:rPr lang="en-US" sz="2800">
                <a:solidFill>
                  <a:srgbClr val="FF0000"/>
                </a:solidFill>
              </a:rPr>
              <a:t>(pin, value);</a:t>
            </a:r>
            <a:endParaRPr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0≤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𝑣𝑎𝑙𝑢𝑒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≤255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 lvl="1">
              <a:defRPr/>
            </a:pPr>
            <a:r>
              <a:rPr lang="en-US" sz="2400"/>
              <a:t>Values outside this range give erratic results</a:t>
            </a:r>
            <a:endParaRPr/>
          </a:p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PWM only on Pins: </a:t>
            </a:r>
            <a:r>
              <a:rPr lang="en-US" sz="4000">
                <a:solidFill>
                  <a:srgbClr val="FF0000"/>
                </a:solidFill>
              </a:rPr>
              <a:t>3, 5, 6, 9, 10, and 11!</a:t>
            </a:r>
            <a:endParaRPr/>
          </a:p>
          <a:p>
            <a:pPr lvl="1">
              <a:defRPr/>
            </a:pPr>
            <a:r>
              <a:rPr lang="en-US" sz="2400"/>
              <a:t>Indicated by “~”  (</a:t>
            </a:r>
            <a:r>
              <a:rPr lang="en-US" sz="2400"/>
              <a:t>tildas</a:t>
            </a:r>
            <a:r>
              <a:rPr lang="en-US" sz="2400"/>
              <a:t>)</a:t>
            </a:r>
            <a:endParaRPr/>
          </a:p>
        </p:txBody>
      </p:sp>
      <p:pic>
        <p:nvPicPr>
          <p:cNvPr id="42912879" name="Picture 4"/>
          <p:cNvPicPr>
            <a:picLocks noChangeAspect="1"/>
          </p:cNvPicPr>
          <p:nvPr/>
        </p:nvPicPr>
        <p:blipFill rotWithShape="1">
          <a:blip r:embed="rId3"/>
          <a:srcRect l="0" t="0" r="0" b="23140"/>
          <a:stretch/>
        </p:blipFill>
        <p:spPr bwMode="auto">
          <a:xfrm>
            <a:off x="1915621" y="4590468"/>
            <a:ext cx="4771103" cy="1461260"/>
          </a:xfrm>
          <a:prstGeom prst="rect">
            <a:avLst/>
          </a:prstGeom>
        </p:spPr>
      </p:pic>
      <p:grpSp>
        <p:nvGrpSpPr>
          <p:cNvPr id="1463410887" name="Group 3"/>
          <p:cNvGrpSpPr/>
          <p:nvPr/>
        </p:nvGrpSpPr>
        <p:grpSpPr bwMode="auto">
          <a:xfrm flipV="1">
            <a:off x="3714923" y="4356800"/>
            <a:ext cx="2282313" cy="427703"/>
            <a:chOff x="3799728" y="5186846"/>
            <a:chExt cx="2282313" cy="427703"/>
          </a:xfrm>
        </p:grpSpPr>
        <p:sp>
          <p:nvSpPr>
            <p:cNvPr id="6" name="Arrow: Up 5"/>
            <p:cNvSpPr/>
            <p:nvPr/>
          </p:nvSpPr>
          <p:spPr bwMode="auto">
            <a:xfrm>
              <a:off x="3799728" y="5186846"/>
              <a:ext cx="250723" cy="42770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US" sz="135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Arrow: Up 6"/>
            <p:cNvSpPr/>
            <p:nvPr/>
          </p:nvSpPr>
          <p:spPr bwMode="auto">
            <a:xfrm>
              <a:off x="4050450" y="5186846"/>
              <a:ext cx="250723" cy="42770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US" sz="135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Arrow: Up 7"/>
            <p:cNvSpPr/>
            <p:nvPr/>
          </p:nvSpPr>
          <p:spPr bwMode="auto">
            <a:xfrm>
              <a:off x="4301173" y="5186846"/>
              <a:ext cx="250723" cy="42770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US" sz="135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Arrow: Up 8"/>
            <p:cNvSpPr/>
            <p:nvPr/>
          </p:nvSpPr>
          <p:spPr bwMode="auto">
            <a:xfrm>
              <a:off x="5163954" y="5186846"/>
              <a:ext cx="250723" cy="42770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US" sz="135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Arrow: Up 9"/>
            <p:cNvSpPr/>
            <p:nvPr/>
          </p:nvSpPr>
          <p:spPr bwMode="auto">
            <a:xfrm>
              <a:off x="5385180" y="5186846"/>
              <a:ext cx="250723" cy="42770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US" sz="135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Arrow: Up 10"/>
            <p:cNvSpPr/>
            <p:nvPr/>
          </p:nvSpPr>
          <p:spPr bwMode="auto">
            <a:xfrm>
              <a:off x="5831317" y="5186846"/>
              <a:ext cx="250723" cy="42770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US" sz="1350">
                <a:solidFill>
                  <a:prstClr val="white"/>
                </a:solidFill>
                <a:latin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2195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Try it</a:t>
            </a:r>
            <a:endParaRPr/>
          </a:p>
        </p:txBody>
      </p:sp>
      <p:sp>
        <p:nvSpPr>
          <p:cNvPr id="1242213447" name="Content Placeholder 2"/>
          <p:cNvSpPr>
            <a:spLocks noGrp="1"/>
          </p:cNvSpPr>
          <p:nvPr>
            <p:ph idx="1"/>
          </p:nvPr>
        </p:nvSpPr>
        <p:spPr bwMode="auto">
          <a:xfrm>
            <a:off x="101239" y="1513773"/>
            <a:ext cx="5484078" cy="1958393"/>
          </a:xfrm>
        </p:spPr>
        <p:txBody>
          <a:bodyPr/>
          <a:lstStyle/>
          <a:p>
            <a:pPr>
              <a:defRPr/>
            </a:pPr>
            <a:r>
              <a:rPr lang="en-US" sz="2400"/>
              <a:t>Connect LED + resistor to pin 9</a:t>
            </a:r>
            <a:endParaRPr/>
          </a:p>
          <a:p>
            <a:pPr>
              <a:defRPr/>
            </a:pPr>
            <a:r>
              <a:rPr lang="en-US" sz="2400"/>
              <a:t>Pot to pin A0</a:t>
            </a:r>
            <a:endParaRPr/>
          </a:p>
          <a:p>
            <a:pPr>
              <a:defRPr/>
            </a:pPr>
            <a:r>
              <a:rPr lang="en-US" sz="2400"/>
              <a:t>Use Built-in Example:</a:t>
            </a:r>
            <a:br>
              <a:rPr lang="en-US" sz="2400"/>
            </a:br>
            <a:r>
              <a:rPr lang="en-US" sz="2400" i="1">
                <a:solidFill>
                  <a:srgbClr val="00B050"/>
                </a:solidFill>
              </a:rPr>
              <a:t>Examples–&gt;Analog-&gt;</a:t>
            </a:r>
            <a:r>
              <a:rPr lang="en-US" sz="2400" i="1">
                <a:solidFill>
                  <a:srgbClr val="00B050"/>
                </a:solidFill>
              </a:rPr>
              <a:t>AnalogInOutSerial</a:t>
            </a:r>
            <a:endParaRPr lang="en-US" sz="2400" i="1">
              <a:solidFill>
                <a:srgbClr val="00B050"/>
              </a:solidFill>
            </a:endParaRPr>
          </a:p>
        </p:txBody>
      </p:sp>
      <p:pic>
        <p:nvPicPr>
          <p:cNvPr id="18489434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89824" y="1273678"/>
            <a:ext cx="3352937" cy="4046916"/>
          </a:xfrm>
          <a:prstGeom prst="rect">
            <a:avLst/>
          </a:prstGeom>
        </p:spPr>
      </p:pic>
      <p:pic>
        <p:nvPicPr>
          <p:cNvPr id="1093543729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7200" y="3637769"/>
            <a:ext cx="4301138" cy="18790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79743838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 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29263163" name="TextBox 6"/>
          <p:cNvSpPr txBox="1"/>
          <p:nvPr/>
        </p:nvSpPr>
        <p:spPr bwMode="auto">
          <a:xfrm>
            <a:off x="7639466" y="4981133"/>
            <a:ext cx="463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/>
              <a:t>A0</a:t>
            </a:r>
            <a:endParaRPr/>
          </a:p>
        </p:txBody>
      </p:sp>
      <p:sp>
        <p:nvSpPr>
          <p:cNvPr id="775607708" name="TextBox 7"/>
          <p:cNvSpPr txBox="1"/>
          <p:nvPr/>
        </p:nvSpPr>
        <p:spPr bwMode="auto">
          <a:xfrm>
            <a:off x="7324956" y="30993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/>
              <a:t>9</a:t>
            </a:r>
            <a:endParaRPr/>
          </a:p>
        </p:txBody>
      </p:sp>
      <p:sp>
        <p:nvSpPr>
          <p:cNvPr id="468676578" name="TextBox 8"/>
          <p:cNvSpPr txBox="1"/>
          <p:nvPr/>
        </p:nvSpPr>
        <p:spPr bwMode="auto">
          <a:xfrm>
            <a:off x="6118341" y="495868"/>
            <a:ext cx="2413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 i="1">
                <a:solidFill>
                  <a:srgbClr val="00B0F0"/>
                </a:solidFill>
              </a:rPr>
              <a:t>Perceived</a:t>
            </a:r>
            <a:r>
              <a:rPr lang="en-US" i="1">
                <a:solidFill>
                  <a:srgbClr val="00B0F0"/>
                </a:solidFill>
              </a:rPr>
              <a:t> brightness changes even though voltage is only 0 or 5V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618989" name="Content Placeholder 2"/>
          <p:cNvSpPr>
            <a:spLocks noGrp="1"/>
          </p:cNvSpPr>
          <p:nvPr>
            <p:ph idx="1"/>
          </p:nvPr>
        </p:nvSpPr>
        <p:spPr bwMode="auto">
          <a:xfrm>
            <a:off x="447303" y="3716283"/>
            <a:ext cx="8561943" cy="2809646"/>
          </a:xfrm>
        </p:spPr>
        <p:txBody>
          <a:bodyPr/>
          <a:lstStyle/>
          <a:p>
            <a:pPr>
              <a:defRPr/>
            </a:pPr>
            <a:r>
              <a:rPr lang="en-US" sz="2800"/>
              <a:t>How it works</a:t>
            </a:r>
            <a:endParaRPr/>
          </a:p>
          <a:p>
            <a:pPr lvl="1">
              <a:defRPr/>
            </a:pPr>
            <a:r>
              <a:rPr lang="en-US" sz="2400"/>
              <a:t>Potentiometer:  </a:t>
            </a:r>
            <a:r>
              <a:rPr lang="en-US" sz="2400"/>
              <a:t>sensorValue</a:t>
            </a:r>
            <a:r>
              <a:rPr lang="en-US" sz="2400"/>
              <a:t> is between 0 and 1023</a:t>
            </a:r>
            <a:endParaRPr/>
          </a:p>
          <a:p>
            <a:pPr lvl="1">
              <a:defRPr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Map</a:t>
            </a:r>
            <a:r>
              <a:rPr lang="en-US" sz="2400"/>
              <a:t>: converts value to a number between 0 and 255</a:t>
            </a:r>
            <a:endParaRPr/>
          </a:p>
          <a:p>
            <a:pPr lvl="1">
              <a:defRPr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analogWrite</a:t>
            </a:r>
            <a:r>
              <a:rPr lang="en-US" sz="2400"/>
              <a:t>: Outputs PWM signal to LED</a:t>
            </a:r>
            <a:endParaRPr/>
          </a:p>
          <a:p>
            <a:pPr>
              <a:defRPr/>
            </a:pPr>
            <a:r>
              <a:rPr lang="en-US" sz="2800"/>
              <a:t>PWM is also used to control the speed of dc motors</a:t>
            </a:r>
            <a:endParaRPr/>
          </a:p>
        </p:txBody>
      </p:sp>
      <p:pic>
        <p:nvPicPr>
          <p:cNvPr id="406659388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303" y="878367"/>
            <a:ext cx="7387661" cy="2454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18267144" name="Rectangle 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35999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0070C0"/>
                </a:solidFill>
              </a:rPr>
              <a:t>Using PWM with an RGB LED</a:t>
            </a:r>
            <a:endParaRPr/>
          </a:p>
        </p:txBody>
      </p:sp>
      <p:sp>
        <p:nvSpPr>
          <p:cNvPr id="1377859348" name="Content Placeholder 2"/>
          <p:cNvSpPr>
            <a:spLocks noGrp="1"/>
          </p:cNvSpPr>
          <p:nvPr>
            <p:ph idx="1"/>
          </p:nvPr>
        </p:nvSpPr>
        <p:spPr bwMode="auto">
          <a:xfrm>
            <a:off x="267419" y="1181820"/>
            <a:ext cx="8583283" cy="3832002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/>
              <a:t>What is an RGB LED?</a:t>
            </a:r>
            <a:endParaRPr/>
          </a:p>
          <a:p>
            <a:pPr lvl="1">
              <a:defRPr/>
            </a:pPr>
            <a:r>
              <a:rPr lang="en-US"/>
              <a:t>“LED” = Light Emitting Diode, “RGB” = Red, Green, Blue</a:t>
            </a:r>
            <a:endParaRPr/>
          </a:p>
          <a:p>
            <a:pPr lvl="1">
              <a:defRPr/>
            </a:pPr>
            <a:r>
              <a:rPr lang="en-US"/>
              <a:t>An RGB LED contains a red, green, and blue LED used to create different colors</a:t>
            </a:r>
            <a:endParaRPr/>
          </a:p>
          <a:p>
            <a:pPr lvl="1">
              <a:defRPr/>
            </a:pPr>
            <a:r>
              <a:rPr lang="en-US"/>
              <a:t>A RGB LED has four pins: one for ground and one for each color</a:t>
            </a:r>
            <a:endParaRPr/>
          </a:p>
          <a:p>
            <a:pPr lvl="1">
              <a:defRPr/>
            </a:pPr>
            <a:r>
              <a:rPr lang="en-US"/>
              <a:t>Can think of making colors in a RGB LED like mixing paint</a:t>
            </a:r>
            <a:endParaRPr/>
          </a:p>
        </p:txBody>
      </p:sp>
      <p:pic>
        <p:nvPicPr>
          <p:cNvPr id="125633365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97779" y="4691520"/>
            <a:ext cx="3452923" cy="1322939"/>
          </a:xfrm>
          <a:prstGeom prst="rect">
            <a:avLst/>
          </a:prstGeom>
        </p:spPr>
      </p:pic>
      <p:sp>
        <p:nvSpPr>
          <p:cNvPr id="1872909253" name="TextBox 5"/>
          <p:cNvSpPr txBox="1"/>
          <p:nvPr/>
        </p:nvSpPr>
        <p:spPr bwMode="auto">
          <a:xfrm>
            <a:off x="120385" y="4375185"/>
            <a:ext cx="52773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defRPr/>
            </a:pPr>
            <a:r>
              <a:rPr lang="en-US" sz="1950"/>
              <a:t>Different amounts of red, green, and blue paint can produce different colors. Use different amounts of red, green, and blue light to accomplish the same thing!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23660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0070C0"/>
                </a:solidFill>
              </a:rPr>
              <a:t>What is an RGB LED?</a:t>
            </a:r>
            <a:endParaRPr/>
          </a:p>
        </p:txBody>
      </p:sp>
      <p:sp>
        <p:nvSpPr>
          <p:cNvPr id="191270511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/>
              <a:t>A common way to represent colors is using the RGB triplet. The values can range from 0 to 255, with 255 being the maximum value. For example:</a:t>
            </a:r>
            <a:endParaRPr/>
          </a:p>
          <a:p>
            <a:pPr lvl="1">
              <a:defRPr/>
            </a:pPr>
            <a:r>
              <a:rPr lang="en-US" sz="2350"/>
              <a:t>Red = (255, 0, 0)</a:t>
            </a:r>
            <a:endParaRPr/>
          </a:p>
          <a:p>
            <a:pPr lvl="1">
              <a:defRPr/>
            </a:pPr>
            <a:r>
              <a:rPr lang="en-US" sz="2350"/>
              <a:t>Green = (0, 255, 0)</a:t>
            </a:r>
            <a:endParaRPr/>
          </a:p>
          <a:p>
            <a:pPr lvl="1">
              <a:defRPr/>
            </a:pPr>
            <a:r>
              <a:rPr lang="en-US" sz="2350"/>
              <a:t>Blue = (0, 0, 255)</a:t>
            </a:r>
            <a:endParaRPr/>
          </a:p>
          <a:p>
            <a:pPr lvl="1">
              <a:defRPr/>
            </a:pPr>
            <a:r>
              <a:rPr lang="en-US" sz="2350"/>
              <a:t>Purple = (255, 0, 255)</a:t>
            </a:r>
            <a:endParaRPr/>
          </a:p>
          <a:p>
            <a:pPr lvl="1">
              <a:defRPr/>
            </a:pPr>
            <a:r>
              <a:rPr lang="en-US" sz="2350"/>
              <a:t>White = (255, 255, 255)</a:t>
            </a:r>
            <a:endParaRPr/>
          </a:p>
          <a:p>
            <a:pPr>
              <a:defRPr/>
            </a:pPr>
            <a:r>
              <a:rPr lang="en-US" sz="2650"/>
              <a:t>We can also use PWM to vary the brightness, or amount of light, that gets used to create each color → different shades</a:t>
            </a:r>
            <a:endParaRPr/>
          </a:p>
          <a:p>
            <a:pPr lvl="1">
              <a:defRPr/>
            </a:pPr>
            <a:r>
              <a:rPr lang="en-US" sz="2350"/>
              <a:t>To keep it simple we will only use PWM to vary the brightness of the LED and not create different shades in this module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85051026" name="Pictur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37741" y="2707734"/>
            <a:ext cx="1570013" cy="1560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507889" name="Content Placeholder 4"/>
          <p:cNvSpPr>
            <a:spLocks noGrp="1"/>
          </p:cNvSpPr>
          <p:nvPr>
            <p:ph idx="1"/>
          </p:nvPr>
        </p:nvSpPr>
        <p:spPr bwMode="auto">
          <a:xfrm>
            <a:off x="267419" y="1788607"/>
            <a:ext cx="8583283" cy="4005141"/>
          </a:xfrm>
          <a:prstGeom prst="rect">
            <a:avLst/>
          </a:prstGeom>
          <a:solidFill>
            <a:srgbClr val="EAEAEA"/>
          </a:solidFill>
        </p:spPr>
        <p:txBody>
          <a:bodyPr/>
          <a:lstStyle/>
          <a:p>
            <a:pPr>
              <a:defRPr/>
            </a:pPr>
            <a:r>
              <a:rPr lang="en-US"/>
              <a:t>Objective:</a:t>
            </a:r>
            <a:endParaRPr/>
          </a:p>
          <a:p>
            <a:pPr lvl="1">
              <a:defRPr/>
            </a:pPr>
            <a:r>
              <a:rPr lang="en-US"/>
              <a:t>Build simple circuit using the RGB LED</a:t>
            </a:r>
            <a:endParaRPr/>
          </a:p>
          <a:p>
            <a:pPr lvl="1">
              <a:defRPr/>
            </a:pPr>
            <a:r>
              <a:rPr lang="en-US"/>
              <a:t>Use PWM to cycle through various colors on the RGB LED</a:t>
            </a:r>
            <a:endParaRPr/>
          </a:p>
        </p:txBody>
      </p:sp>
      <p:sp>
        <p:nvSpPr>
          <p:cNvPr id="1133550152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 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905440" name="Title 1"/>
          <p:cNvSpPr>
            <a:spLocks noGrp="1"/>
          </p:cNvSpPr>
          <p:nvPr>
            <p:ph type="title"/>
          </p:nvPr>
        </p:nvSpPr>
        <p:spPr bwMode="auto">
          <a:xfrm>
            <a:off x="453788" y="699239"/>
            <a:ext cx="8229600" cy="46973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solidFill>
                  <a:srgbClr val="0070C0"/>
                </a:solidFill>
              </a:rPr>
              <a:t>Build this Circuit</a:t>
            </a:r>
            <a:endParaRPr/>
          </a:p>
        </p:txBody>
      </p:sp>
      <p:sp>
        <p:nvSpPr>
          <p:cNvPr id="1972719811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608605"/>
            <a:ext cx="8229600" cy="3629577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 marL="342900" lvl="1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49945057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3788" y="1517837"/>
            <a:ext cx="4647116" cy="3651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9742260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699655" y="4091550"/>
            <a:ext cx="2806314" cy="1075200"/>
          </a:xfrm>
          <a:prstGeom prst="rect">
            <a:avLst/>
          </a:prstGeom>
        </p:spPr>
      </p:pic>
      <p:sp>
        <p:nvSpPr>
          <p:cNvPr id="1975101868" name="Content Placeholder 2"/>
          <p:cNvSpPr txBox="1"/>
          <p:nvPr/>
        </p:nvSpPr>
        <p:spPr bwMode="auto">
          <a:xfrm>
            <a:off x="5312391" y="1722904"/>
            <a:ext cx="3488709" cy="20822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/>
              <a:t>The longest pin on the RGB LED is the GND</a:t>
            </a:r>
            <a:endParaRPr/>
          </a:p>
          <a:p>
            <a:pPr>
              <a:defRPr/>
            </a:pPr>
            <a:r>
              <a:rPr lang="en-US" sz="2400"/>
              <a:t>Use the picture below to distinguish which pin controls with color </a:t>
            </a:r>
            <a:endParaRPr/>
          </a:p>
          <a:p>
            <a:pPr>
              <a:defRPr/>
            </a:pPr>
            <a:endParaRPr lang="en-US" sz="2400"/>
          </a:p>
          <a:p>
            <a:pPr>
              <a:defRPr/>
            </a:pPr>
            <a:endParaRPr lang="en-US" sz="2400"/>
          </a:p>
        </p:txBody>
      </p:sp>
      <p:sp>
        <p:nvSpPr>
          <p:cNvPr id="1371336473" name="Rectangle 6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 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057850" name="Title 1"/>
          <p:cNvSpPr>
            <a:spLocks noGrp="1"/>
          </p:cNvSpPr>
          <p:nvPr>
            <p:ph type="title"/>
          </p:nvPr>
        </p:nvSpPr>
        <p:spPr bwMode="auto">
          <a:xfrm>
            <a:off x="6178731" y="934333"/>
            <a:ext cx="2636440" cy="699397"/>
          </a:xfrm>
        </p:spPr>
        <p:txBody>
          <a:bodyPr/>
          <a:lstStyle/>
          <a:p>
            <a:pPr>
              <a:defRPr/>
            </a:pPr>
            <a:r>
              <a:rPr lang="en-US" sz="2400"/>
              <a:t>Your Assignment</a:t>
            </a:r>
            <a:r>
              <a:rPr lang="en-US" sz="3200"/>
              <a:t>:</a:t>
            </a:r>
            <a:endParaRPr/>
          </a:p>
        </p:txBody>
      </p:sp>
      <p:sp>
        <p:nvSpPr>
          <p:cNvPr id="1346933361" name="TextBox 4"/>
          <p:cNvSpPr txBox="1"/>
          <p:nvPr/>
        </p:nvSpPr>
        <p:spPr bwMode="auto">
          <a:xfrm>
            <a:off x="6333228" y="1696449"/>
            <a:ext cx="2481943" cy="3785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u="sng"/>
              <a:t>Open </a:t>
            </a:r>
            <a:r>
              <a:rPr lang="en-US" sz="2400" u="sng">
                <a:solidFill>
                  <a:srgbClr val="FF0000"/>
                </a:solidFill>
              </a:rPr>
              <a:t>RGB_LED.ino</a:t>
            </a:r>
            <a:r>
              <a:rPr lang="en-US" sz="2400" u="sng"/>
              <a:t> from Templates folder</a:t>
            </a:r>
            <a:endParaRPr lang="en-US" sz="2400"/>
          </a:p>
          <a:p>
            <a:pPr marL="342900" indent="-342900">
              <a:buFont typeface="Arial"/>
              <a:buChar char="•"/>
              <a:defRPr/>
            </a:pPr>
            <a:r>
              <a:rPr lang="en-US" sz="2400"/>
              <a:t>Edit it to increase and decrease the value on the Red LED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Does it do what you expected?</a:t>
            </a:r>
            <a:endParaRPr/>
          </a:p>
        </p:txBody>
      </p:sp>
      <p:sp>
        <p:nvSpPr>
          <p:cNvPr id="349277092" name="Rectangle 5"/>
          <p:cNvSpPr/>
          <p:nvPr/>
        </p:nvSpPr>
        <p:spPr bwMode="auto">
          <a:xfrm>
            <a:off x="391886" y="104639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799526821" name="TextBox 6"/>
          <p:cNvSpPr txBox="1"/>
          <p:nvPr/>
        </p:nvSpPr>
        <p:spPr bwMode="auto">
          <a:xfrm>
            <a:off x="391886" y="1020505"/>
            <a:ext cx="5786845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void</a:t>
            </a:r>
            <a:r>
              <a:rPr lang="en-US"/>
              <a:t> 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loop</a:t>
            </a:r>
            <a:r>
              <a:rPr lang="en-US"/>
              <a:t>() {</a:t>
            </a:r>
            <a:endParaRPr/>
          </a:p>
          <a:p>
            <a:pPr>
              <a:defRPr/>
            </a:pPr>
            <a:r>
              <a:rPr lang="en-US"/>
              <a:t>  // Write code that increases the red pin </a:t>
            </a:r>
            <a:endParaRPr/>
          </a:p>
          <a:p>
            <a:pPr>
              <a:defRPr/>
            </a:pPr>
            <a:r>
              <a:rPr lang="en-US"/>
              <a:t>  // from 0 to max brightness then decreases </a:t>
            </a:r>
            <a:endParaRPr/>
          </a:p>
          <a:p>
            <a:pPr>
              <a:defRPr/>
            </a:pPr>
            <a:r>
              <a:rPr lang="en-US"/>
              <a:t>  // it to 0.  This will cause the LED to flash red</a:t>
            </a:r>
            <a:endParaRPr/>
          </a:p>
          <a:p>
            <a:pPr>
              <a:defRPr/>
            </a:pPr>
            <a:r>
              <a:rPr lang="en-US"/>
              <a:t>  // increment/decrement by 5 </a:t>
            </a:r>
            <a:endParaRPr/>
          </a:p>
          <a:p>
            <a:pPr>
              <a:defRPr/>
            </a:pP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 for</a:t>
            </a:r>
            <a:r>
              <a:rPr lang="en-US"/>
              <a:t> (outputValue = 0; outputValue &lt; 256; outputValue +=5)</a:t>
            </a:r>
            <a:endParaRPr/>
          </a:p>
          <a:p>
            <a:pPr>
              <a:defRPr/>
            </a:pPr>
            <a:r>
              <a:rPr lang="en-US"/>
              <a:t>  {</a:t>
            </a:r>
            <a:endParaRPr/>
          </a:p>
          <a:p>
            <a:pPr>
              <a:defRPr/>
            </a:pPr>
            <a:r>
              <a:rPr lang="en-US"/>
              <a:t>   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analogWrite</a:t>
            </a:r>
            <a:r>
              <a:rPr lang="en-US"/>
              <a:t>(analogOutRed, outputValue);</a:t>
            </a:r>
            <a:endParaRPr/>
          </a:p>
          <a:p>
            <a:pPr>
              <a:defRPr/>
            </a:pPr>
            <a:r>
              <a:rPr lang="en-US"/>
              <a:t>   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delay</a:t>
            </a:r>
            <a:r>
              <a:rPr lang="en-US"/>
              <a:t>(10);</a:t>
            </a:r>
            <a:endParaRPr/>
          </a:p>
          <a:p>
            <a:pPr>
              <a:defRPr/>
            </a:pPr>
            <a:r>
              <a:rPr lang="en-US"/>
              <a:t>  }</a:t>
            </a:r>
            <a:endParaRPr/>
          </a:p>
          <a:p>
            <a:pPr>
              <a:defRPr/>
            </a:pPr>
            <a:r>
              <a:rPr lang="en-US"/>
              <a:t>  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for</a:t>
            </a:r>
            <a:r>
              <a:rPr lang="en-US"/>
              <a:t> (outputValue = 255; outputValue &gt;=0; outputValue -=5)</a:t>
            </a:r>
            <a:endParaRPr/>
          </a:p>
          <a:p>
            <a:pPr>
              <a:defRPr/>
            </a:pPr>
            <a:r>
              <a:rPr lang="en-US"/>
              <a:t>  {</a:t>
            </a:r>
            <a:endParaRPr/>
          </a:p>
          <a:p>
            <a:pPr>
              <a:defRPr/>
            </a:pPr>
            <a:r>
              <a:rPr lang="en-US"/>
              <a:t>   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analogWrite</a:t>
            </a:r>
            <a:r>
              <a:rPr lang="en-US"/>
              <a:t>(analogOutRed, outputValue);</a:t>
            </a:r>
            <a:endParaRPr/>
          </a:p>
          <a:p>
            <a:pPr>
              <a:defRPr/>
            </a:pPr>
            <a:r>
              <a:rPr lang="en-US"/>
              <a:t>   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delay</a:t>
            </a:r>
            <a:r>
              <a:rPr lang="en-US"/>
              <a:t>(10);</a:t>
            </a:r>
            <a:endParaRPr/>
          </a:p>
          <a:p>
            <a:pPr>
              <a:defRPr/>
            </a:pPr>
            <a:r>
              <a:rPr lang="en-US"/>
              <a:t>  }</a:t>
            </a:r>
            <a:endParaRPr/>
          </a:p>
          <a:p>
            <a:pPr>
              <a:defRPr/>
            </a:pPr>
            <a:r>
              <a:rPr lang="en-US"/>
              <a:t>}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552676" name="Rectangle 5"/>
          <p:cNvSpPr/>
          <p:nvPr/>
        </p:nvSpPr>
        <p:spPr bwMode="auto">
          <a:xfrm>
            <a:off x="391886" y="104639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1241615828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RGB LED code</a:t>
            </a:r>
            <a:endParaRPr/>
          </a:p>
        </p:txBody>
      </p:sp>
      <p:sp>
        <p:nvSpPr>
          <p:cNvPr id="817580803" name="Content Placeholder 3"/>
          <p:cNvSpPr>
            <a:spLocks noGrp="1"/>
          </p:cNvSpPr>
          <p:nvPr>
            <p:ph idx="1"/>
          </p:nvPr>
        </p:nvSpPr>
        <p:spPr bwMode="auto">
          <a:xfrm>
            <a:off x="267419" y="957533"/>
            <a:ext cx="8583283" cy="5064444"/>
          </a:xfrm>
        </p:spPr>
        <p:txBody>
          <a:bodyPr/>
          <a:lstStyle/>
          <a:p>
            <a:pPr>
              <a:defRPr/>
            </a:pPr>
            <a:r>
              <a:rPr lang="en-US" sz="2400"/>
              <a:t>The block of code we created will cause the RGB LED to flash red on and off.</a:t>
            </a:r>
            <a:endParaRPr/>
          </a:p>
          <a:p>
            <a:pPr>
              <a:defRPr/>
            </a:pPr>
            <a:r>
              <a:rPr lang="en-US" sz="2400"/>
              <a:t>Now duplicate the code so that the RGB LED will also cycle through green and blue.</a:t>
            </a:r>
            <a:endParaRPr/>
          </a:p>
          <a:p>
            <a:pPr>
              <a:defRPr/>
            </a:pPr>
            <a:r>
              <a:rPr lang="en-US" sz="2400" b="1"/>
              <a:t>Challenge:</a:t>
            </a:r>
            <a:r>
              <a:rPr lang="en-US" sz="2400"/>
              <a:t> add some more colors to the forever loop by changing which Color Pins are changed by PWM.  You can view the full code in the completed code directory.</a:t>
            </a:r>
            <a:endParaRPr/>
          </a:p>
          <a:p>
            <a:pPr>
              <a:defRPr/>
            </a:pPr>
            <a:r>
              <a:rPr lang="en-US" sz="2400" b="1"/>
              <a:t>Hint:</a:t>
            </a:r>
            <a:r>
              <a:rPr lang="en-US" sz="2400"/>
              <a:t> The color combinations that we can create are:</a:t>
            </a:r>
            <a:endParaRPr/>
          </a:p>
          <a:p>
            <a:pPr lvl="1">
              <a:defRPr/>
            </a:pPr>
            <a:r>
              <a:rPr lang="en-US" sz="2000"/>
              <a:t>Yellow → (255, 255, 0)</a:t>
            </a:r>
            <a:endParaRPr/>
          </a:p>
          <a:p>
            <a:pPr lvl="1">
              <a:defRPr/>
            </a:pPr>
            <a:r>
              <a:rPr lang="en-US" sz="2000"/>
              <a:t>Purple → (255, 0, 255)</a:t>
            </a:r>
            <a:endParaRPr/>
          </a:p>
          <a:p>
            <a:pPr lvl="1">
              <a:defRPr/>
            </a:pPr>
            <a:r>
              <a:rPr lang="en-US" sz="2000"/>
              <a:t>Teal → (0, 255, 255)</a:t>
            </a:r>
            <a:endParaRPr/>
          </a:p>
          <a:p>
            <a:pPr lvl="1">
              <a:defRPr/>
            </a:pPr>
            <a:r>
              <a:rPr lang="en-US" sz="2000"/>
              <a:t>White → (255, 255, 255)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1260545379" name="Pictur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32909" y="4294507"/>
            <a:ext cx="1228703" cy="1220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130882" name="Title 1"/>
          <p:cNvSpPr>
            <a:spLocks noGrp="1"/>
          </p:cNvSpPr>
          <p:nvPr>
            <p:ph type="ctrTitle"/>
          </p:nvPr>
        </p:nvSpPr>
        <p:spPr bwMode="auto">
          <a:xfrm>
            <a:off x="457200" y="1219200"/>
            <a:ext cx="8229599" cy="1470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i="1">
                <a:solidFill>
                  <a:schemeClr val="tx2">
                    <a:lumMod val="60000"/>
                    <a:lumOff val="40000"/>
                  </a:schemeClr>
                </a:solidFill>
              </a:rPr>
              <a:t>Practical Use of </a:t>
            </a:r>
            <a:r>
              <a:rPr lang="en-US" i="1">
                <a:solidFill>
                  <a:schemeClr val="tx2">
                    <a:lumMod val="60000"/>
                    <a:lumOff val="40000"/>
                  </a:schemeClr>
                </a:solidFill>
              </a:rPr>
              <a:t>analogInput</a:t>
            </a:r>
            <a:r>
              <a:rPr lang="en-US" i="1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br>
              <a:rPr lang="en-US" b="1"/>
            </a:br>
            <a:r>
              <a:rPr lang="en-US" b="1"/>
              <a:t>Make a Voltmeter and an Ohm meter</a:t>
            </a:r>
            <a:endParaRPr/>
          </a:p>
        </p:txBody>
      </p:sp>
      <p:sp>
        <p:nvSpPr>
          <p:cNvPr id="1071530907" name="Subtitle 3"/>
          <p:cNvSpPr>
            <a:spLocks noGrp="1"/>
          </p:cNvSpPr>
          <p:nvPr>
            <p:ph type="subTitle" idx="1"/>
          </p:nvPr>
        </p:nvSpPr>
        <p:spPr bwMode="auto">
          <a:xfrm>
            <a:off x="372979" y="3486778"/>
            <a:ext cx="8229600" cy="1752599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/>
              <a:t>Converting ADC value (0 to 1023) into a physically  meaningful number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/>
              <a:t>Learning about Floating Point variables</a:t>
            </a:r>
            <a:endParaRPr/>
          </a:p>
        </p:txBody>
      </p:sp>
      <p:sp>
        <p:nvSpPr>
          <p:cNvPr id="329181180" name="TextBox 2"/>
          <p:cNvSpPr txBox="1"/>
          <p:nvPr/>
        </p:nvSpPr>
        <p:spPr bwMode="auto">
          <a:xfrm>
            <a:off x="1998794" y="297204"/>
            <a:ext cx="5146409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Optional Projects if We Have Time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510321" name="Rectangle 13"/>
          <p:cNvSpPr/>
          <p:nvPr/>
        </p:nvSpPr>
        <p:spPr bwMode="auto">
          <a:xfrm>
            <a:off x="0" y="5887284"/>
            <a:ext cx="9143999" cy="1131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76522448" name="Title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Convert </a:t>
            </a:r>
            <a:r>
              <a:rPr lang="en-US" i="1" u="sng">
                <a:solidFill>
                  <a:srgbClr val="00B0F0"/>
                </a:solidFill>
              </a:rPr>
              <a:t>analogRead</a:t>
            </a:r>
            <a:r>
              <a:rPr lang="en-US" i="1" u="sng">
                <a:solidFill>
                  <a:srgbClr val="00B0F0"/>
                </a:solidFill>
              </a:rPr>
              <a:t>()</a:t>
            </a:r>
            <a:r>
              <a:rPr lang="en-US" i="1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to Volts</a:t>
            </a:r>
            <a:endParaRPr/>
          </a:p>
        </p:txBody>
      </p:sp>
      <p:sp>
        <p:nvSpPr>
          <p:cNvPr id="536551084" name="Content Placeholder 2"/>
          <p:cNvSpPr>
            <a:spLocks noGrp="1"/>
          </p:cNvSpPr>
          <p:nvPr>
            <p:ph idx="1"/>
          </p:nvPr>
        </p:nvSpPr>
        <p:spPr bwMode="auto">
          <a:xfrm>
            <a:off x="551792" y="1083087"/>
            <a:ext cx="8229600" cy="1881511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800" b="0">
                <a:solidFill>
                  <a:srgbClr val="0070C0"/>
                </a:solidFill>
                <a:latin typeface="Cambria Math"/>
              </a:rPr>
              <a:t>We know that:</a:t>
            </a:r>
            <a:r>
              <a:rPr lang="en-US" sz="2800" b="0">
                <a:solidFill>
                  <a:srgbClr val="00B050"/>
                </a:solidFill>
                <a:latin typeface="Cambria Math"/>
              </a:rPr>
              <a:t>         </a:t>
            </a:r>
            <a:r>
              <a:rPr lang="en-US" sz="2800" b="0" i="1">
                <a:solidFill>
                  <a:srgbClr val="00B050"/>
                </a:solidFill>
                <a:latin typeface="Cambria Math"/>
              </a:rPr>
              <a:t>0 </a:t>
            </a:r>
            <a:r>
              <a:rPr lang="en-US" sz="2800" i="1">
                <a:solidFill>
                  <a:srgbClr val="00B050"/>
                </a:solidFill>
                <a:latin typeface="Cambria Math"/>
              </a:rPr>
              <a:t>≤ </a:t>
            </a:r>
            <a:r>
              <a:rPr lang="en-US" sz="2800" i="1">
                <a:solidFill>
                  <a:srgbClr val="00B050"/>
                </a:solidFill>
                <a:latin typeface="Cambria Math"/>
              </a:rPr>
              <a:t>analogRead</a:t>
            </a:r>
            <a:r>
              <a:rPr lang="en-US" sz="2800" i="1">
                <a:solidFill>
                  <a:srgbClr val="00B050"/>
                </a:solidFill>
                <a:latin typeface="Cambria Math"/>
              </a:rPr>
              <a:t> ≤ 1023</a:t>
            </a:r>
            <a:endParaRPr/>
          </a:p>
          <a:p>
            <a:pPr marL="0" indent="0">
              <a:buNone/>
              <a:defRPr/>
            </a:pPr>
            <a:r>
              <a:rPr lang="en-US" sz="2800">
                <a:solidFill>
                  <a:srgbClr val="0070C0"/>
                </a:solidFill>
                <a:latin typeface="Cambria Math"/>
              </a:rPr>
              <a:t>Let’s Convert it to: </a:t>
            </a:r>
            <a:r>
              <a:rPr lang="en-US" sz="2800" i="1">
                <a:solidFill>
                  <a:srgbClr val="00B050"/>
                </a:solidFill>
                <a:latin typeface="Cambria Math"/>
              </a:rPr>
              <a:t>0 ≤ Voltage ≤ 5</a:t>
            </a:r>
            <a:endParaRPr/>
          </a:p>
          <a:p>
            <a:pPr marL="0" indent="0">
              <a:buNone/>
              <a:defRPr/>
            </a:pPr>
            <a:r>
              <a:rPr lang="en-US" sz="2800">
                <a:solidFill>
                  <a:srgbClr val="0070C0"/>
                </a:solidFill>
              </a:rPr>
              <a:t>Formula:                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800">
                          <a:solidFill>
                            <a:srgbClr val="00B050"/>
                          </a:solidFill>
                          <a:latin typeface="Cambria Math"/>
                        </a:rPr>
                        <m:t>𝑉𝑜𝑙𝑡𝑎𝑔𝑒</m:t>
                      </m:r>
                      <m:r>
                        <m:rPr/>
                        <a:rPr lang="en-US" sz="280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80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en-US" sz="280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1023</m:t>
                          </m:r>
                        </m:den>
                      </m:f>
                      <m:r>
                        <m:rPr/>
                        <a:rPr lang="en-US" sz="2800">
                          <a:solidFill>
                            <a:srgbClr val="00B050"/>
                          </a:solidFill>
                          <a:latin typeface="Cambria Math"/>
                        </a:rPr>
                        <m:t>×</m:t>
                      </m:r>
                      <m:r>
                        <m:rPr/>
                        <a:rPr lang="en-US" sz="2800">
                          <a:solidFill>
                            <a:srgbClr val="00B050"/>
                          </a:solidFill>
                          <a:latin typeface="Cambria Math"/>
                        </a:rPr>
                        <m:t>𝑎𝑛𝑎𝑙𝑜𝑔𝑅𝑒𝑎𝑑</m:t>
                      </m:r>
                    </m:oMath>
                  </m:oMathPara>
                </a14:m>
              </mc:Choice>
              <mc:Fallback/>
            </mc:AlternateContent>
            <a:endParaRPr lang="en-US" sz="2800">
              <a:solidFill>
                <a:srgbClr val="0070C0"/>
              </a:solidFill>
              <a:latin typeface="Cambria Math"/>
            </a:endParaRPr>
          </a:p>
        </p:txBody>
      </p:sp>
      <p:sp>
        <p:nvSpPr>
          <p:cNvPr id="1900577125" name="Freeform 3"/>
          <p:cNvSpPr/>
          <p:nvPr/>
        </p:nvSpPr>
        <p:spPr bwMode="auto">
          <a:xfrm>
            <a:off x="2664373" y="2895600"/>
            <a:ext cx="4193627" cy="2711668"/>
          </a:xfrm>
          <a:custGeom>
            <a:avLst/>
            <a:gdLst>
              <a:gd name="connsiteX0" fmla="*/ 0 w 4193627"/>
              <a:gd name="connsiteY0" fmla="*/ 0 h 2711669"/>
              <a:gd name="connsiteX1" fmla="*/ 0 w 4193627"/>
              <a:gd name="connsiteY1" fmla="*/ 2711669 h 2711669"/>
              <a:gd name="connsiteX2" fmla="*/ 4193627 w 4193627"/>
              <a:gd name="connsiteY2" fmla="*/ 2711669 h 2711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3627" h="2711669" fill="norm" stroke="1" extrusionOk="0">
                <a:moveTo>
                  <a:pt x="0" y="0"/>
                </a:moveTo>
                <a:lnTo>
                  <a:pt x="0" y="2711669"/>
                </a:lnTo>
                <a:lnTo>
                  <a:pt x="4193627" y="2711669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80280472" name="Freeform 4"/>
          <p:cNvSpPr/>
          <p:nvPr/>
        </p:nvSpPr>
        <p:spPr bwMode="auto">
          <a:xfrm>
            <a:off x="2681665" y="3341154"/>
            <a:ext cx="3279228" cy="2222938"/>
          </a:xfrm>
          <a:custGeom>
            <a:avLst/>
            <a:gdLst>
              <a:gd name="connsiteX0" fmla="*/ 0 w 3279228"/>
              <a:gd name="connsiteY0" fmla="*/ 2222938 h 2222938"/>
              <a:gd name="connsiteX1" fmla="*/ 3279228 w 3279228"/>
              <a:gd name="connsiteY1" fmla="*/ 0 h 222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79228" h="2222938" fill="norm" stroke="1" extrusionOk="0">
                <a:moveTo>
                  <a:pt x="0" y="2222938"/>
                </a:moveTo>
                <a:lnTo>
                  <a:pt x="3279228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62137378" name="TextBox 5"/>
          <p:cNvSpPr txBox="1"/>
          <p:nvPr/>
        </p:nvSpPr>
        <p:spPr bwMode="auto">
          <a:xfrm>
            <a:off x="3088941" y="5811085"/>
            <a:ext cx="23805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analogRead</a:t>
            </a: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 value</a:t>
            </a:r>
            <a:endParaRPr/>
          </a:p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1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(we have this)</a:t>
            </a:r>
            <a:endParaRPr/>
          </a:p>
        </p:txBody>
      </p:sp>
      <p:sp>
        <p:nvSpPr>
          <p:cNvPr id="995370956" name="TextBox 6"/>
          <p:cNvSpPr txBox="1"/>
          <p:nvPr/>
        </p:nvSpPr>
        <p:spPr bwMode="auto">
          <a:xfrm>
            <a:off x="2558655" y="55824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0</a:t>
            </a:r>
            <a:endParaRPr/>
          </a:p>
        </p:txBody>
      </p:sp>
      <p:sp>
        <p:nvSpPr>
          <p:cNvPr id="387672016" name="TextBox 7"/>
          <p:cNvSpPr txBox="1"/>
          <p:nvPr/>
        </p:nvSpPr>
        <p:spPr bwMode="auto">
          <a:xfrm>
            <a:off x="5603541" y="558248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1023</a:t>
            </a:r>
            <a:endParaRPr/>
          </a:p>
        </p:txBody>
      </p:sp>
      <p:sp>
        <p:nvSpPr>
          <p:cNvPr id="197239445" name="TextBox 8"/>
          <p:cNvSpPr txBox="1"/>
          <p:nvPr/>
        </p:nvSpPr>
        <p:spPr bwMode="auto">
          <a:xfrm rot="16199999">
            <a:off x="458639" y="4058451"/>
            <a:ext cx="28266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Actual Voltage (volts)</a:t>
            </a:r>
            <a:endParaRPr/>
          </a:p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1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(we want this)</a:t>
            </a:r>
            <a:endParaRPr/>
          </a:p>
        </p:txBody>
      </p:sp>
      <p:sp>
        <p:nvSpPr>
          <p:cNvPr id="2107662335" name="TextBox 9"/>
          <p:cNvSpPr txBox="1"/>
          <p:nvPr/>
        </p:nvSpPr>
        <p:spPr bwMode="auto">
          <a:xfrm>
            <a:off x="2256969" y="53486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0</a:t>
            </a:r>
            <a:endParaRPr/>
          </a:p>
        </p:txBody>
      </p:sp>
      <p:sp>
        <p:nvSpPr>
          <p:cNvPr id="2024256267" name="TextBox 10"/>
          <p:cNvSpPr txBox="1"/>
          <p:nvPr/>
        </p:nvSpPr>
        <p:spPr bwMode="auto">
          <a:xfrm>
            <a:off x="2256969" y="30348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5</a:t>
            </a:r>
            <a:endParaRPr/>
          </a:p>
        </p:txBody>
      </p:sp>
      <p:sp>
        <p:nvSpPr>
          <p:cNvPr id="1818429188" name="Freeform 11"/>
          <p:cNvSpPr/>
          <p:nvPr/>
        </p:nvSpPr>
        <p:spPr bwMode="auto">
          <a:xfrm>
            <a:off x="2776258" y="3356919"/>
            <a:ext cx="3105807" cy="0"/>
          </a:xfrm>
          <a:custGeom>
            <a:avLst/>
            <a:gdLst>
              <a:gd name="connsiteX0" fmla="*/ 3105807 w 3105807"/>
              <a:gd name="connsiteY0" fmla="*/ 0 h 0"/>
              <a:gd name="connsiteX1" fmla="*/ 0 w 310580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05807" fill="norm" stroke="1" extrusionOk="0">
                <a:moveTo>
                  <a:pt x="3105807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79112221" name="Freeform 12"/>
          <p:cNvSpPr/>
          <p:nvPr/>
        </p:nvSpPr>
        <p:spPr bwMode="auto">
          <a:xfrm>
            <a:off x="5913596" y="3356919"/>
            <a:ext cx="0" cy="2191407"/>
          </a:xfrm>
          <a:custGeom>
            <a:avLst/>
            <a:gdLst>
              <a:gd name="connsiteX0" fmla="*/ 0 w 0"/>
              <a:gd name="connsiteY0" fmla="*/ 0 h 2191407"/>
              <a:gd name="connsiteX1" fmla="*/ 0 w 0"/>
              <a:gd name="connsiteY1" fmla="*/ 2191407 h 2191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191407" fill="norm" stroke="1" extrusionOk="0">
                <a:moveTo>
                  <a:pt x="0" y="0"/>
                </a:moveTo>
                <a:lnTo>
                  <a:pt x="0" y="2191407"/>
                </a:lnTo>
              </a:path>
            </a:pathLst>
          </a:custGeom>
          <a:noFill/>
          <a:ln w="127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21138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Voltmeter Sketch</a:t>
            </a:r>
            <a:endParaRPr/>
          </a:p>
        </p:txBody>
      </p:sp>
      <p:sp>
        <p:nvSpPr>
          <p:cNvPr id="1067787026" name="Content Placeholder 2"/>
          <p:cNvSpPr>
            <a:spLocks noGrp="1"/>
          </p:cNvSpPr>
          <p:nvPr>
            <p:ph idx="1"/>
          </p:nvPr>
        </p:nvSpPr>
        <p:spPr bwMode="auto">
          <a:xfrm>
            <a:off x="250371" y="1143000"/>
            <a:ext cx="8436429" cy="49831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Start with same circuit as before</a:t>
            </a:r>
            <a:endParaRPr/>
          </a:p>
          <a:p>
            <a:pPr>
              <a:defRPr/>
            </a:pPr>
            <a:r>
              <a:rPr lang="en-US"/>
              <a:t>Open the Built-In example program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	Basics -&gt;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AnalogReadSerial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b="1"/>
              <a:t>Save As </a:t>
            </a:r>
            <a:r>
              <a:rPr lang="en-US"/>
              <a:t>new file: Voltmeter</a:t>
            </a:r>
            <a:endParaRPr/>
          </a:p>
          <a:p>
            <a:pPr lvl="1">
              <a:defRPr/>
            </a:pPr>
            <a:r>
              <a:rPr lang="en-US"/>
              <a:t>We’ll modify this program to be a Voltmeter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852693" name="Title 1"/>
          <p:cNvSpPr>
            <a:spLocks noGrp="1"/>
          </p:cNvSpPr>
          <p:nvPr>
            <p:ph type="title"/>
          </p:nvPr>
        </p:nvSpPr>
        <p:spPr bwMode="auto">
          <a:xfrm>
            <a:off x="457200" y="39855"/>
            <a:ext cx="822960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“Floating Point” Variables</a:t>
            </a:r>
            <a:endParaRPr/>
          </a:p>
        </p:txBody>
      </p:sp>
      <p:sp>
        <p:nvSpPr>
          <p:cNvPr id="668732983" name="Content Placeholder 2"/>
          <p:cNvSpPr>
            <a:spLocks noGrp="1"/>
          </p:cNvSpPr>
          <p:nvPr>
            <p:ph idx="1"/>
          </p:nvPr>
        </p:nvSpPr>
        <p:spPr bwMode="auto">
          <a:xfrm>
            <a:off x="192505" y="1122402"/>
            <a:ext cx="8840963" cy="5334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Integer variables will not store fractions</a:t>
            </a:r>
            <a:endParaRPr/>
          </a:p>
          <a:p>
            <a:pPr>
              <a:defRPr/>
            </a:pPr>
            <a:r>
              <a:rPr lang="en-US"/>
              <a:t>“Floating Point” variables store </a:t>
            </a:r>
            <a:r>
              <a:rPr lang="en-US" i="1" u="sng"/>
              <a:t>fractional</a:t>
            </a:r>
            <a:r>
              <a:rPr lang="en-US"/>
              <a:t> values</a:t>
            </a:r>
            <a:endParaRPr/>
          </a:p>
          <a:p>
            <a:pPr>
              <a:defRPr/>
            </a:pPr>
            <a:r>
              <a:rPr lang="en-US" b="1" u="sng">
                <a:solidFill>
                  <a:srgbClr val="FF0000"/>
                </a:solidFill>
              </a:rPr>
              <a:t>Add</a:t>
            </a:r>
            <a:r>
              <a:rPr lang="en-US"/>
              <a:t> the following lines to the end of </a:t>
            </a:r>
            <a:r>
              <a:rPr lang="en-US" b="1" i="1"/>
              <a:t>loop()</a:t>
            </a:r>
            <a:endParaRPr/>
          </a:p>
          <a:p>
            <a:pPr lvl="1">
              <a:defRPr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Place code just before the final right curly bracket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Converts integer 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sensorValue</a:t>
            </a:r>
            <a:r>
              <a:rPr lang="en-US"/>
              <a:t> to floating point </a:t>
            </a:r>
            <a:r>
              <a:rPr lang="en-US" b="1">
                <a:solidFill>
                  <a:srgbClr val="0070C0"/>
                </a:solidFill>
              </a:rPr>
              <a:t>V</a:t>
            </a:r>
            <a:r>
              <a:rPr lang="en-US"/>
              <a:t> </a:t>
            </a:r>
            <a:endParaRPr/>
          </a:p>
        </p:txBody>
      </p:sp>
      <p:sp>
        <p:nvSpPr>
          <p:cNvPr id="542475880" name="TextBox 4"/>
          <p:cNvSpPr txBox="1"/>
          <p:nvPr/>
        </p:nvSpPr>
        <p:spPr bwMode="auto">
          <a:xfrm>
            <a:off x="993328" y="3613555"/>
            <a:ext cx="715734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00050" marR="0" lvl="1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float V = 5.0*</a:t>
            </a: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sensorValue</a:t>
            </a: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/1023.0;</a:t>
            </a:r>
            <a:endParaRPr/>
          </a:p>
          <a:p>
            <a:pPr marL="400050" marR="0" lvl="1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Serial.print</a:t>
            </a: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(“Voltage: “);</a:t>
            </a:r>
            <a:endParaRPr/>
          </a:p>
          <a:p>
            <a:pPr marL="400050" marR="0" lvl="1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Serial.println</a:t>
            </a:r>
            <a:r>
              <a:rPr lang="en-US" sz="28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(V); </a:t>
            </a:r>
            <a:r>
              <a:rPr lang="en-US" sz="2800" b="0" i="0" u="none" strike="noStrike" cap="none" spc="0">
                <a:ln>
                  <a:noFill/>
                </a:ln>
                <a:solidFill>
                  <a:srgbClr val="00B050"/>
                </a:solidFill>
                <a:latin typeface="Calibri"/>
                <a:ea typeface="+mn-ea"/>
                <a:cs typeface="+mn-cs"/>
              </a:rPr>
              <a:t>//print V and begin new line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187195" name="Content Placeholder 4"/>
          <p:cNvSpPr>
            <a:spLocks noGrp="1"/>
          </p:cNvSpPr>
          <p:nvPr>
            <p:ph idx="1"/>
          </p:nvPr>
        </p:nvSpPr>
        <p:spPr bwMode="auto">
          <a:xfrm>
            <a:off x="457200" y="1174612"/>
            <a:ext cx="8229600" cy="3079423"/>
          </a:xfrm>
          <a:prstGeom prst="rect">
            <a:avLst/>
          </a:prstGeom>
          <a:solidFill>
            <a:srgbClr val="EAEAEA"/>
          </a:solidFill>
        </p:spPr>
        <p:txBody>
          <a:bodyPr/>
          <a:lstStyle/>
          <a:p>
            <a:pPr>
              <a:defRPr/>
            </a:pPr>
            <a:r>
              <a:rPr lang="en-US"/>
              <a:t>Objectives: </a:t>
            </a:r>
            <a:endParaRPr/>
          </a:p>
          <a:p>
            <a:pPr lvl="1">
              <a:defRPr/>
            </a:pPr>
            <a:r>
              <a:rPr lang="en-US"/>
              <a:t>Voltmeter Experiments</a:t>
            </a:r>
            <a:endParaRPr/>
          </a:p>
          <a:p>
            <a:pPr lvl="1">
              <a:defRPr/>
            </a:pPr>
            <a:r>
              <a:rPr lang="en-US"/>
              <a:t>Ohmmeter Experiments</a:t>
            </a:r>
            <a:endParaRPr/>
          </a:p>
          <a:p>
            <a:pPr lvl="1">
              <a:defRPr/>
            </a:pPr>
            <a:r>
              <a:rPr lang="en-US"/>
              <a:t>Final project: ohmmeter plus LED display</a:t>
            </a:r>
            <a:endParaRPr/>
          </a:p>
        </p:txBody>
      </p:sp>
      <p:sp>
        <p:nvSpPr>
          <p:cNvPr id="1282997620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5035312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29175" y="1194900"/>
            <a:ext cx="3504151" cy="4444106"/>
          </a:xfrm>
          <a:prstGeom prst="rect">
            <a:avLst/>
          </a:prstGeom>
        </p:spPr>
      </p:pic>
      <p:sp>
        <p:nvSpPr>
          <p:cNvPr id="1141359039" name="Title 1"/>
          <p:cNvSpPr>
            <a:spLocks noGrp="1"/>
          </p:cNvSpPr>
          <p:nvPr>
            <p:ph type="title"/>
          </p:nvPr>
        </p:nvSpPr>
        <p:spPr bwMode="auto">
          <a:xfrm>
            <a:off x="351692" y="51900"/>
            <a:ext cx="8281634" cy="1143000"/>
          </a:xfrm>
        </p:spPr>
        <p:txBody>
          <a:bodyPr/>
          <a:lstStyle/>
          <a:p>
            <a:pPr>
              <a:defRPr/>
            </a:pPr>
            <a:r>
              <a:rPr lang="en-US"/>
              <a:t>Experiment #1</a:t>
            </a:r>
            <a:endParaRPr/>
          </a:p>
        </p:txBody>
      </p:sp>
      <p:sp>
        <p:nvSpPr>
          <p:cNvPr id="1165548943" name="Content Placeholder 2"/>
          <p:cNvSpPr>
            <a:spLocks noGrp="1"/>
          </p:cNvSpPr>
          <p:nvPr>
            <p:ph idx="1"/>
          </p:nvPr>
        </p:nvSpPr>
        <p:spPr bwMode="auto">
          <a:xfrm>
            <a:off x="264695" y="1600200"/>
            <a:ext cx="4307305" cy="4193547"/>
          </a:xfrm>
        </p:spPr>
        <p:txBody>
          <a:bodyPr/>
          <a:lstStyle/>
          <a:p>
            <a:pPr>
              <a:defRPr/>
            </a:pPr>
            <a:r>
              <a:rPr lang="en-US"/>
              <a:t>Turn on Serial Monitor or Plotter</a:t>
            </a:r>
            <a:endParaRPr/>
          </a:p>
          <a:p>
            <a:pPr>
              <a:defRPr/>
            </a:pPr>
            <a:r>
              <a:rPr lang="en-US"/>
              <a:t>Measure voltage on pin A0 as you turn potentiometer</a:t>
            </a:r>
            <a:endParaRPr/>
          </a:p>
          <a:p>
            <a:pPr>
              <a:defRPr/>
            </a:pPr>
            <a:r>
              <a:rPr lang="en-US"/>
              <a:t>You should see values between 0 and 5 Volts</a:t>
            </a:r>
            <a:endParaRPr/>
          </a:p>
        </p:txBody>
      </p:sp>
      <p:sp>
        <p:nvSpPr>
          <p:cNvPr id="451652674" name="TextBox 19"/>
          <p:cNvSpPr txBox="1"/>
          <p:nvPr/>
        </p:nvSpPr>
        <p:spPr bwMode="auto">
          <a:xfrm>
            <a:off x="5355994" y="35123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A0</a:t>
            </a:r>
            <a:endParaRPr/>
          </a:p>
        </p:txBody>
      </p:sp>
      <p:sp>
        <p:nvSpPr>
          <p:cNvPr id="1769623513" name="Rectangle 6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498211" name="Rectangle 4"/>
          <p:cNvSpPr/>
          <p:nvPr/>
        </p:nvSpPr>
        <p:spPr bwMode="auto">
          <a:xfrm>
            <a:off x="0" y="6005014"/>
            <a:ext cx="9144000" cy="85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44821552" name="Title 1"/>
          <p:cNvSpPr>
            <a:spLocks noGrp="1"/>
          </p:cNvSpPr>
          <p:nvPr>
            <p:ph type="title"/>
          </p:nvPr>
        </p:nvSpPr>
        <p:spPr bwMode="auto">
          <a:xfrm>
            <a:off x="2617075" y="-30218"/>
            <a:ext cx="6840824" cy="844299"/>
          </a:xfrm>
        </p:spPr>
        <p:txBody>
          <a:bodyPr/>
          <a:lstStyle/>
          <a:p>
            <a:pPr>
              <a:defRPr/>
            </a:pPr>
            <a:r>
              <a:rPr lang="en-US" sz="4000"/>
              <a:t>Experiment 2: Floating Input</a:t>
            </a:r>
            <a:endParaRPr/>
          </a:p>
        </p:txBody>
      </p:sp>
      <p:sp>
        <p:nvSpPr>
          <p:cNvPr id="318873580" name="Content Placeholder 2"/>
          <p:cNvSpPr>
            <a:spLocks noGrp="1"/>
          </p:cNvSpPr>
          <p:nvPr>
            <p:ph idx="1"/>
          </p:nvPr>
        </p:nvSpPr>
        <p:spPr bwMode="auto">
          <a:xfrm>
            <a:off x="108285" y="848765"/>
            <a:ext cx="9144000" cy="4065127"/>
          </a:xfrm>
        </p:spPr>
        <p:txBody>
          <a:bodyPr/>
          <a:lstStyle/>
          <a:p>
            <a:pPr>
              <a:defRPr/>
            </a:pPr>
            <a:r>
              <a:rPr lang="en-US" sz="2400"/>
              <a:t>Recall: An unconnected pin is called a “</a:t>
            </a:r>
            <a:r>
              <a:rPr lang="en-US" sz="2400" b="1">
                <a:solidFill>
                  <a:srgbClr val="FF0000"/>
                </a:solidFill>
              </a:rPr>
              <a:t>floating input</a:t>
            </a:r>
            <a:r>
              <a:rPr lang="en-US" sz="2400"/>
              <a:t>”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/>
              <a:t>Unplug the wire to the pot</a:t>
            </a:r>
            <a:endParaRPr/>
          </a:p>
          <a:p>
            <a:pPr marL="914400" lvl="1" indent="-514350">
              <a:defRPr/>
            </a:pPr>
            <a:r>
              <a:rPr lang="en-US" sz="2000"/>
              <a:t>The wire connected to A0 now hangs free in the air</a:t>
            </a:r>
            <a:endParaRPr/>
          </a:p>
          <a:p>
            <a:pPr marL="914400" lvl="1" indent="-514350">
              <a:defRPr/>
            </a:pPr>
            <a:r>
              <a:rPr lang="en-US" sz="2000"/>
              <a:t>We say that A0 is “floating” (usually a BAD thing)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/>
              <a:t>Activate Monitor (or Serial Plotter if you’re using Desktop IDE)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/>
              <a:t>Move your finger on and off of the wire to A0</a:t>
            </a:r>
            <a:endParaRPr/>
          </a:p>
        </p:txBody>
      </p:sp>
      <p:pic>
        <p:nvPicPr>
          <p:cNvPr id="807476803" name="Picture 3"/>
          <p:cNvPicPr/>
          <p:nvPr/>
        </p:nvPicPr>
        <p:blipFill rotWithShape="1">
          <a:blip r:embed="rId3"/>
          <a:stretch/>
        </p:blipFill>
        <p:spPr bwMode="auto">
          <a:xfrm>
            <a:off x="4572000" y="3829897"/>
            <a:ext cx="3805586" cy="263617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432644" name="TextBox 6"/>
          <p:cNvSpPr txBox="1"/>
          <p:nvPr/>
        </p:nvSpPr>
        <p:spPr bwMode="auto">
          <a:xfrm>
            <a:off x="5439806" y="5860610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Random Noise!!!!</a:t>
            </a:r>
            <a:endParaRPr/>
          </a:p>
        </p:txBody>
      </p:sp>
      <p:sp>
        <p:nvSpPr>
          <p:cNvPr id="1102886156" name="TextBox 5"/>
          <p:cNvSpPr txBox="1"/>
          <p:nvPr/>
        </p:nvSpPr>
        <p:spPr bwMode="auto">
          <a:xfrm>
            <a:off x="5050935" y="4000712"/>
            <a:ext cx="320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i="1">
                <a:solidFill>
                  <a:srgbClr val="00B050"/>
                </a:solidFill>
              </a:rPr>
              <a:t>Result depends on your location</a:t>
            </a:r>
            <a:endParaRPr/>
          </a:p>
        </p:txBody>
      </p:sp>
      <p:grpSp>
        <p:nvGrpSpPr>
          <p:cNvPr id="1545785540" name="Group 12"/>
          <p:cNvGrpSpPr/>
          <p:nvPr/>
        </p:nvGrpSpPr>
        <p:grpSpPr bwMode="auto">
          <a:xfrm>
            <a:off x="1092299" y="3580800"/>
            <a:ext cx="2827590" cy="3134363"/>
            <a:chOff x="1092299" y="3580800"/>
            <a:chExt cx="2827590" cy="313436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1131046" y="3580800"/>
              <a:ext cx="2788843" cy="3134363"/>
            </a:xfrm>
            <a:prstGeom prst="rect">
              <a:avLst/>
            </a:prstGeom>
          </p:spPr>
        </p:pic>
        <p:sp>
          <p:nvSpPr>
            <p:cNvPr id="8" name="Rectangle: Rounded Corners 7"/>
            <p:cNvSpPr/>
            <p:nvPr/>
          </p:nvSpPr>
          <p:spPr bwMode="auto">
            <a:xfrm rot="18859897">
              <a:off x="1126427" y="5667626"/>
              <a:ext cx="241942" cy="88950"/>
            </a:xfrm>
            <a:prstGeom prst="roundRect">
              <a:avLst>
                <a:gd name="adj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 bwMode="auto">
            <a:xfrm>
              <a:off x="1092299" y="5799502"/>
              <a:ext cx="64043" cy="60486"/>
            </a:xfrm>
            <a:custGeom>
              <a:avLst/>
              <a:gdLst>
                <a:gd name="connsiteX0" fmla="*/ 64043 w 64043"/>
                <a:gd name="connsiteY0" fmla="*/ 0 h 60486"/>
                <a:gd name="connsiteX1" fmla="*/ 0 w 64043"/>
                <a:gd name="connsiteY1" fmla="*/ 60486 h 6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043" h="60486" fill="norm" stroke="1" extrusionOk="0">
                  <a:moveTo>
                    <a:pt x="64043" y="0"/>
                  </a:moveTo>
                  <a:lnTo>
                    <a:pt x="0" y="60486"/>
                  </a:lnTo>
                </a:path>
              </a:pathLst>
            </a:custGeom>
            <a:noFill/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133094849" name="TextBox 10"/>
          <p:cNvSpPr txBox="1"/>
          <p:nvPr/>
        </p:nvSpPr>
        <p:spPr bwMode="auto">
          <a:xfrm>
            <a:off x="444937" y="5870073"/>
            <a:ext cx="931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floating input</a:t>
            </a:r>
            <a:endParaRPr/>
          </a:p>
        </p:txBody>
      </p:sp>
      <p:sp>
        <p:nvSpPr>
          <p:cNvPr id="1179931431" name="Rectangle 1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341935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80711" y="1854251"/>
            <a:ext cx="4335837" cy="4666752"/>
          </a:xfrm>
          <a:prstGeom prst="rect">
            <a:avLst/>
          </a:prstGeom>
        </p:spPr>
      </p:pic>
      <p:sp>
        <p:nvSpPr>
          <p:cNvPr id="2030936440" name="Title 1"/>
          <p:cNvSpPr>
            <a:spLocks noGrp="1"/>
          </p:cNvSpPr>
          <p:nvPr>
            <p:ph type="title"/>
          </p:nvPr>
        </p:nvSpPr>
        <p:spPr bwMode="auto">
          <a:xfrm>
            <a:off x="457200" y="-127591"/>
            <a:ext cx="8229600" cy="733648"/>
          </a:xfrm>
        </p:spPr>
        <p:txBody>
          <a:bodyPr/>
          <a:lstStyle/>
          <a:p>
            <a:pPr>
              <a:defRPr/>
            </a:pPr>
            <a:r>
              <a:rPr lang="en-US"/>
              <a:t>Experiment #3</a:t>
            </a:r>
            <a:endParaRPr/>
          </a:p>
        </p:txBody>
      </p:sp>
      <p:sp>
        <p:nvSpPr>
          <p:cNvPr id="1183049185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688096"/>
            <a:ext cx="8229600" cy="1151338"/>
          </a:xfrm>
        </p:spPr>
        <p:txBody>
          <a:bodyPr/>
          <a:lstStyle/>
          <a:p>
            <a:pPr>
              <a:defRPr/>
            </a:pPr>
            <a:r>
              <a:rPr lang="en-US"/>
              <a:t>Use your voltmeter to measure button battery</a:t>
            </a:r>
            <a:endParaRPr/>
          </a:p>
          <a:p>
            <a:pPr lvl="1">
              <a:defRPr/>
            </a:pPr>
            <a:r>
              <a:rPr lang="en-US"/>
              <a:t>Works on any battery as long as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1">
                          <a:latin typeface="Cambria Math"/>
                        </a:rPr>
                        <m:t>0≤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𝑉</m:t>
                      </m:r>
                      <m:r>
                        <m:rPr/>
                        <a:rPr lang="en-US" b="0" i="1">
                          <a:latin typeface="Cambria Math"/>
                        </a:rPr>
                        <m:t>≤5 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𝑉𝑜𝑙𝑡𝑠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1114303738" name="TextBox 3"/>
          <p:cNvSpPr txBox="1"/>
          <p:nvPr/>
        </p:nvSpPr>
        <p:spPr bwMode="auto">
          <a:xfrm>
            <a:off x="2287611" y="5049482"/>
            <a:ext cx="89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Button Battery</a:t>
            </a:r>
            <a:endParaRPr/>
          </a:p>
        </p:txBody>
      </p:sp>
      <p:sp>
        <p:nvSpPr>
          <p:cNvPr id="1520782387" name="TextBox 4"/>
          <p:cNvSpPr txBox="1"/>
          <p:nvPr/>
        </p:nvSpPr>
        <p:spPr bwMode="auto">
          <a:xfrm>
            <a:off x="1513889" y="250365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Jumper</a:t>
            </a:r>
            <a:endParaRPr/>
          </a:p>
        </p:txBody>
      </p:sp>
      <p:grpSp>
        <p:nvGrpSpPr>
          <p:cNvPr id="1403915299" name="Group 21"/>
          <p:cNvGrpSpPr/>
          <p:nvPr/>
        </p:nvGrpSpPr>
        <p:grpSpPr bwMode="auto">
          <a:xfrm rot="16199999">
            <a:off x="3468261" y="3449992"/>
            <a:ext cx="493060" cy="134777"/>
            <a:chOff x="4092588" y="2908674"/>
            <a:chExt cx="493060" cy="134777"/>
          </a:xfrm>
        </p:grpSpPr>
        <p:sp>
          <p:nvSpPr>
            <p:cNvPr id="23" name="Rectangle 22"/>
            <p:cNvSpPr/>
            <p:nvPr/>
          </p:nvSpPr>
          <p:spPr bwMode="auto">
            <a:xfrm>
              <a:off x="4258101" y="2908674"/>
              <a:ext cx="327547" cy="134777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4092588" y="2949618"/>
              <a:ext cx="165513" cy="4571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79581138" name="TextBox 25"/>
          <p:cNvSpPr txBox="1"/>
          <p:nvPr/>
        </p:nvSpPr>
        <p:spPr bwMode="auto">
          <a:xfrm>
            <a:off x="5253984" y="2799415"/>
            <a:ext cx="49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Pot</a:t>
            </a:r>
            <a:endParaRPr/>
          </a:p>
        </p:txBody>
      </p:sp>
      <p:sp>
        <p:nvSpPr>
          <p:cNvPr id="917296963" name="TextBox 27"/>
          <p:cNvSpPr txBox="1"/>
          <p:nvPr/>
        </p:nvSpPr>
        <p:spPr bwMode="auto">
          <a:xfrm>
            <a:off x="5693779" y="279941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Not used</a:t>
            </a:r>
            <a:endParaRPr/>
          </a:p>
        </p:txBody>
      </p:sp>
      <p:pic>
        <p:nvPicPr>
          <p:cNvPr id="1932798985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02318" y="4186638"/>
            <a:ext cx="871538" cy="767646"/>
          </a:xfrm>
          <a:prstGeom prst="rect">
            <a:avLst/>
          </a:prstGeom>
        </p:spPr>
      </p:pic>
      <p:grpSp>
        <p:nvGrpSpPr>
          <p:cNvPr id="432185238" name="Group 12"/>
          <p:cNvGrpSpPr/>
          <p:nvPr/>
        </p:nvGrpSpPr>
        <p:grpSpPr bwMode="auto">
          <a:xfrm>
            <a:off x="3239264" y="4483798"/>
            <a:ext cx="493060" cy="134777"/>
            <a:chOff x="4092588" y="2908674"/>
            <a:chExt cx="493060" cy="134777"/>
          </a:xfrm>
        </p:grpSpPr>
        <p:sp>
          <p:nvSpPr>
            <p:cNvPr id="10" name="Rectangle 9"/>
            <p:cNvSpPr/>
            <p:nvPr/>
          </p:nvSpPr>
          <p:spPr bwMode="auto">
            <a:xfrm>
              <a:off x="4258101" y="2908674"/>
              <a:ext cx="327547" cy="134777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4092588" y="2949618"/>
              <a:ext cx="165513" cy="4571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38518030" name="Freeform: Shape 24"/>
          <p:cNvSpPr/>
          <p:nvPr/>
        </p:nvSpPr>
        <p:spPr bwMode="auto">
          <a:xfrm>
            <a:off x="1415858" y="2688322"/>
            <a:ext cx="2273273" cy="1799595"/>
          </a:xfrm>
          <a:custGeom>
            <a:avLst/>
            <a:gdLst>
              <a:gd name="connsiteX0" fmla="*/ 2273273 w 2273273"/>
              <a:gd name="connsiteY0" fmla="*/ 559375 h 1799595"/>
              <a:gd name="connsiteX1" fmla="*/ 1590101 w 2273273"/>
              <a:gd name="connsiteY1" fmla="*/ 2326 h 1799595"/>
              <a:gd name="connsiteX2" fmla="*/ 34570 w 2273273"/>
              <a:gd name="connsiteY2" fmla="*/ 748561 h 1799595"/>
              <a:gd name="connsiteX3" fmla="*/ 570597 w 2273273"/>
              <a:gd name="connsiteY3" fmla="*/ 1610409 h 1799595"/>
              <a:gd name="connsiteX4" fmla="*/ 1264280 w 2273273"/>
              <a:gd name="connsiteY4" fmla="*/ 1799595 h 1799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3273" h="1799595" fill="norm" stroke="1" extrusionOk="0">
                <a:moveTo>
                  <a:pt x="2273273" y="559375"/>
                </a:moveTo>
                <a:cubicBezTo>
                  <a:pt x="2118245" y="265085"/>
                  <a:pt x="1963218" y="-29205"/>
                  <a:pt x="1590101" y="2326"/>
                </a:cubicBezTo>
                <a:cubicBezTo>
                  <a:pt x="1216984" y="33857"/>
                  <a:pt x="204487" y="480547"/>
                  <a:pt x="34570" y="748561"/>
                </a:cubicBezTo>
                <a:cubicBezTo>
                  <a:pt x="-135347" y="1016575"/>
                  <a:pt x="365645" y="1435237"/>
                  <a:pt x="570597" y="1610409"/>
                </a:cubicBezTo>
                <a:cubicBezTo>
                  <a:pt x="775549" y="1785581"/>
                  <a:pt x="1019914" y="1792588"/>
                  <a:pt x="1264280" y="1799595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3169796" name="TextBox 6"/>
          <p:cNvSpPr txBox="1"/>
          <p:nvPr/>
        </p:nvSpPr>
        <p:spPr bwMode="auto">
          <a:xfrm>
            <a:off x="3291338" y="457728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Jumper</a:t>
            </a:r>
            <a:endParaRPr/>
          </a:p>
        </p:txBody>
      </p:sp>
      <p:sp>
        <p:nvSpPr>
          <p:cNvPr id="1833660771" name="Rectangle 17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594686" name="Title 1"/>
          <p:cNvSpPr>
            <a:spLocks noGrp="1"/>
          </p:cNvSpPr>
          <p:nvPr>
            <p:ph type="title"/>
          </p:nvPr>
        </p:nvSpPr>
        <p:spPr bwMode="auto">
          <a:xfrm>
            <a:off x="457200" y="482320"/>
            <a:ext cx="8229600" cy="93531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Next Project: Build an Ohmmeter</a:t>
            </a:r>
            <a:endParaRPr/>
          </a:p>
        </p:txBody>
      </p:sp>
      <p:sp>
        <p:nvSpPr>
          <p:cNvPr id="2049076343" name="Content Placeholder 2"/>
          <p:cNvSpPr>
            <a:spLocks noGrp="1"/>
          </p:cNvSpPr>
          <p:nvPr>
            <p:ph idx="1"/>
          </p:nvPr>
        </p:nvSpPr>
        <p:spPr bwMode="auto">
          <a:xfrm>
            <a:off x="-1" y="1728316"/>
            <a:ext cx="9168063" cy="4215285"/>
          </a:xfrm>
        </p:spPr>
        <p:txBody>
          <a:bodyPr/>
          <a:lstStyle/>
          <a:p>
            <a:pPr>
              <a:defRPr/>
            </a:pPr>
            <a:r>
              <a:rPr lang="en-US"/>
              <a:t>Tired of identifying 220, 1K, and 10K ohm resistors?</a:t>
            </a:r>
            <a:endParaRPr/>
          </a:p>
          <a:p>
            <a:pPr lvl="1">
              <a:defRPr/>
            </a:pPr>
            <a:r>
              <a:rPr lang="en-US"/>
              <a:t>Wouldn’t it be nice if you could just measure the resistance?</a:t>
            </a:r>
            <a:endParaRPr/>
          </a:p>
          <a:p>
            <a:pPr>
              <a:defRPr/>
            </a:pPr>
            <a:r>
              <a:rPr lang="en-US"/>
              <a:t>Arduino cannot </a:t>
            </a:r>
            <a:r>
              <a:rPr lang="en-US" u="sng"/>
              <a:t>directly</a:t>
            </a:r>
            <a:r>
              <a:rPr lang="en-US"/>
              <a:t> measure resistance</a:t>
            </a:r>
            <a:endParaRPr/>
          </a:p>
          <a:p>
            <a:pPr lvl="1">
              <a:defRPr/>
            </a:pPr>
            <a:r>
              <a:rPr lang="en-US"/>
              <a:t>Must use a </a:t>
            </a:r>
            <a:r>
              <a:rPr lang="en-US" b="1"/>
              <a:t>voltage divider </a:t>
            </a:r>
            <a:r>
              <a:rPr lang="en-US"/>
              <a:t>to convert resistance to voltage</a:t>
            </a:r>
            <a:endParaRPr/>
          </a:p>
        </p:txBody>
      </p:sp>
      <p:sp>
        <p:nvSpPr>
          <p:cNvPr id="1211820323" name="Rectangle 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8154076" name="Group 8"/>
          <p:cNvGrpSpPr/>
          <p:nvPr/>
        </p:nvGrpSpPr>
        <p:grpSpPr bwMode="auto">
          <a:xfrm>
            <a:off x="6817808" y="375467"/>
            <a:ext cx="2177104" cy="3291323"/>
            <a:chOff x="6654363" y="1623101"/>
            <a:chExt cx="2177104" cy="3291323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6654363" y="1623101"/>
              <a:ext cx="1798838" cy="3291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/>
            <p:cNvSpPr txBox="1"/>
            <p:nvPr/>
          </p:nvSpPr>
          <p:spPr bwMode="auto">
            <a:xfrm>
              <a:off x="8321391" y="2835665"/>
              <a:ext cx="5100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800" b="0" i="0" u="none" strike="noStrike" cap="none" spc="0">
                  <a:ln>
                    <a:noFill/>
                  </a:ln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V</a:t>
              </a:r>
              <a:r>
                <a:rPr lang="en-US" sz="2800" b="0" i="0" u="none" strike="noStrike" cap="none" spc="0" baseline="-25000">
                  <a:ln>
                    <a:noFill/>
                  </a:ln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4</a:t>
              </a:r>
              <a:endParaRPr lang="en-US" sz="2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7532246" y="2000197"/>
              <a:ext cx="74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800" b="0" i="0" u="none" strike="noStrike" cap="none" spc="0">
                  <a:ln>
                    <a:noFill/>
                  </a:ln>
                  <a:solidFill>
                    <a:srgbClr val="FF0000"/>
                  </a:solidFill>
                  <a:latin typeface="Calibri"/>
                  <a:ea typeface="+mn-ea"/>
                  <a:cs typeface="+mn-cs"/>
                </a:rPr>
                <a:t>R</a:t>
              </a:r>
              <a:r>
                <a:rPr lang="en-US" sz="2800" b="0" i="0" u="none" strike="noStrike" cap="none" spc="0" baseline="-25000">
                  <a:ln>
                    <a:noFill/>
                  </a:ln>
                  <a:solidFill>
                    <a:srgbClr val="FF0000"/>
                  </a:solidFill>
                  <a:latin typeface="Calibri"/>
                  <a:ea typeface="+mn-ea"/>
                  <a:cs typeface="+mn-cs"/>
                </a:rPr>
                <a:t>test</a:t>
              </a:r>
              <a:endParaRPr lang="en-US" sz="28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7581014" y="3646967"/>
              <a:ext cx="6506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800" b="0" i="0" u="none" strike="noStrike" cap="none" spc="0">
                  <a:ln>
                    <a:noFill/>
                  </a:ln>
                  <a:solidFill>
                    <a:srgbClr val="00B0F0"/>
                  </a:solidFill>
                  <a:latin typeface="Calibri"/>
                  <a:ea typeface="+mn-ea"/>
                  <a:cs typeface="+mn-cs"/>
                </a:rPr>
                <a:t>R</a:t>
              </a:r>
              <a:r>
                <a:rPr lang="en-US" sz="2800" b="0" i="0" u="none" strike="noStrike" cap="none" spc="0" baseline="-25000">
                  <a:ln>
                    <a:noFill/>
                  </a:ln>
                  <a:solidFill>
                    <a:srgbClr val="00B0F0"/>
                  </a:solidFill>
                  <a:latin typeface="Calibri"/>
                  <a:ea typeface="+mn-ea"/>
                  <a:cs typeface="+mn-cs"/>
                </a:rPr>
                <a:t>ref</a:t>
              </a:r>
              <a:endParaRPr lang="en-US" sz="2800" b="0" i="0" u="none" strike="noStrike" cap="none" spc="0">
                <a:ln>
                  <a:noFill/>
                </a:ln>
                <a:solidFill>
                  <a:srgbClr val="00B0F0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23473193" name="Title 1"/>
          <p:cNvSpPr>
            <a:spLocks noGrp="1"/>
          </p:cNvSpPr>
          <p:nvPr>
            <p:ph type="title"/>
          </p:nvPr>
        </p:nvSpPr>
        <p:spPr bwMode="auto">
          <a:xfrm>
            <a:off x="473265" y="648473"/>
            <a:ext cx="4637314" cy="731399"/>
          </a:xfrm>
        </p:spPr>
        <p:txBody>
          <a:bodyPr/>
          <a:lstStyle/>
          <a:p>
            <a:pPr>
              <a:defRPr/>
            </a:pPr>
            <a:r>
              <a:rPr lang="en-US" sz="3600" b="1"/>
              <a:t>Theory of Operation</a:t>
            </a:r>
            <a:endParaRPr/>
          </a:p>
        </p:txBody>
      </p:sp>
      <p:sp>
        <p:nvSpPr>
          <p:cNvPr id="629041073" name="Content Placeholder 3"/>
          <p:cNvSpPr>
            <a:spLocks noGrp="1"/>
          </p:cNvSpPr>
          <p:nvPr>
            <p:ph idx="1"/>
          </p:nvPr>
        </p:nvSpPr>
        <p:spPr bwMode="auto">
          <a:xfrm>
            <a:off x="125164" y="1455681"/>
            <a:ext cx="6676292" cy="1371599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/>
              <a:t>R</a:t>
            </a:r>
            <a:r>
              <a:rPr lang="en-US" baseline="-25000"/>
              <a:t>ref</a:t>
            </a:r>
            <a:r>
              <a:rPr lang="en-US"/>
              <a:t> is </a:t>
            </a:r>
            <a:r>
              <a:rPr lang="en-US" u="sng"/>
              <a:t>Any</a:t>
            </a:r>
            <a:r>
              <a:rPr lang="en-US"/>
              <a:t> known resistor</a:t>
            </a:r>
            <a:endParaRPr lang="en-US" i="1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/>
              <a:t>V</a:t>
            </a:r>
            <a:r>
              <a:rPr lang="en-US" baseline="-25000"/>
              <a:t>4</a:t>
            </a:r>
            <a:r>
              <a:rPr lang="en-US"/>
              <a:t> is voltage measured on pin A4</a:t>
            </a:r>
            <a:endParaRPr/>
          </a:p>
          <a:p>
            <a:pPr lvl="1">
              <a:defRPr/>
            </a:pPr>
            <a:r>
              <a:rPr lang="en-US"/>
              <a:t>Any analog input would work: A0, A1, …, A5</a:t>
            </a:r>
            <a:endParaRPr/>
          </a:p>
          <a:p>
            <a:pPr>
              <a:defRPr/>
            </a:pPr>
            <a:r>
              <a:rPr lang="en-US"/>
              <a:t>Solve for unknown resistor </a:t>
            </a:r>
            <a:r>
              <a:rPr lang="en-US"/>
              <a:t>R</a:t>
            </a:r>
            <a:r>
              <a:rPr lang="en-US" baseline="-25000"/>
              <a:t>test</a:t>
            </a:r>
            <a:r>
              <a:rPr lang="en-US"/>
              <a:t>.</a:t>
            </a:r>
            <a:endParaRPr/>
          </a:p>
        </p:txBody>
      </p:sp>
      <p:sp>
        <p:nvSpPr>
          <p:cNvPr id="751552519" name="TextBox 2"/>
          <p:cNvSpPr txBox="1"/>
          <p:nvPr/>
        </p:nvSpPr>
        <p:spPr bwMode="auto">
          <a:xfrm>
            <a:off x="207455" y="3089489"/>
            <a:ext cx="8398311" cy="2649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Voltage divider equation: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400" b="0" i="1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mbria Math"/>
                          <a:ea typeface="+mn-ea"/>
                          <a:cs typeface="+mn-cs"/>
                        </a:rPr>
                        <m:t>=5</m:t>
                      </m:r>
                      <m:f>
                        <m:f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𝑟𝑒𝑓</m:t>
                              </m:r>
                            </m:sub>
                          </m:sSub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𝑡𝑒𝑠𝑡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Algebra gives: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𝑡𝑒𝑠𝑡</m:t>
                          </m:r>
                        </m:sub>
                      </m:sSub>
                      <m:r>
                        <m:rPr/>
                        <a:rPr lang="en-US" sz="2400" b="0" i="1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f>
                        <m:f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m:rPr/>
                                <a:rPr lang="en-US" sz="24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24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0" marR="0" lvl="0" indent="0" algn="l" defTabSz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Recall Voltmeter: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400" b="0" i="1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mbria Math"/>
                          <a:ea typeface="+mn-ea"/>
                          <a:cs typeface="+mn-cs"/>
                        </a:rPr>
                        <m:t>=5 </m:t>
                      </m:r>
                      <m:f>
                        <m:fPr>
                          <m:ctrlPr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𝑎𝑛𝑎𝑙𝑜𝑔𝑅𝑒𝑎𝑑</m:t>
                          </m:r>
                        </m:num>
                        <m:den>
                          <m:r>
                            <m:rPr/>
                            <a:rPr lang="en-US" sz="2400" b="0" i="1" u="none" strike="noStrike" cap="none" spc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1023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ln>
                <a:noFill/>
              </a:ln>
              <a:solidFill>
                <a:prstClr val="white">
                  <a:lumMod val="65000"/>
                </a:prstClr>
              </a:solidFill>
              <a:latin typeface="Calibri"/>
              <a:ea typeface="+mn-ea"/>
              <a:cs typeface="+mn-cs"/>
            </a:endParaRPr>
          </a:p>
          <a:p>
            <a:pPr marL="0" marR="0" lvl="0" indent="0" algn="l" defTabSz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Combine and simplify: 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𝒕𝒆𝒔𝒕</m:t>
                          </m:r>
                        </m:sub>
                      </m:sSub>
                      <m:r>
                        <m:rPr/>
                        <a:rPr lang="en-US" sz="2400" b="1" i="1" u="none" strike="noStrike" cap="none" spc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𝒓𝒆𝒇</m:t>
                          </m:r>
                        </m:sub>
                      </m:sSub>
                      <m:f>
                        <m:fPr>
                          <m:ctrlPr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𝟏𝟎𝟐𝟑</m:t>
                          </m:r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𝒂𝒏𝒂𝒍𝒐𝒈𝑹𝒆𝒂𝒅</m:t>
                          </m:r>
                        </m:num>
                        <m:den>
                          <m:r>
                            <m:rPr/>
                            <a:rPr lang="en-US" sz="2400" b="1" i="1" u="none" strike="noStrike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latin typeface="Cambria Math"/>
                              <a:ea typeface="+mn-ea"/>
                              <a:cs typeface="+mn-cs"/>
                            </a:rPr>
                            <m:t>𝒂𝒏𝒂𝒍𝒐𝒈𝑹𝒆𝒂𝒅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2400" b="1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87966242" name="TextBox 9"/>
          <p:cNvSpPr txBox="1"/>
          <p:nvPr/>
        </p:nvSpPr>
        <p:spPr bwMode="auto">
          <a:xfrm>
            <a:off x="6097098" y="748339"/>
            <a:ext cx="1647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1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Unknown resistor</a:t>
            </a:r>
            <a:endParaRPr/>
          </a:p>
        </p:txBody>
      </p:sp>
      <p:sp>
        <p:nvSpPr>
          <p:cNvPr id="887052807" name="TextBox 11"/>
          <p:cNvSpPr txBox="1"/>
          <p:nvPr/>
        </p:nvSpPr>
        <p:spPr bwMode="auto">
          <a:xfrm>
            <a:off x="6610136" y="2245444"/>
            <a:ext cx="134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1" u="none" strike="noStrike" cap="none" spc="0">
                <a:ln>
                  <a:noFill/>
                </a:ln>
                <a:solidFill>
                  <a:srgbClr val="00B0F0"/>
                </a:solidFill>
                <a:latin typeface="Calibri"/>
                <a:ea typeface="+mn-ea"/>
                <a:cs typeface="+mn-cs"/>
              </a:rPr>
              <a:t>Known resistor</a:t>
            </a:r>
            <a:endParaRPr/>
          </a:p>
        </p:txBody>
      </p:sp>
      <p:sp>
        <p:nvSpPr>
          <p:cNvPr id="1926319584" name="Rectangle 12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079705" name="Title 1"/>
          <p:cNvSpPr>
            <a:spLocks noGrp="1"/>
          </p:cNvSpPr>
          <p:nvPr>
            <p:ph type="title"/>
          </p:nvPr>
        </p:nvSpPr>
        <p:spPr bwMode="auto">
          <a:xfrm>
            <a:off x="457200" y="785191"/>
            <a:ext cx="8229600" cy="801412"/>
          </a:xfrm>
        </p:spPr>
        <p:txBody>
          <a:bodyPr/>
          <a:lstStyle/>
          <a:p>
            <a:pPr>
              <a:defRPr/>
            </a:pPr>
            <a:r>
              <a:rPr lang="en-US"/>
              <a:t>Make a New Sketch: </a:t>
            </a:r>
            <a:r>
              <a:rPr lang="en-US"/>
              <a:t>OhmMeter.ino</a:t>
            </a:r>
            <a:endParaRPr lang="en-US"/>
          </a:p>
        </p:txBody>
      </p:sp>
      <p:sp>
        <p:nvSpPr>
          <p:cNvPr id="1754281619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879262"/>
            <a:ext cx="8229600" cy="4193547"/>
          </a:xfrm>
        </p:spPr>
        <p:txBody>
          <a:bodyPr/>
          <a:lstStyle/>
          <a:p>
            <a:pPr>
              <a:defRPr/>
            </a:pPr>
            <a:r>
              <a:rPr lang="en-US"/>
              <a:t>Save your Voltmeter sketch as a new sketch called </a:t>
            </a:r>
            <a:r>
              <a:rPr lang="en-US" b="1"/>
              <a:t>OhmMeter</a:t>
            </a:r>
            <a:endParaRPr lang="en-US" b="1"/>
          </a:p>
          <a:p>
            <a:pPr>
              <a:defRPr/>
            </a:pPr>
            <a:r>
              <a:rPr lang="en-US"/>
              <a:t>We’ll edit the sketch to convert it into an ohm-meter</a:t>
            </a:r>
            <a:endParaRPr/>
          </a:p>
          <a:p>
            <a:pPr>
              <a:defRPr/>
            </a:pPr>
            <a:r>
              <a:rPr lang="en-US"/>
              <a:t>Following slides contain the basic changes</a:t>
            </a:r>
            <a:endParaRPr/>
          </a:p>
        </p:txBody>
      </p:sp>
      <p:sp>
        <p:nvSpPr>
          <p:cNvPr id="1867383748" name="Rectangle 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68870" name="Content Placeholder 4"/>
          <p:cNvSpPr>
            <a:spLocks noGrp="1"/>
          </p:cNvSpPr>
          <p:nvPr>
            <p:ph idx="1"/>
          </p:nvPr>
        </p:nvSpPr>
        <p:spPr bwMode="auto">
          <a:xfrm>
            <a:off x="368710" y="1275735"/>
            <a:ext cx="8229600" cy="612058"/>
          </a:xfrm>
        </p:spPr>
        <p:txBody>
          <a:bodyPr/>
          <a:lstStyle/>
          <a:p>
            <a:pPr>
              <a:defRPr/>
            </a:pPr>
            <a:r>
              <a:rPr lang="en-US"/>
              <a:t>Enter the following C commands at the top:</a:t>
            </a:r>
            <a:endParaRPr/>
          </a:p>
        </p:txBody>
      </p:sp>
      <p:pic>
        <p:nvPicPr>
          <p:cNvPr id="123017123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15846" y="2023118"/>
            <a:ext cx="5515896" cy="4369222"/>
          </a:xfrm>
          <a:prstGeom prst="rect">
            <a:avLst/>
          </a:prstGeom>
          <a:ln>
            <a:solidFill>
              <a:srgbClr val="DDDDDD"/>
            </a:solidFill>
          </a:ln>
        </p:spPr>
      </p:pic>
      <p:sp>
        <p:nvSpPr>
          <p:cNvPr id="846469074" name="Title 2"/>
          <p:cNvSpPr>
            <a:spLocks noGrp="1"/>
          </p:cNvSpPr>
          <p:nvPr>
            <p:ph type="title"/>
          </p:nvPr>
        </p:nvSpPr>
        <p:spPr bwMode="auto">
          <a:xfrm>
            <a:off x="1944114" y="452063"/>
            <a:ext cx="7009180" cy="1143000"/>
          </a:xfrm>
        </p:spPr>
        <p:txBody>
          <a:bodyPr/>
          <a:lstStyle/>
          <a:p>
            <a:pPr>
              <a:defRPr/>
            </a:pPr>
            <a:r>
              <a:rPr lang="en-US"/>
              <a:t>Create the </a:t>
            </a:r>
            <a:r>
              <a:rPr lang="en-US"/>
              <a:t>OhmMeter</a:t>
            </a:r>
            <a:r>
              <a:rPr lang="en-US"/>
              <a:t> sketch</a:t>
            </a:r>
            <a:endParaRPr/>
          </a:p>
        </p:txBody>
      </p:sp>
      <p:sp>
        <p:nvSpPr>
          <p:cNvPr id="993490331" name="Rectangle 6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65486" name="Title 1"/>
          <p:cNvSpPr>
            <a:spLocks noGrp="1"/>
          </p:cNvSpPr>
          <p:nvPr>
            <p:ph type="title"/>
          </p:nvPr>
        </p:nvSpPr>
        <p:spPr bwMode="auto">
          <a:xfrm>
            <a:off x="1948070" y="274638"/>
            <a:ext cx="6738730" cy="1143000"/>
          </a:xfrm>
        </p:spPr>
        <p:txBody>
          <a:bodyPr/>
          <a:lstStyle/>
          <a:p>
            <a:pPr>
              <a:defRPr/>
            </a:pPr>
            <a:r>
              <a:rPr lang="en-US"/>
              <a:t>OhmMeter.ino</a:t>
            </a:r>
            <a:r>
              <a:rPr lang="en-US"/>
              <a:t> (cont’d)</a:t>
            </a:r>
            <a:endParaRPr/>
          </a:p>
        </p:txBody>
      </p:sp>
      <p:sp>
        <p:nvSpPr>
          <p:cNvPr id="1094919037" name="Content Placeholder 4"/>
          <p:cNvSpPr>
            <a:spLocks noGrp="1"/>
          </p:cNvSpPr>
          <p:nvPr>
            <p:ph idx="1"/>
          </p:nvPr>
        </p:nvSpPr>
        <p:spPr bwMode="auto">
          <a:xfrm>
            <a:off x="377331" y="1154265"/>
            <a:ext cx="8229600" cy="680884"/>
          </a:xfrm>
        </p:spPr>
        <p:txBody>
          <a:bodyPr/>
          <a:lstStyle/>
          <a:p>
            <a:pPr>
              <a:defRPr/>
            </a:pPr>
            <a:r>
              <a:rPr lang="en-US"/>
              <a:t>Keep typing:</a:t>
            </a:r>
            <a:endParaRPr/>
          </a:p>
        </p:txBody>
      </p:sp>
      <p:pic>
        <p:nvPicPr>
          <p:cNvPr id="705413468" name="Pictur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4789" y="2045368"/>
            <a:ext cx="8714684" cy="3970420"/>
          </a:xfrm>
          <a:prstGeom prst="rect">
            <a:avLst/>
          </a:prstGeom>
          <a:ln>
            <a:solidFill>
              <a:srgbClr val="DDDDDD"/>
            </a:solidFill>
          </a:ln>
        </p:spPr>
      </p:pic>
      <p:sp>
        <p:nvSpPr>
          <p:cNvPr id="91712626" name="Rectangle 5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0454065" name="Picture 3" descr="10K PhotoResistors (Light sensors) [Analog Input] &lt;strong&gt;PhotoResistor&lt;/strong&gt; ..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41981" y="4243394"/>
            <a:ext cx="1778000" cy="1778000"/>
          </a:xfrm>
          <a:prstGeom prst="rect">
            <a:avLst/>
          </a:prstGeom>
        </p:spPr>
      </p:pic>
      <p:sp>
        <p:nvSpPr>
          <p:cNvPr id="16362291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Your Job:</a:t>
            </a:r>
            <a:endParaRPr/>
          </a:p>
        </p:txBody>
      </p:sp>
      <p:sp>
        <p:nvSpPr>
          <p:cNvPr id="1009261991" name="Content Placeholder 2"/>
          <p:cNvSpPr>
            <a:spLocks noGrp="1"/>
          </p:cNvSpPr>
          <p:nvPr>
            <p:ph idx="1"/>
          </p:nvPr>
        </p:nvSpPr>
        <p:spPr bwMode="auto">
          <a:xfrm>
            <a:off x="228600" y="1115952"/>
            <a:ext cx="8458200" cy="4193547"/>
          </a:xfrm>
        </p:spPr>
        <p:txBody>
          <a:bodyPr/>
          <a:lstStyle/>
          <a:p>
            <a:pPr>
              <a:defRPr/>
            </a:pPr>
            <a:r>
              <a:rPr lang="en-US" b="1"/>
              <a:t>Build</a:t>
            </a:r>
            <a:r>
              <a:rPr lang="en-US"/>
              <a:t> the circuit using R</a:t>
            </a:r>
            <a:r>
              <a:rPr lang="en-US" baseline="-25000"/>
              <a:t>ref</a:t>
            </a:r>
            <a:r>
              <a:rPr lang="en-US"/>
              <a:t>= 1000 Ohm</a:t>
            </a:r>
            <a:endParaRPr/>
          </a:p>
          <a:p>
            <a:pPr>
              <a:defRPr/>
            </a:pPr>
            <a:r>
              <a:rPr lang="en-US" b="1"/>
              <a:t>Upload</a:t>
            </a:r>
            <a:r>
              <a:rPr lang="en-US"/>
              <a:t> the sketch</a:t>
            </a:r>
            <a:endParaRPr/>
          </a:p>
          <a:p>
            <a:pPr>
              <a:defRPr/>
            </a:pPr>
            <a:r>
              <a:rPr lang="en-US" b="1"/>
              <a:t>Open</a:t>
            </a:r>
            <a:r>
              <a:rPr lang="en-US"/>
              <a:t> Serial Monitor</a:t>
            </a:r>
            <a:endParaRPr/>
          </a:p>
          <a:p>
            <a:pPr>
              <a:defRPr/>
            </a:pPr>
            <a:r>
              <a:rPr lang="en-US" b="1"/>
              <a:t>Test</a:t>
            </a:r>
            <a:r>
              <a:rPr lang="en-US"/>
              <a:t> different resistors </a:t>
            </a:r>
            <a:endParaRPr/>
          </a:p>
          <a:p>
            <a:pPr lvl="1">
              <a:defRPr/>
            </a:pPr>
            <a:r>
              <a:rPr lang="en-US"/>
              <a:t>Test a 220, 1000, and 10,000 Ohm resistor</a:t>
            </a:r>
            <a:endParaRPr/>
          </a:p>
          <a:p>
            <a:pPr lvl="2">
              <a:defRPr/>
            </a:pPr>
            <a:r>
              <a:rPr lang="en-US"/>
              <a:t>How is the accuracy?</a:t>
            </a:r>
            <a:endParaRPr/>
          </a:p>
          <a:p>
            <a:pPr lvl="1">
              <a:defRPr/>
            </a:pPr>
            <a:r>
              <a:rPr lang="en-US"/>
              <a:t>Also measure resistance of </a:t>
            </a:r>
            <a:br>
              <a:rPr lang="en-US"/>
            </a:br>
            <a:r>
              <a:rPr lang="en-US"/>
              <a:t>a photo-resistor (in light and in shadow)</a:t>
            </a:r>
            <a:endParaRPr/>
          </a:p>
        </p:txBody>
      </p:sp>
      <p:sp>
        <p:nvSpPr>
          <p:cNvPr id="1558294686" name="Rectangle 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954590" name="Picture 1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5400000">
            <a:off x="3827056" y="1425100"/>
            <a:ext cx="5199490" cy="3707833"/>
          </a:xfrm>
          <a:prstGeom prst="rect">
            <a:avLst/>
          </a:prstGeom>
        </p:spPr>
      </p:pic>
      <p:pic>
        <p:nvPicPr>
          <p:cNvPr id="1452161029" name="Picture 3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203695" y="1374642"/>
            <a:ext cx="2400428" cy="43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4210804" name="TextBox 6"/>
          <p:cNvSpPr txBox="1"/>
          <p:nvPr/>
        </p:nvSpPr>
        <p:spPr bwMode="auto">
          <a:xfrm>
            <a:off x="2581516" y="979239"/>
            <a:ext cx="1865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Unknown</a:t>
            </a:r>
            <a:endParaRPr/>
          </a:p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Resistor </a:t>
            </a: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</a:t>
            </a:r>
            <a:r>
              <a:rPr lang="en-US" sz="2400" b="0" i="0" u="none" strike="noStrike" cap="none" spc="0" baseline="-2500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test</a:t>
            </a:r>
            <a:endParaRPr lang="en-US" sz="2400" b="0" i="0" u="none" strike="noStrike" cap="none" spc="0">
              <a:ln>
                <a:noFill/>
              </a:ln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91501562" name="TextBox 7"/>
          <p:cNvSpPr txBox="1"/>
          <p:nvPr/>
        </p:nvSpPr>
        <p:spPr bwMode="auto">
          <a:xfrm>
            <a:off x="2551601" y="4935694"/>
            <a:ext cx="1440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Reference</a:t>
            </a:r>
            <a:endParaRPr/>
          </a:p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0070C0"/>
                </a:solidFill>
                <a:latin typeface="Calibri"/>
                <a:ea typeface="+mn-ea"/>
                <a:cs typeface="+mn-cs"/>
              </a:rPr>
              <a:t>Resistor</a:t>
            </a:r>
            <a:endParaRPr/>
          </a:p>
        </p:txBody>
      </p:sp>
      <p:sp>
        <p:nvSpPr>
          <p:cNvPr id="1783490067" name="Title 4"/>
          <p:cNvSpPr>
            <a:spLocks noGrp="1"/>
          </p:cNvSpPr>
          <p:nvPr>
            <p:ph type="title"/>
          </p:nvPr>
        </p:nvSpPr>
        <p:spPr bwMode="auto">
          <a:xfrm>
            <a:off x="1729408" y="76200"/>
            <a:ext cx="7033591" cy="1143000"/>
          </a:xfrm>
        </p:spPr>
        <p:txBody>
          <a:bodyPr/>
          <a:lstStyle/>
          <a:p>
            <a:pPr>
              <a:defRPr/>
            </a:pPr>
            <a:r>
              <a:rPr lang="en-US" b="1"/>
              <a:t>The Ohmmeter Circuit</a:t>
            </a:r>
            <a:r>
              <a:rPr lang="en-US" sz="4000" i="1"/>
              <a:t> </a:t>
            </a:r>
            <a:endParaRPr lang="en-US" i="1"/>
          </a:p>
        </p:txBody>
      </p:sp>
      <p:sp>
        <p:nvSpPr>
          <p:cNvPr id="1623303043" name="TextBox 10"/>
          <p:cNvSpPr txBox="1"/>
          <p:nvPr/>
        </p:nvSpPr>
        <p:spPr bwMode="auto">
          <a:xfrm>
            <a:off x="2459781" y="3091873"/>
            <a:ext cx="510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V</a:t>
            </a:r>
            <a:r>
              <a:rPr lang="en-US" sz="2800" b="0" i="0" u="none" strike="noStrike" cap="none" spc="0" baseline="-2500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4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39075130" name="Freeform 1"/>
          <p:cNvSpPr/>
          <p:nvPr/>
        </p:nvSpPr>
        <p:spPr bwMode="auto">
          <a:xfrm>
            <a:off x="2626242" y="1790141"/>
            <a:ext cx="1010093" cy="538390"/>
          </a:xfrm>
          <a:custGeom>
            <a:avLst/>
            <a:gdLst>
              <a:gd name="connsiteX0" fmla="*/ 776177 w 776177"/>
              <a:gd name="connsiteY0" fmla="*/ 0 h 361507"/>
              <a:gd name="connsiteX1" fmla="*/ 0 w 776177"/>
              <a:gd name="connsiteY1" fmla="*/ 361507 h 3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6177" h="361507" fill="norm" stroke="1" extrusionOk="0">
                <a:moveTo>
                  <a:pt x="776177" y="0"/>
                </a:moveTo>
                <a:lnTo>
                  <a:pt x="0" y="361507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776367787" name="Oval 2"/>
          <p:cNvSpPr/>
          <p:nvPr/>
        </p:nvSpPr>
        <p:spPr bwMode="auto">
          <a:xfrm>
            <a:off x="4478996" y="2513918"/>
            <a:ext cx="696685" cy="5779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58520176" name="Rectangle 8"/>
          <p:cNvSpPr/>
          <p:nvPr/>
        </p:nvSpPr>
        <p:spPr bwMode="auto">
          <a:xfrm>
            <a:off x="1629001" y="2069256"/>
            <a:ext cx="6674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</a:t>
            </a:r>
            <a:r>
              <a:rPr lang="en-US" sz="2400" b="0" i="0" u="none" strike="noStrike" cap="none" spc="0" baseline="-2500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test</a:t>
            </a:r>
            <a:endParaRPr lang="en-US" sz="24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90544871" name="Freeform 3"/>
          <p:cNvSpPr/>
          <p:nvPr/>
        </p:nvSpPr>
        <p:spPr bwMode="auto">
          <a:xfrm>
            <a:off x="3785190" y="1807534"/>
            <a:ext cx="785925" cy="800911"/>
          </a:xfrm>
          <a:custGeom>
            <a:avLst/>
            <a:gdLst>
              <a:gd name="connsiteX0" fmla="*/ 0 w 1935125"/>
              <a:gd name="connsiteY0" fmla="*/ 0 h 680484"/>
              <a:gd name="connsiteX1" fmla="*/ 1935125 w 1935125"/>
              <a:gd name="connsiteY1" fmla="*/ 680484 h 68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35125" h="680484" fill="norm" stroke="1" extrusionOk="0">
                <a:moveTo>
                  <a:pt x="0" y="0"/>
                </a:moveTo>
                <a:lnTo>
                  <a:pt x="1935125" y="680484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11671857" name="TextBox 9"/>
          <p:cNvSpPr txBox="1"/>
          <p:nvPr/>
        </p:nvSpPr>
        <p:spPr bwMode="auto">
          <a:xfrm>
            <a:off x="6911023" y="461465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A4</a:t>
            </a:r>
            <a:endParaRPr/>
          </a:p>
        </p:txBody>
      </p:sp>
      <p:sp>
        <p:nvSpPr>
          <p:cNvPr id="338683842" name="TextBox 12"/>
          <p:cNvSpPr txBox="1"/>
          <p:nvPr/>
        </p:nvSpPr>
        <p:spPr bwMode="auto">
          <a:xfrm>
            <a:off x="1137255" y="4320794"/>
            <a:ext cx="111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R</a:t>
            </a:r>
            <a:r>
              <a:rPr lang="en-US" sz="1800" b="0" i="0" u="none" strike="noStrike" cap="none" spc="0" baseline="-2500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ref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+mn-cs"/>
              </a:rPr>
              <a:t>= 1000</a:t>
            </a:r>
            <a:endParaRPr/>
          </a:p>
        </p:txBody>
      </p:sp>
      <p:sp>
        <p:nvSpPr>
          <p:cNvPr id="47443078" name="Freeform 13"/>
          <p:cNvSpPr/>
          <p:nvPr/>
        </p:nvSpPr>
        <p:spPr bwMode="auto">
          <a:xfrm>
            <a:off x="3456633" y="3429000"/>
            <a:ext cx="1440844" cy="1554982"/>
          </a:xfrm>
          <a:custGeom>
            <a:avLst/>
            <a:gdLst>
              <a:gd name="connsiteX0" fmla="*/ 0 w 1075174"/>
              <a:gd name="connsiteY0" fmla="*/ 874206 h 874206"/>
              <a:gd name="connsiteX1" fmla="*/ 1075174 w 1075174"/>
              <a:gd name="connsiteY1" fmla="*/ 0 h 874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5174" h="874206" fill="norm" stroke="1" extrusionOk="0">
                <a:moveTo>
                  <a:pt x="0" y="874206"/>
                </a:moveTo>
                <a:lnTo>
                  <a:pt x="1075174" y="0"/>
                </a:ln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64885626" name="Freeform 17"/>
          <p:cNvSpPr/>
          <p:nvPr/>
        </p:nvSpPr>
        <p:spPr bwMode="auto">
          <a:xfrm flipH="1">
            <a:off x="2604123" y="4566474"/>
            <a:ext cx="667900" cy="437103"/>
          </a:xfrm>
          <a:custGeom>
            <a:avLst/>
            <a:gdLst>
              <a:gd name="connsiteX0" fmla="*/ 0 w 1075174"/>
              <a:gd name="connsiteY0" fmla="*/ 874206 h 874206"/>
              <a:gd name="connsiteX1" fmla="*/ 1075174 w 1075174"/>
              <a:gd name="connsiteY1" fmla="*/ 0 h 874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5174" h="874206" fill="norm" stroke="1" extrusionOk="0">
                <a:moveTo>
                  <a:pt x="0" y="874206"/>
                </a:moveTo>
                <a:lnTo>
                  <a:pt x="1075174" y="0"/>
                </a:ln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98102359" name="TextBox 15"/>
          <p:cNvSpPr txBox="1"/>
          <p:nvPr/>
        </p:nvSpPr>
        <p:spPr bwMode="auto">
          <a:xfrm>
            <a:off x="3242265" y="3196781"/>
            <a:ext cx="1419212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</a:t>
            </a:r>
            <a:r>
              <a:rPr lang="en-US" sz="2000" b="0" i="0" u="none" strike="noStrike" cap="none" spc="0" baseline="-2500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ref</a:t>
            </a:r>
            <a:r>
              <a:rPr lang="en-US" sz="20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=1000</a:t>
            </a:r>
            <a:endParaRPr/>
          </a:p>
        </p:txBody>
      </p:sp>
      <p:sp>
        <p:nvSpPr>
          <p:cNvPr id="764527016" name="Rectangle 16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26174" name="Title 2"/>
          <p:cNvSpPr>
            <a:spLocks noGrp="1"/>
          </p:cNvSpPr>
          <p:nvPr>
            <p:ph type="title"/>
          </p:nvPr>
        </p:nvSpPr>
        <p:spPr bwMode="auto">
          <a:xfrm>
            <a:off x="457200" y="553740"/>
            <a:ext cx="8229600" cy="1339657"/>
          </a:xfrm>
        </p:spPr>
        <p:txBody>
          <a:bodyPr/>
          <a:lstStyle/>
          <a:p>
            <a:pPr>
              <a:defRPr/>
            </a:pPr>
            <a:r>
              <a:rPr lang="en-US" i="1"/>
              <a:t>Final Project (if you have time): </a:t>
            </a:r>
            <a:br>
              <a:rPr lang="en-US"/>
            </a:br>
            <a:r>
              <a:rPr lang="en-US"/>
              <a:t>Ohmmeter + LED Display</a:t>
            </a:r>
            <a:endParaRPr/>
          </a:p>
        </p:txBody>
      </p:sp>
      <p:sp>
        <p:nvSpPr>
          <p:cNvPr id="238840156" name="Content Placeholder 3"/>
          <p:cNvSpPr>
            <a:spLocks noGrp="1"/>
          </p:cNvSpPr>
          <p:nvPr>
            <p:ph idx="1"/>
          </p:nvPr>
        </p:nvSpPr>
        <p:spPr bwMode="auto">
          <a:xfrm>
            <a:off x="190705" y="2136808"/>
            <a:ext cx="8741538" cy="3656939"/>
          </a:xfrm>
        </p:spPr>
        <p:txBody>
          <a:bodyPr/>
          <a:lstStyle/>
          <a:p>
            <a:pPr>
              <a:defRPr/>
            </a:pPr>
            <a:r>
              <a:rPr lang="en-US"/>
              <a:t>Let’s add a visual display to our Ohmmeter</a:t>
            </a:r>
            <a:endParaRPr/>
          </a:p>
          <a:p>
            <a:pPr>
              <a:defRPr/>
            </a:pPr>
            <a:r>
              <a:rPr lang="en-US"/>
              <a:t>Three LEDs will display different resistors:</a:t>
            </a:r>
            <a:endParaRPr/>
          </a:p>
          <a:p>
            <a:pPr lvl="1">
              <a:defRPr/>
            </a:pPr>
            <a:r>
              <a:rPr lang="en-US"/>
              <a:t>Measure the unknown resistance </a:t>
            </a:r>
            <a:r>
              <a:rPr lang="en-US"/>
              <a:t>R</a:t>
            </a:r>
            <a:r>
              <a:rPr lang="en-US" baseline="-25000"/>
              <a:t>test</a:t>
            </a:r>
            <a:endParaRPr lang="en-US"/>
          </a:p>
          <a:p>
            <a:pPr lvl="1">
              <a:defRPr/>
            </a:pPr>
            <a:r>
              <a:rPr lang="en-US"/>
              <a:t>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m:rPr/>
                            <a:rPr lang="en-US" b="0" i="1">
                              <a:latin typeface="Cambria Math"/>
                            </a:rPr>
                            <m:t>𝑡𝑒𝑠𝑡</m:t>
                          </m:r>
                        </m:sub>
                      </m:sSub>
                      <m:r>
                        <m:rPr/>
                        <a:rPr lang="en-US" i="1">
                          <a:latin typeface="Cambria Math"/>
                        </a:rPr>
                        <m:t> &lt; 500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Ohms, 				Turn on Blue LED</a:t>
            </a:r>
            <a:endParaRPr/>
          </a:p>
          <a:p>
            <a:pPr lvl="1">
              <a:defRPr/>
            </a:pPr>
            <a:r>
              <a:rPr lang="en-US"/>
              <a:t>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1">
                          <a:latin typeface="Cambria Math"/>
                        </a:rPr>
                        <m:t>500≤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𝑡𝑒𝑠𝑡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&lt;1500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Ohms, 	Turn on Yellow LED</a:t>
            </a:r>
            <a:endParaRPr/>
          </a:p>
          <a:p>
            <a:pPr lvl="1">
              <a:defRPr/>
            </a:pPr>
            <a:r>
              <a:rPr lang="en-US"/>
              <a:t>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1500≤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m:rPr/>
                            <a:rPr lang="en-US" sz="2400" i="1">
                              <a:latin typeface="Cambria Math"/>
                            </a:rPr>
                            <m:t>𝑡𝑒𝑠𝑡</m:t>
                          </m:r>
                        </m:sub>
                      </m:sSub>
                      <m:r>
                        <m:rPr/>
                        <a:rPr lang="en-US" sz="2400" b="0" i="1">
                          <a:latin typeface="Cambria Math"/>
                        </a:rPr>
                        <m:t>&lt;15000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 	</a:t>
            </a:r>
            <a:r>
              <a:rPr lang="en-US"/>
              <a:t>Ohms,	Turn on Red LED</a:t>
            </a:r>
            <a:endParaRPr/>
          </a:p>
          <a:p>
            <a:pPr lvl="1">
              <a:defRPr/>
            </a:pPr>
            <a:r>
              <a:rPr lang="en-US"/>
              <a:t>if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𝑡𝑒𝑠𝑡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≥15000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Ohms, 			Blink the Red LED</a:t>
            </a:r>
            <a:endParaRPr/>
          </a:p>
        </p:txBody>
      </p:sp>
      <p:sp>
        <p:nvSpPr>
          <p:cNvPr id="1477905863" name="Rectangle 4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605896" name="Title 1"/>
          <p:cNvSpPr>
            <a:spLocks noGrp="1"/>
          </p:cNvSpPr>
          <p:nvPr>
            <p:ph type="title"/>
          </p:nvPr>
        </p:nvSpPr>
        <p:spPr bwMode="auto">
          <a:xfrm>
            <a:off x="1732546" y="111008"/>
            <a:ext cx="6954253" cy="764891"/>
          </a:xfrm>
        </p:spPr>
        <p:txBody>
          <a:bodyPr/>
          <a:lstStyle/>
          <a:p>
            <a:pPr>
              <a:defRPr/>
            </a:pPr>
            <a:r>
              <a:rPr lang="en-US"/>
              <a:t>The Modified Circuit</a:t>
            </a:r>
            <a:endParaRPr/>
          </a:p>
        </p:txBody>
      </p:sp>
      <p:pic>
        <p:nvPicPr>
          <p:cNvPr id="1139115296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5400000">
            <a:off x="1876684" y="626007"/>
            <a:ext cx="5226521" cy="6130567"/>
          </a:xfrm>
          <a:prstGeom prst="rect">
            <a:avLst/>
          </a:prstGeom>
        </p:spPr>
      </p:pic>
      <p:sp>
        <p:nvSpPr>
          <p:cNvPr id="2082551388" name="TextBox 5"/>
          <p:cNvSpPr txBox="1"/>
          <p:nvPr/>
        </p:nvSpPr>
        <p:spPr bwMode="auto">
          <a:xfrm>
            <a:off x="1732547" y="3819466"/>
            <a:ext cx="1188328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</a:t>
            </a:r>
            <a:r>
              <a:rPr lang="en-US" sz="2000" b="0" i="0" u="none" strike="noStrike" cap="none" spc="0" baseline="-2500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ref</a:t>
            </a:r>
            <a:r>
              <a:rPr lang="en-US" sz="20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=1000</a:t>
            </a:r>
            <a:endParaRPr/>
          </a:p>
        </p:txBody>
      </p:sp>
      <p:sp>
        <p:nvSpPr>
          <p:cNvPr id="641153226" name="TextBox 6"/>
          <p:cNvSpPr txBox="1"/>
          <p:nvPr/>
        </p:nvSpPr>
        <p:spPr bwMode="auto">
          <a:xfrm>
            <a:off x="1732547" y="3282087"/>
            <a:ext cx="1015074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</a:t>
            </a:r>
            <a:r>
              <a:rPr lang="en-US" sz="2000" b="0" i="0" u="none" strike="noStrike" cap="none" spc="0" baseline="-25000">
                <a:ln>
                  <a:noFill/>
                </a:ln>
                <a:solidFill>
                  <a:srgbClr val="FF0000"/>
                </a:solidFill>
                <a:latin typeface="Calibri"/>
                <a:ea typeface="+mn-ea"/>
                <a:cs typeface="+mn-cs"/>
              </a:rPr>
              <a:t>ref</a:t>
            </a:r>
            <a:endParaRPr lang="en-US" sz="2000" b="0" i="0" u="none" strike="noStrike" cap="none" spc="0">
              <a:ln>
                <a:noFill/>
              </a:ln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58907450" name="Rectangle 7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098446" name="Title 1"/>
          <p:cNvSpPr>
            <a:spLocks noGrp="1"/>
          </p:cNvSpPr>
          <p:nvPr>
            <p:ph type="title"/>
          </p:nvPr>
        </p:nvSpPr>
        <p:spPr bwMode="auto">
          <a:xfrm>
            <a:off x="1905802" y="274638"/>
            <a:ext cx="6780998" cy="1143000"/>
          </a:xfrm>
        </p:spPr>
        <p:txBody>
          <a:bodyPr/>
          <a:lstStyle/>
          <a:p>
            <a:pPr>
              <a:defRPr/>
            </a:pPr>
            <a:r>
              <a:rPr lang="en-US"/>
              <a:t>Modifications to setup()</a:t>
            </a:r>
            <a:endParaRPr/>
          </a:p>
        </p:txBody>
      </p:sp>
      <p:sp>
        <p:nvSpPr>
          <p:cNvPr id="11004104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LEDs are connected to pins 2, 3, 4</a:t>
            </a:r>
            <a:endParaRPr/>
          </a:p>
          <a:p>
            <a:pPr lvl="1">
              <a:defRPr/>
            </a:pPr>
            <a:r>
              <a:rPr lang="en-US"/>
              <a:t>So you need to add </a:t>
            </a:r>
            <a:r>
              <a:rPr lang="en-US"/>
              <a:t>pinMode</a:t>
            </a:r>
            <a:r>
              <a:rPr lang="en-US"/>
              <a:t> statements to setup</a:t>
            </a:r>
            <a:endParaRPr/>
          </a:p>
          <a:p>
            <a:pPr lvl="1">
              <a:defRPr/>
            </a:pPr>
            <a:r>
              <a:rPr lang="en-US"/>
              <a:t>E.g., </a:t>
            </a:r>
            <a:r>
              <a:rPr lang="en-US" b="1"/>
              <a:t>pinMode</a:t>
            </a:r>
            <a:r>
              <a:rPr lang="en-US"/>
              <a:t>(2, OUTPUT);</a:t>
            </a:r>
            <a:endParaRPr/>
          </a:p>
          <a:p>
            <a:pPr lvl="1">
              <a:defRPr/>
            </a:pPr>
            <a:r>
              <a:rPr lang="en-US"/>
              <a:t>Additional </a:t>
            </a:r>
            <a:r>
              <a:rPr lang="en-US" b="1"/>
              <a:t>pinMode</a:t>
            </a:r>
            <a:r>
              <a:rPr lang="en-US"/>
              <a:t> statements are required for pins 3 and 4</a:t>
            </a:r>
            <a:endParaRPr/>
          </a:p>
          <a:p>
            <a:pPr lvl="1">
              <a:defRPr/>
            </a:pPr>
            <a:endParaRPr lang="en-US"/>
          </a:p>
          <a:p>
            <a:pPr>
              <a:defRPr/>
            </a:pPr>
            <a:r>
              <a:rPr lang="en-US"/>
              <a:t>You can access the following sketches</a:t>
            </a:r>
            <a:endParaRPr/>
          </a:p>
          <a:p>
            <a:pPr lvl="1">
              <a:defRPr/>
            </a:pPr>
            <a:r>
              <a:rPr lang="en-US"/>
              <a:t>OhmMeterPlusSKEL.ino</a:t>
            </a:r>
            <a:r>
              <a:rPr lang="en-US"/>
              <a:t> (skeleton code)</a:t>
            </a:r>
            <a:endParaRPr/>
          </a:p>
        </p:txBody>
      </p:sp>
      <p:sp>
        <p:nvSpPr>
          <p:cNvPr id="1403159989" name="Rectangle 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5306226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7611" y="1417638"/>
            <a:ext cx="7639856" cy="4315130"/>
          </a:xfrm>
          <a:prstGeom prst="rect">
            <a:avLst/>
          </a:prstGeom>
        </p:spPr>
      </p:pic>
      <p:sp>
        <p:nvSpPr>
          <p:cNvPr id="674488804" name="Title 1"/>
          <p:cNvSpPr>
            <a:spLocks noGrp="1"/>
          </p:cNvSpPr>
          <p:nvPr>
            <p:ph type="title"/>
          </p:nvPr>
        </p:nvSpPr>
        <p:spPr bwMode="auto">
          <a:xfrm>
            <a:off x="1761422" y="274638"/>
            <a:ext cx="6925376" cy="1143000"/>
          </a:xfrm>
        </p:spPr>
        <p:txBody>
          <a:bodyPr/>
          <a:lstStyle/>
          <a:p>
            <a:pPr>
              <a:defRPr/>
            </a:pPr>
            <a:r>
              <a:rPr lang="en-US"/>
              <a:t>Modifications to loop()</a:t>
            </a:r>
            <a:endParaRPr/>
          </a:p>
        </p:txBody>
      </p:sp>
      <p:sp>
        <p:nvSpPr>
          <p:cNvPr id="849080786" name="Rectangle: Rounded Corners 9"/>
          <p:cNvSpPr/>
          <p:nvPr/>
        </p:nvSpPr>
        <p:spPr bwMode="auto">
          <a:xfrm>
            <a:off x="709851" y="2290812"/>
            <a:ext cx="7575376" cy="2117559"/>
          </a:xfrm>
          <a:prstGeom prst="roundRect">
            <a:avLst>
              <a:gd name="adj" fmla="val 16667"/>
            </a:avLst>
          </a:prstGeom>
          <a:solidFill>
            <a:srgbClr val="FFFF66">
              <a:alpha val="14902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75166046" name="Rectangle 10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  <p:sp>
        <p:nvSpPr>
          <p:cNvPr id="1904385644" name="TextBox 2"/>
          <p:cNvSpPr txBox="1"/>
          <p:nvPr/>
        </p:nvSpPr>
        <p:spPr bwMode="auto">
          <a:xfrm rot="5400000">
            <a:off x="7770362" y="3164925"/>
            <a:ext cx="146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Add this code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7298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Your Assignment</a:t>
            </a:r>
            <a:endParaRPr/>
          </a:p>
        </p:txBody>
      </p:sp>
      <p:sp>
        <p:nvSpPr>
          <p:cNvPr id="1879822868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328286"/>
            <a:ext cx="8229600" cy="4658628"/>
          </a:xfrm>
        </p:spPr>
        <p:txBody>
          <a:bodyPr/>
          <a:lstStyle/>
          <a:p>
            <a:pPr>
              <a:defRPr/>
            </a:pPr>
            <a:r>
              <a:rPr lang="en-US" sz="2800"/>
              <a:t>Understand the code</a:t>
            </a:r>
            <a:endParaRPr/>
          </a:p>
          <a:p>
            <a:pPr>
              <a:defRPr/>
            </a:pPr>
            <a:r>
              <a:rPr lang="en-US" sz="2800"/>
              <a:t>Open skeleton code: </a:t>
            </a:r>
            <a:r>
              <a:rPr lang="en-US" sz="2800"/>
              <a:t>OhmMeterPlusSKEL.ino</a:t>
            </a:r>
            <a:endParaRPr lang="en-US" sz="2800"/>
          </a:p>
          <a:p>
            <a:pPr>
              <a:defRPr/>
            </a:pPr>
            <a:r>
              <a:rPr lang="en-US" sz="2800"/>
              <a:t>Edit to make the changes shown above</a:t>
            </a:r>
            <a:endParaRPr/>
          </a:p>
          <a:p>
            <a:pPr>
              <a:defRPr/>
            </a:pPr>
            <a:r>
              <a:rPr lang="en-US" sz="2800"/>
              <a:t>Test circuit with:</a:t>
            </a:r>
            <a:endParaRPr/>
          </a:p>
          <a:p>
            <a:pPr lvl="1">
              <a:defRPr/>
            </a:pPr>
            <a:r>
              <a:rPr lang="en-US" sz="2400"/>
              <a:t>220 Ohm</a:t>
            </a:r>
            <a:endParaRPr/>
          </a:p>
          <a:p>
            <a:pPr lvl="1">
              <a:defRPr/>
            </a:pPr>
            <a:r>
              <a:rPr lang="en-US" sz="2400"/>
              <a:t>1K Ohm</a:t>
            </a:r>
            <a:endParaRPr/>
          </a:p>
          <a:p>
            <a:pPr lvl="1">
              <a:defRPr/>
            </a:pPr>
            <a:r>
              <a:rPr lang="en-US" sz="2400"/>
              <a:t>10K Ohm</a:t>
            </a:r>
            <a:endParaRPr/>
          </a:p>
          <a:p>
            <a:pPr lvl="1">
              <a:defRPr/>
            </a:pPr>
            <a:r>
              <a:rPr lang="en-US" sz="2400"/>
              <a:t>100K Ohm</a:t>
            </a:r>
            <a:endParaRPr/>
          </a:p>
          <a:p>
            <a:pPr lvl="1">
              <a:defRPr/>
            </a:pPr>
            <a:r>
              <a:rPr lang="en-US" sz="2400"/>
              <a:t>Photoresistor, in light and in shadow</a:t>
            </a:r>
            <a:endParaRPr/>
          </a:p>
        </p:txBody>
      </p:sp>
      <p:sp>
        <p:nvSpPr>
          <p:cNvPr id="1204864499" name="Rectangle 3"/>
          <p:cNvSpPr/>
          <p:nvPr/>
        </p:nvSpPr>
        <p:spPr bwMode="auto">
          <a:xfrm>
            <a:off x="190705" y="92076"/>
            <a:ext cx="18546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Hands 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PresentationFormat>On-screen Show (4:3)</PresentationFormat>
  <Paragraphs>0</Paragraphs>
  <Slides>80</Slides>
  <Notes>80</Notes>
  <HiddenSlides>0</HiddenSlides>
  <MMClips>2</MMClips>
  <ScaleCrop>0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Theme 1</vt:lpstr>
      <vt:lpstr>Theme 2</vt:lpstr>
      <vt:lpstr>Theme 3</vt:lpstr>
      <vt:lpstr>Theme 4</vt:lpstr>
      <vt:lpstr>Theme 5</vt:lpstr>
      <vt:lpstr>Theme 6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Institutional Marketing</dc:creator>
  <cp:lastModifiedBy/>
  <cp:revision>845</cp:revision>
  <dcterms:created xsi:type="dcterms:W3CDTF">2014-09-17T21:08:03Z</dcterms:created>
  <dcterms:modified xsi:type="dcterms:W3CDTF">2026-10-22T03:19:08Z</dcterms:modified>
</cp:coreProperties>
</file>